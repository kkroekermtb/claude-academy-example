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77" r:id="rId14"/>
    <p:sldId id="269" r:id="rId15"/>
    <p:sldId id="270" r:id="rId16"/>
    <p:sldId id="271" r:id="rId17"/>
    <p:sldId id="272" r:id="rId18"/>
    <p:sldId id="273"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97E34-22C4-4AEA-8F63-626B0BC66560}" v="1" dt="2026-09-16T19:52:00.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an Zhou" userId="f4e63ad3-da85-420f-b641-5142b1555379" providerId="ADAL" clId="{12FB7237-4E2E-49DD-9378-74D8E5431921}"/>
    <pc:docChg chg="undo custSel modSld">
      <pc:chgData name="Xuan Zhou" userId="f4e63ad3-da85-420f-b641-5142b1555379" providerId="ADAL" clId="{12FB7237-4E2E-49DD-9378-74D8E5431921}" dt="2026-09-16T19:51:23.651" v="165" actId="27636"/>
      <pc:docMkLst>
        <pc:docMk/>
      </pc:docMkLst>
      <pc:sldChg chg="modSp mod">
        <pc:chgData name="Xuan Zhou" userId="f4e63ad3-da85-420f-b641-5142b1555379" providerId="ADAL" clId="{12FB7237-4E2E-49DD-9378-74D8E5431921}" dt="2026-09-16T19:51:23.651" v="165" actId="27636"/>
        <pc:sldMkLst>
          <pc:docMk/>
          <pc:sldMk cId="2038869195" sldId="256"/>
        </pc:sldMkLst>
        <pc:spChg chg="mod">
          <ac:chgData name="Xuan Zhou" userId="f4e63ad3-da85-420f-b641-5142b1555379" providerId="ADAL" clId="{12FB7237-4E2E-49DD-9378-74D8E5431921}" dt="2026-09-16T19:51:23.651" v="165" actId="27636"/>
          <ac:spMkLst>
            <pc:docMk/>
            <pc:sldMk cId="2038869195" sldId="256"/>
            <ac:spMk id="5" creationId="{8E168BBC-367D-4CD2-B053-35BE14FB647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Hello everyone. Today I will share the main ideas from the AI-Native SDLC Playbook. SDLC means software development lifecycle. The key message is simple: AI can write code very fast, so we also need to improve planning, testing, review, deployment, and maintenance.</a:t>
            </a:r>
          </a:p>
          <a:p>
            <a:endParaRPr/>
          </a:p>
          <a:p>
            <a:r>
              <a:t>Sources:</a:t>
            </a:r>
          </a:p>
          <a:p>
            <a:r>
              <a:t>https://academy.claude.com/courses/ai-native-sdlc-playbook/introduction</a:t>
            </a:r>
          </a:p>
          <a:p>
            <a:r>
              <a:t>Cover illustration generated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script:</a:t>
            </a:r>
          </a:p>
          <a:p>
            <a:r>
              <a:rPr dirty="0"/>
              <a:t>This slide gives the main idea. AI makes coding much faster. However, coding is only one part of delivery. If planning, review, security, and release stay slow, the full delivery time will not improve. The course therefore looks at the whole lifecycle, not only at code generation.</a:t>
            </a:r>
          </a:p>
          <a:p>
            <a:endParaRPr dirty="0"/>
          </a:p>
          <a:p>
            <a:r>
              <a:rPr dirty="0"/>
              <a:t>Sources:</a:t>
            </a:r>
          </a:p>
          <a:p>
            <a:r>
              <a:rPr dirty="0"/>
              <a:t>https://academy.claude.com/courses/ai-native-sdlc-playbook/introduction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script:</a:t>
            </a:r>
          </a:p>
          <a:p>
            <a:r>
              <a:rPr dirty="0"/>
              <a:t>The traditional lifecycle has six stages. Different teams often own different stages. Work moves through documents, tickets, meetings, and approvals. This structure gave companies control, but it was designed for a time when writing code was the slowest part.</a:t>
            </a:r>
          </a:p>
          <a:p>
            <a:endParaRPr dirty="0"/>
          </a:p>
          <a:p>
            <a:r>
              <a:rPr dirty="0"/>
              <a:t>Sources:</a:t>
            </a:r>
          </a:p>
          <a:p>
            <a:r>
              <a:rPr dirty="0"/>
              <a:t>https://academy.claude.com/courses/ai-native-sdlc-playbook/introduction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This picture shows the change. Before AI, build was often the largest block of time. With AI, build can become much smaller. The waiting time then moves to the stages around build. Security review is a good example. If code output doubles but the security team stays the same size, the review queue grows.</a:t>
            </a:r>
          </a:p>
          <a:p>
            <a:endParaRPr/>
          </a:p>
          <a:p>
            <a:r>
              <a:t>Sources:</a:t>
            </a:r>
          </a:p>
          <a:p>
            <a:r>
              <a:t>https://academy.claude.com/courses/ai-native-sdlc-playbook/introduction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The AI-native lifecycle is a loop, not a one-way line. AI helps at every stage. Humans do not disappear. People start the work, give direction, approve important risk, and remain responsible for the result. Human attention moves to the places where judgment matters most.</a:t>
            </a:r>
          </a:p>
          <a:p>
            <a:endParaRPr/>
          </a:p>
          <a:p>
            <a:r>
              <a:t>Sources:</a:t>
            </a:r>
          </a:p>
          <a:p>
            <a:r>
              <a:t>https://academy.claude.com/courses/ai-native-sdlc-playbook/introduction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The course uses committed artifacts to connect the stages. Each stage saves a clear result. The next stage reads that result. This removes some manual handoffs. It also creates an audit trail because Git records the author, the changes, and the approval.</a:t>
            </a:r>
          </a:p>
          <a:p>
            <a:endParaRPr/>
          </a:p>
          <a:p>
            <a:r>
              <a:t>Sources:</a:t>
            </a:r>
          </a:p>
          <a:p>
            <a:r>
              <a:t>https://academy.claude.com/courses/ai-native-sdlc-playbook/introduction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In Stage 1, the goal is to capture the original idea with less delay. The person who has the idea talks with Claude in normal language. Claude asks questions and creates intent.md. The product owner reviews and corrects the file before it moves forward. The human still owns the meaning of the request.</a:t>
            </a:r>
          </a:p>
          <a:p>
            <a:endParaRPr/>
          </a:p>
          <a:p>
            <a:r>
              <a:t>Sources:</a:t>
            </a:r>
          </a:p>
          <a:p>
            <a:r>
              <a:t>https://academy.claude.com/courses/ai-native-sdlc-playbook/capture-intent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After the team accepts intent.md, Claude creates spec.md. The agent uses the company skills for brand, security, compliance, and user experience. The product owner reviews the result. Important policy questions are resolved before engineering begins. This reduces late rework.</a:t>
            </a:r>
          </a:p>
          <a:p>
            <a:endParaRPr/>
          </a:p>
          <a:p>
            <a:r>
              <a:t>Sources:</a:t>
            </a:r>
          </a:p>
          <a:p>
            <a:r>
              <a:t>https://academy.claude.com/courses/ai-native-sdlc-playbook/requirements-and-design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script:</a:t>
            </a:r>
          </a:p>
          <a:p>
            <a:r>
              <a:rPr lang="en-US" dirty="0"/>
              <a:t>software engineers spend less time typing routine code and more time defining the implementation, challenging the plan, supplying repository knowledge, supervising parallel work, and reviewing evidence. AI produces much of the implementation, but the engineer still owns every technical decision and the final result.”</a:t>
            </a:r>
          </a:p>
          <a:p>
            <a:endParaRPr lang="en-US"/>
          </a:p>
          <a:p>
            <a:r>
              <a:rPr dirty="0"/>
              <a:t>Sources:</a:t>
            </a:r>
          </a:p>
          <a:p>
            <a:r>
              <a:rPr dirty="0"/>
              <a:t>https://academy.claude.com/courses/ai-native-sdlc-playbook/plan-mode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CLAUDE.md gives the agent the same basic context that a new team member needs. Keep it short and current. Skills hold reusable company knowledge, for example security rules or API standards. Skills guide the agent, but they do not guarantee compliance. Important rules also need a deterministic control.</a:t>
            </a:r>
          </a:p>
          <a:p>
            <a:endParaRPr/>
          </a:p>
          <a:p>
            <a:r>
              <a:t>Sources:</a:t>
            </a:r>
          </a:p>
          <a:p>
            <a:r>
              <a:t>https://academy.claude.com/courses/ai-native-sdlc-playbook/claude-md</a:t>
            </a:r>
          </a:p>
          <a:p>
            <a:r>
              <a:t>https://academy.claude.com/courses/ai-native-sdlc-playbook/skills-as-institutional-knowledge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Parallel sessions let one engineer guide several independent tasks. Each session uses a separate Git worktree, so the files do not collide. Subagents are smaller helpers inside one session. The limit is not the number of sessions. The real limit is how much work the engineer can review carefully.</a:t>
            </a:r>
          </a:p>
          <a:p>
            <a:endParaRPr/>
          </a:p>
          <a:p>
            <a:r>
              <a:t>Sources:</a:t>
            </a:r>
          </a:p>
          <a:p>
            <a:r>
              <a:t>https://academy.claude.com/courses/ai-native-sdlc-playbook/parallel-sessions-and-subagents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A feedback loop lets Claude check its own work. The agent makes a change, runs a test, reads the result, and fixes the code. The loop continues until the check passes. The team must protect the check. For example, during a bug fix, the agent should not be allowed to edit the failing test.</a:t>
            </a:r>
          </a:p>
          <a:p>
            <a:endParaRPr/>
          </a:p>
          <a:p>
            <a:r>
              <a:t>Sources:</a:t>
            </a:r>
          </a:p>
          <a:p>
            <a:r>
              <a:t>https://academy.claude.com/courses/ai-native-sdlc-playbook/give-claude-a-feedback-loop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Evals are tests for the agent configuration. The team collects real tasks and defines what a good result looks like. CI runs these tasks when the agent setup changes. If a new prompt or skill reduces the pass rate, the team reviews the change. Production incidents should become new eval cases.</a:t>
            </a:r>
          </a:p>
          <a:p>
            <a:endParaRPr/>
          </a:p>
          <a:p>
            <a:r>
              <a:t>Sources:</a:t>
            </a:r>
          </a:p>
          <a:p>
            <a:r>
              <a:t>https://academy.claude.com/courses/ai-native-sdlc-playbook/continuous-evals-in-ci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Claude can review pull requests using the same review policy every time. It checks for bugs, security problems, and compliance with the plan. The human reviewer can focus on intent and risk. Separation of duties remains important. The agent that wrote the code cannot approve its own pull request.</a:t>
            </a:r>
          </a:p>
          <a:p>
            <a:endParaRPr/>
          </a:p>
          <a:p>
            <a:r>
              <a:t>Sources:</a:t>
            </a:r>
          </a:p>
          <a:p>
            <a:r>
              <a:t>https://academy.claude.com/courses/ai-native-sdlc-playbook/ai-in-the-pr-review-loop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Hooks can allow, ask, or block an action. They provide deterministic control. In CI and CD, start with read-only jobs, such as explaining a failed build. Later, add write actions behind existing gates. Production keeps a human authorization. Agent jobs should run in a sandbox with limited credentials.</a:t>
            </a:r>
          </a:p>
          <a:p>
            <a:endParaRPr/>
          </a:p>
          <a:p>
            <a:r>
              <a:t>Sources:</a:t>
            </a:r>
          </a:p>
          <a:p>
            <a:r>
              <a:t>https://academy.claude.com/courses/ai-native-sdlc-playbook/hooks-as-approval-gates</a:t>
            </a:r>
          </a:p>
          <a:p>
            <a:r>
              <a:t>https://academy.claude.com/courses/ai-native-sdlc-playbook/ci-cd-integration-and-deployment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script:</a:t>
            </a:r>
          </a:p>
          <a:p>
            <a:r>
              <a:rPr dirty="0"/>
              <a:t>Maintenance can run without waiting for a person to start every step. A deterministic script watches a stable metric. A small change may only create a log. A larger change can ask Claude to diagnose the problem. A serious change can create intent.md or run an approved rollback. The normal review gates still apply.</a:t>
            </a:r>
          </a:p>
          <a:p>
            <a:endParaRPr dirty="0"/>
          </a:p>
          <a:p>
            <a:r>
              <a:rPr dirty="0"/>
              <a:t>Sources:</a:t>
            </a:r>
          </a:p>
          <a:p>
            <a:r>
              <a:rPr dirty="0"/>
              <a:t>https://academy.claude.com/courses/ai-native-sdlc-playbook/closing-the-loop-on-metrics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script:</a:t>
            </a:r>
          </a:p>
          <a:p>
            <a:r>
              <a:t>The course uses three types of control. Guidance helps the agent follow good practice. Enforcement blocks actions that must not happen. Human approval remains for risk and accountability. Good governance does not require a person to check every line. It requires the correct control at the correct point.</a:t>
            </a:r>
          </a:p>
          <a:p>
            <a:endParaRPr/>
          </a:p>
          <a:p>
            <a:r>
              <a:t>Sources:</a:t>
            </a:r>
          </a:p>
          <a:p>
            <a:r>
              <a:t>https://academy.claude.com/courses/ai-native-sdlc-playbook/skills-as-institutional-knowledge</a:t>
            </a:r>
          </a:p>
          <a:p>
            <a:r>
              <a:t>https://academy.claude.com/courses/ai-native-sdlc-playbook/hooks-as-approval-gates</a:t>
            </a:r>
          </a:p>
          <a:p>
            <a:r>
              <a:t>https://academy.claude.com/courses/ai-native-sdlc-playbook/ci-cd-integration-and-deployment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script:</a:t>
            </a:r>
          </a:p>
          <a:p>
            <a:r>
              <a:rPr dirty="0"/>
              <a:t>To finish, I want to repeat three points. Faster coding moves the bottleneck to other stages. Committed artifacts connect the lifecycle and create an audit record. Layered controls allow more autonomy without removing human accountability. My question for the team is: if our code output doubled, which part of our current process would become the bottleneck?</a:t>
            </a:r>
          </a:p>
          <a:p>
            <a:endParaRPr dirty="0"/>
          </a:p>
          <a:p>
            <a:r>
              <a:rPr dirty="0"/>
              <a:t>Sources:</a:t>
            </a:r>
          </a:p>
          <a:p>
            <a:r>
              <a:rPr dirty="0"/>
              <a:t>https://academy.claude.com/courses/ai-native-sdlc-playbook/introduction</a:t>
            </a:r>
          </a:p>
          <a:p>
            <a:r>
              <a:rPr dirty="0"/>
              <a:t>https://academy.claude.com/courses/ai-native-sdlc-playbook/closing-thoughts-and-resources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cademy.claude.com/courses/ai-native-sdlc-playbook"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020"/>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A2E757C-AEBA-4363-A28E-C4DD3D2AAA86}"/>
              </a:ext>
            </a:extLst>
          </p:cNvPr>
          <p:cNvSpPr>
            <a:spLocks noGrp="1"/>
          </p:cNvSpPr>
          <p:nvPr/>
        </p:nvSpPr>
        <p:spPr>
          <a:xfrm>
            <a:off x="0" y="0"/>
            <a:ext cx="5715000" cy="6858000"/>
          </a:xfrm>
          <a:prstGeom prst="rect">
            <a:avLst/>
          </a:prstGeom>
          <a:gradFill>
            <a:gsLst>
              <a:gs pos="0">
                <a:srgbClr val="07101E"/>
              </a:gs>
              <a:gs pos="100000">
                <a:srgbClr val="07101E">
                  <a:alpha val="0"/>
                </a:srgbClr>
              </a:gs>
            </a:gsLst>
            <a:lin ang="0"/>
          </a:gradFill>
          <a:ln w="0">
            <a:noFill/>
            <a:prstDash val="solid"/>
          </a:ln>
        </p:spPr>
        <p:txBody>
          <a:bodyPr/>
          <a:lstStyle/>
          <a:p>
            <a:endParaRPr lang="en-US"/>
          </a:p>
        </p:txBody>
      </p:sp>
      <p:sp>
        <p:nvSpPr>
          <p:cNvPr id="3" name="Rectangle 2">
            <a:extLst>
              <a:ext uri="{FF2B5EF4-FFF2-40B4-BE49-F238E27FC236}">
                <a16:creationId xmlns:a16="http://schemas.microsoft.com/office/drawing/2014/main" id="{185F6DEA-23B2-462E-8B69-74496DEA4BB5}"/>
              </a:ext>
            </a:extLst>
          </p:cNvPr>
          <p:cNvSpPr>
            <a:spLocks noGrp="1"/>
          </p:cNvSpPr>
          <p:nvPr/>
        </p:nvSpPr>
        <p:spPr>
          <a:xfrm>
            <a:off x="685800" y="1333500"/>
            <a:ext cx="4857750" cy="1676400"/>
          </a:xfrm>
          <a:prstGeom prst="rect">
            <a:avLst/>
          </a:prstGeom>
          <a:noFill/>
          <a:ln w="0">
            <a:noFill/>
          </a:ln>
        </p:spPr>
        <p:txBody>
          <a:bodyPr wrap="square" lIns="0" tIns="0" rIns="0" bIns="0" anchor="t">
            <a:normAutofit/>
          </a:bodyPr>
          <a:lstStyle/>
          <a:p>
            <a:pPr algn="l">
              <a:defRPr sz="3600" b="1" i="0">
                <a:solidFill>
                  <a:srgbClr val="FFFFFF"/>
                </a:solidFill>
                <a:latin typeface="DejaVu Sans"/>
                <a:ea typeface="DejaVu Sans"/>
                <a:cs typeface="DejaVu Sans"/>
              </a:defRPr>
            </a:pPr>
            <a:r>
              <a:rPr sz="3600" b="1" i="0">
                <a:solidFill>
                  <a:srgbClr val="FFFFFF"/>
                </a:solidFill>
                <a:latin typeface="DejaVu Sans"/>
                <a:ea typeface="DejaVu Sans"/>
                <a:cs typeface="DejaVu Sans"/>
              </a:rPr>
              <a:t>AI-NATIVE SDLC</a:t>
            </a:r>
          </a:p>
          <a:p>
            <a:pPr algn="l">
              <a:defRPr sz="3600" b="1" i="0">
                <a:solidFill>
                  <a:srgbClr val="FFFFFF"/>
                </a:solidFill>
                <a:latin typeface="DejaVu Sans"/>
                <a:ea typeface="DejaVu Sans"/>
                <a:cs typeface="DejaVu Sans"/>
              </a:defRPr>
            </a:pPr>
            <a:r>
              <a:rPr sz="3600" b="1" i="0">
                <a:solidFill>
                  <a:srgbClr val="FFFFFF"/>
                </a:solidFill>
                <a:latin typeface="DejaVu Sans"/>
                <a:ea typeface="DejaVu Sans"/>
                <a:cs typeface="DejaVu Sans"/>
              </a:rPr>
              <a:t>PLAYBOOK</a:t>
            </a:r>
          </a:p>
        </p:txBody>
      </p:sp>
      <p:sp>
        <p:nvSpPr>
          <p:cNvPr id="5" name="Rectangle 4">
            <a:extLst>
              <a:ext uri="{FF2B5EF4-FFF2-40B4-BE49-F238E27FC236}">
                <a16:creationId xmlns:a16="http://schemas.microsoft.com/office/drawing/2014/main" id="{8E168BBC-367D-4CD2-B053-35BE14FB647D}"/>
              </a:ext>
            </a:extLst>
          </p:cNvPr>
          <p:cNvSpPr>
            <a:spLocks noGrp="1"/>
          </p:cNvSpPr>
          <p:nvPr/>
        </p:nvSpPr>
        <p:spPr>
          <a:xfrm>
            <a:off x="714375" y="3346450"/>
            <a:ext cx="4286250" cy="1263650"/>
          </a:xfrm>
          <a:prstGeom prst="rect">
            <a:avLst/>
          </a:prstGeom>
          <a:noFill/>
          <a:ln w="0">
            <a:noFill/>
          </a:ln>
        </p:spPr>
        <p:txBody>
          <a:bodyPr wrap="square" lIns="0" tIns="0" rIns="0" bIns="0" anchor="t">
            <a:normAutofit fontScale="92500"/>
          </a:bodyPr>
          <a:lstStyle/>
          <a:p>
            <a:pPr algn="l">
              <a:defRPr sz="1575" b="0" i="0">
                <a:solidFill>
                  <a:srgbClr val="D6E1F3"/>
                </a:solidFill>
                <a:latin typeface="DejaVu Sans"/>
                <a:ea typeface="DejaVu Sans"/>
                <a:cs typeface="DejaVu Sans"/>
              </a:defRPr>
            </a:pPr>
            <a:r>
              <a:rPr sz="1575" b="0" i="0" dirty="0">
                <a:solidFill>
                  <a:srgbClr val="D6E1F3"/>
                </a:solidFill>
                <a:latin typeface="DejaVu Sans"/>
                <a:ea typeface="DejaVu Sans"/>
                <a:cs typeface="DejaVu Sans"/>
              </a:rPr>
              <a:t>How AI changes the full software lifecycle</a:t>
            </a:r>
            <a:endParaRPr lang="en-US" sz="1575" b="0" i="0" dirty="0">
              <a:solidFill>
                <a:srgbClr val="D6E1F3"/>
              </a:solidFill>
              <a:latin typeface="DejaVu Sans"/>
              <a:ea typeface="DejaVu Sans"/>
              <a:cs typeface="DejaVu Sans"/>
            </a:endParaRPr>
          </a:p>
          <a:p>
            <a:pPr algn="l">
              <a:defRPr sz="1575" b="0" i="0">
                <a:solidFill>
                  <a:srgbClr val="D6E1F3"/>
                </a:solidFill>
                <a:latin typeface="DejaVu Sans"/>
                <a:ea typeface="DejaVu Sans"/>
                <a:cs typeface="DejaVu Sans"/>
              </a:defRPr>
            </a:pPr>
            <a:endParaRPr lang="en-US" sz="1575" dirty="0">
              <a:solidFill>
                <a:srgbClr val="D6E1F3"/>
              </a:solidFill>
              <a:latin typeface="DejaVu Sans"/>
              <a:ea typeface="DejaVu Sans"/>
              <a:cs typeface="DejaVu Sans"/>
            </a:endParaRPr>
          </a:p>
          <a:p>
            <a:pPr algn="l">
              <a:defRPr sz="1575" b="0" i="0">
                <a:solidFill>
                  <a:srgbClr val="D6E1F3"/>
                </a:solidFill>
                <a:latin typeface="DejaVu Sans"/>
                <a:ea typeface="DejaVu Sans"/>
                <a:cs typeface="DejaVu Sans"/>
              </a:defRPr>
            </a:pPr>
            <a:endParaRPr lang="en-US" sz="1575" b="0" i="0" dirty="0">
              <a:solidFill>
                <a:srgbClr val="D6E1F3"/>
              </a:solidFill>
              <a:latin typeface="DejaVu Sans"/>
              <a:ea typeface="DejaVu Sans"/>
              <a:cs typeface="DejaVu Sans"/>
            </a:endParaRPr>
          </a:p>
          <a:p>
            <a:pPr algn="l">
              <a:defRPr sz="1575" b="0" i="0">
                <a:solidFill>
                  <a:srgbClr val="D6E1F3"/>
                </a:solidFill>
                <a:latin typeface="DejaVu Sans"/>
                <a:ea typeface="DejaVu Sans"/>
                <a:cs typeface="DejaVu Sans"/>
              </a:defRPr>
            </a:pPr>
            <a:endParaRPr lang="en-US" sz="1575" dirty="0">
              <a:solidFill>
                <a:srgbClr val="D6E1F3"/>
              </a:solidFill>
              <a:latin typeface="DejaVu Sans"/>
              <a:ea typeface="DejaVu Sans"/>
              <a:cs typeface="DejaVu Sans"/>
            </a:endParaRPr>
          </a:p>
          <a:p>
            <a:pPr algn="l">
              <a:defRPr sz="1575" b="0" i="0">
                <a:solidFill>
                  <a:srgbClr val="D6E1F3"/>
                </a:solidFill>
                <a:latin typeface="DejaVu Sans"/>
                <a:ea typeface="DejaVu Sans"/>
                <a:cs typeface="DejaVu Sans"/>
              </a:defRPr>
            </a:pPr>
            <a:r>
              <a:rPr lang="en-US" sz="1575" b="0" i="0" dirty="0">
                <a:solidFill>
                  <a:srgbClr val="D6E1F3"/>
                </a:solidFill>
                <a:latin typeface="DejaVu Sans"/>
                <a:ea typeface="DejaVu Sans"/>
                <a:cs typeface="DejaVu Sans"/>
              </a:rPr>
              <a:t>                                                Xuan Zhou</a:t>
            </a:r>
            <a:endParaRPr sz="1575" b="0" i="0" dirty="0">
              <a:solidFill>
                <a:srgbClr val="D6E1F3"/>
              </a:solidFill>
              <a:latin typeface="DejaVu Sans"/>
              <a:ea typeface="DejaVu Sans"/>
              <a:cs typeface="DejaVu Sans"/>
            </a:endParaRPr>
          </a:p>
        </p:txBody>
      </p:sp>
      <p:sp>
        <p:nvSpPr>
          <p:cNvPr id="6" name="Rectangle 5">
            <a:extLst>
              <a:ext uri="{FF2B5EF4-FFF2-40B4-BE49-F238E27FC236}">
                <a16:creationId xmlns:a16="http://schemas.microsoft.com/office/drawing/2014/main" id="{4BABB785-2009-437A-B048-AB4197B90D04}"/>
              </a:ext>
            </a:extLst>
          </p:cNvPr>
          <p:cNvSpPr>
            <a:spLocks noGrp="1"/>
          </p:cNvSpPr>
          <p:nvPr/>
        </p:nvSpPr>
        <p:spPr>
          <a:xfrm>
            <a:off x="723900" y="5810250"/>
            <a:ext cx="4000500" cy="171450"/>
          </a:xfrm>
          <a:prstGeom prst="rect">
            <a:avLst/>
          </a:prstGeom>
          <a:noFill/>
          <a:ln w="0">
            <a:noFill/>
          </a:ln>
        </p:spPr>
        <p:txBody>
          <a:bodyPr wrap="square" lIns="0" tIns="0" rIns="0" bIns="0" anchor="t">
            <a:normAutofit/>
          </a:bodyPr>
          <a:lstStyle/>
          <a:p>
            <a:pPr algn="l">
              <a:defRPr sz="825" b="0" i="0">
                <a:solidFill>
                  <a:srgbClr val="8DA0BA"/>
                </a:solidFill>
                <a:latin typeface="DejaVu Sans"/>
                <a:ea typeface="DejaVu Sans"/>
                <a:cs typeface="DejaVu Sans"/>
              </a:defRPr>
            </a:pPr>
            <a:r>
              <a:rPr sz="825" b="0" i="0" dirty="0">
                <a:solidFill>
                  <a:srgbClr val="8DA0BA"/>
                </a:solidFill>
                <a:latin typeface="DejaVu Sans"/>
                <a:ea typeface="DejaVu Sans"/>
                <a:cs typeface="DejaVu Sans"/>
              </a:rPr>
              <a:t>Based on </a:t>
            </a:r>
            <a:r>
              <a:rPr sz="825" b="0" i="0" dirty="0">
                <a:solidFill>
                  <a:srgbClr val="8DA0BA"/>
                </a:solidFill>
                <a:latin typeface="DejaVu Sans"/>
                <a:ea typeface="DejaVu Sans"/>
                <a:cs typeface="DejaVu Sans"/>
                <a:hlinkClick r:id="rId4"/>
              </a:rPr>
              <a:t>the Claude Academy course</a:t>
            </a:r>
            <a:endParaRPr sz="825" b="0" i="0" dirty="0">
              <a:solidFill>
                <a:srgbClr val="8DA0BA"/>
              </a:solidFill>
              <a:latin typeface="DejaVu Sans"/>
              <a:ea typeface="DejaVu Sans"/>
              <a:cs typeface="DejaVu Sans"/>
            </a:endParaRPr>
          </a:p>
        </p:txBody>
      </p:sp>
    </p:spTree>
    <p:extLst>
      <p:ext uri="{BB962C8B-B14F-4D97-AF65-F5344CB8AC3E}">
        <p14:creationId xmlns:p14="http://schemas.microsoft.com/office/powerpoint/2010/main" val="2038869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020"/>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964BB468-46EC-4110-AAC9-687557035405}"/>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19C3D2"/>
                </a:solidFill>
                <a:latin typeface="DejaVu Sans"/>
                <a:ea typeface="DejaVu Sans"/>
                <a:cs typeface="DejaVu Sans"/>
              </a:defRPr>
            </a:pPr>
            <a:r>
              <a:rPr sz="900" b="1" i="0" dirty="0">
                <a:solidFill>
                  <a:srgbClr val="19C3D2"/>
                </a:solidFill>
                <a:latin typeface="DejaVu Sans"/>
                <a:ea typeface="DejaVu Sans"/>
                <a:cs typeface="DejaVu Sans"/>
              </a:rPr>
              <a:t>ONE MESSAGE FOR THE WHOLE COURSE</a:t>
            </a:r>
          </a:p>
        </p:txBody>
      </p:sp>
      <p:sp>
        <p:nvSpPr>
          <p:cNvPr id="2" name="Rectangle 1">
            <a:extLst>
              <a:ext uri="{FF2B5EF4-FFF2-40B4-BE49-F238E27FC236}">
                <a16:creationId xmlns:a16="http://schemas.microsoft.com/office/drawing/2014/main" id="{BCCF93BB-F1B3-4B75-8C8C-09E81DF32147}"/>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FFFFFF"/>
                </a:solidFill>
                <a:latin typeface="DejaVu Sans"/>
                <a:ea typeface="DejaVu Sans"/>
                <a:cs typeface="DejaVu Sans"/>
              </a:defRPr>
            </a:pPr>
            <a:r>
              <a:rPr sz="2700" b="1" i="0">
                <a:solidFill>
                  <a:srgbClr val="FFFFFF"/>
                </a:solidFill>
                <a:latin typeface="DejaVu Sans"/>
                <a:ea typeface="DejaVu Sans"/>
                <a:cs typeface="DejaVu Sans"/>
              </a:rPr>
              <a:t>The main idea</a:t>
            </a:r>
          </a:p>
        </p:txBody>
      </p:sp>
      <p:sp>
        <p:nvSpPr>
          <p:cNvPr id="3" name="Rectangle 2">
            <a:extLst>
              <a:ext uri="{FF2B5EF4-FFF2-40B4-BE49-F238E27FC236}">
                <a16:creationId xmlns:a16="http://schemas.microsoft.com/office/drawing/2014/main" id="{2BB0A3C0-97D5-4E8A-B27F-B9F86F456F0A}"/>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8190AA"/>
                </a:solidFill>
                <a:latin typeface="DejaVu Sans"/>
                <a:ea typeface="DejaVu Sans"/>
                <a:cs typeface="DejaVu Sans"/>
              </a:defRPr>
            </a:pPr>
            <a:r>
              <a:rPr sz="750" b="0" i="0">
                <a:solidFill>
                  <a:srgbClr val="8190AA"/>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EE30836D-B37A-4F98-AC27-94903828760B}"/>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8190AA"/>
                </a:solidFill>
                <a:latin typeface="DejaVu Sans Mono"/>
                <a:ea typeface="DejaVu Sans Mono"/>
                <a:cs typeface="DejaVu Sans Mono"/>
              </a:defRPr>
            </a:pPr>
            <a:r>
              <a:rPr sz="750" b="0" i="0">
                <a:solidFill>
                  <a:srgbClr val="8190AA"/>
                </a:solidFill>
                <a:latin typeface="DejaVu Sans Mono"/>
                <a:ea typeface="DejaVu Sans Mono"/>
                <a:cs typeface="DejaVu Sans Mono"/>
              </a:rPr>
              <a:t>03</a:t>
            </a:r>
          </a:p>
        </p:txBody>
      </p:sp>
      <p:sp>
        <p:nvSpPr>
          <p:cNvPr id="5" name="Rectangle 4">
            <a:extLst>
              <a:ext uri="{FF2B5EF4-FFF2-40B4-BE49-F238E27FC236}">
                <a16:creationId xmlns:a16="http://schemas.microsoft.com/office/drawing/2014/main" id="{B5285097-408A-4654-81C9-0AB4479386C6}"/>
              </a:ext>
            </a:extLst>
          </p:cNvPr>
          <p:cNvSpPr>
            <a:spLocks noGrp="1"/>
          </p:cNvSpPr>
          <p:nvPr/>
        </p:nvSpPr>
        <p:spPr>
          <a:xfrm>
            <a:off x="685800" y="6419850"/>
            <a:ext cx="1755775" cy="47625"/>
          </a:xfrm>
          <a:prstGeom prst="rect">
            <a:avLst/>
          </a:prstGeom>
          <a:solidFill>
            <a:srgbClr val="2B3548"/>
          </a:solidFill>
          <a:ln w="0">
            <a:noFill/>
            <a:prstDash val="solid"/>
          </a:ln>
        </p:spPr>
        <p:txBody>
          <a:bodyPr/>
          <a:lstStyle/>
          <a:p>
            <a:endParaRPr lang="en-US"/>
          </a:p>
        </p:txBody>
      </p:sp>
      <p:sp>
        <p:nvSpPr>
          <p:cNvPr id="6" name="Rectangle 5">
            <a:extLst>
              <a:ext uri="{FF2B5EF4-FFF2-40B4-BE49-F238E27FC236}">
                <a16:creationId xmlns:a16="http://schemas.microsoft.com/office/drawing/2014/main" id="{5FF95AA4-65AF-4E4E-9B75-1D2C561E3E56}"/>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PLAN</a:t>
            </a:r>
          </a:p>
        </p:txBody>
      </p:sp>
      <p:sp>
        <p:nvSpPr>
          <p:cNvPr id="7" name="Rectangle 6">
            <a:extLst>
              <a:ext uri="{FF2B5EF4-FFF2-40B4-BE49-F238E27FC236}">
                <a16:creationId xmlns:a16="http://schemas.microsoft.com/office/drawing/2014/main" id="{C3654081-6B33-45F4-A159-367B9EDDC674}"/>
              </a:ext>
            </a:extLst>
          </p:cNvPr>
          <p:cNvSpPr>
            <a:spLocks noGrp="1"/>
          </p:cNvSpPr>
          <p:nvPr/>
        </p:nvSpPr>
        <p:spPr>
          <a:xfrm>
            <a:off x="2498725" y="6419850"/>
            <a:ext cx="1755775" cy="47625"/>
          </a:xfrm>
          <a:prstGeom prst="rect">
            <a:avLst/>
          </a:prstGeom>
          <a:solidFill>
            <a:srgbClr val="2B3548"/>
          </a:solidFill>
          <a:ln w="0">
            <a:noFill/>
            <a:prstDash val="solid"/>
          </a:ln>
        </p:spPr>
        <p:txBody>
          <a:bodyPr/>
          <a:lstStyle/>
          <a:p>
            <a:endParaRPr lang="en-US"/>
          </a:p>
        </p:txBody>
      </p:sp>
      <p:sp>
        <p:nvSpPr>
          <p:cNvPr id="8" name="Rectangle 7">
            <a:extLst>
              <a:ext uri="{FF2B5EF4-FFF2-40B4-BE49-F238E27FC236}">
                <a16:creationId xmlns:a16="http://schemas.microsoft.com/office/drawing/2014/main" id="{5365503C-E818-444A-8DE8-2D092B24189F}"/>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DESIGN</a:t>
            </a:r>
          </a:p>
        </p:txBody>
      </p:sp>
      <p:sp>
        <p:nvSpPr>
          <p:cNvPr id="9" name="Rectangle 8">
            <a:extLst>
              <a:ext uri="{FF2B5EF4-FFF2-40B4-BE49-F238E27FC236}">
                <a16:creationId xmlns:a16="http://schemas.microsoft.com/office/drawing/2014/main" id="{5277D04F-DA59-4BD4-8077-CEB8B72D7E9F}"/>
              </a:ext>
            </a:extLst>
          </p:cNvPr>
          <p:cNvSpPr>
            <a:spLocks noGrp="1"/>
          </p:cNvSpPr>
          <p:nvPr/>
        </p:nvSpPr>
        <p:spPr>
          <a:xfrm>
            <a:off x="4311650" y="6419850"/>
            <a:ext cx="1755775" cy="47625"/>
          </a:xfrm>
          <a:prstGeom prst="rect">
            <a:avLst/>
          </a:prstGeom>
          <a:solidFill>
            <a:srgbClr val="2B354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59D1B31C-9DE5-4BDE-94CA-3D2570A21663}"/>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BUILD</a:t>
            </a:r>
          </a:p>
        </p:txBody>
      </p:sp>
      <p:sp>
        <p:nvSpPr>
          <p:cNvPr id="11" name="Rectangle 10">
            <a:extLst>
              <a:ext uri="{FF2B5EF4-FFF2-40B4-BE49-F238E27FC236}">
                <a16:creationId xmlns:a16="http://schemas.microsoft.com/office/drawing/2014/main" id="{01A9CC64-805A-4653-9EA1-4895DEEF0B99}"/>
              </a:ext>
            </a:extLst>
          </p:cNvPr>
          <p:cNvSpPr>
            <a:spLocks noGrp="1"/>
          </p:cNvSpPr>
          <p:nvPr/>
        </p:nvSpPr>
        <p:spPr>
          <a:xfrm>
            <a:off x="6124575" y="6419850"/>
            <a:ext cx="1755775" cy="47625"/>
          </a:xfrm>
          <a:prstGeom prst="rect">
            <a:avLst/>
          </a:prstGeom>
          <a:solidFill>
            <a:srgbClr val="2B354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1E11CB9E-166A-43BB-845C-AB198F981592}"/>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TEST</a:t>
            </a:r>
          </a:p>
        </p:txBody>
      </p:sp>
      <p:sp>
        <p:nvSpPr>
          <p:cNvPr id="13" name="Rectangle 12">
            <a:extLst>
              <a:ext uri="{FF2B5EF4-FFF2-40B4-BE49-F238E27FC236}">
                <a16:creationId xmlns:a16="http://schemas.microsoft.com/office/drawing/2014/main" id="{3C327601-4330-48E0-8981-D818EC371280}"/>
              </a:ext>
            </a:extLst>
          </p:cNvPr>
          <p:cNvSpPr>
            <a:spLocks noGrp="1"/>
          </p:cNvSpPr>
          <p:nvPr/>
        </p:nvSpPr>
        <p:spPr>
          <a:xfrm>
            <a:off x="7937500" y="6419850"/>
            <a:ext cx="1755775" cy="47625"/>
          </a:xfrm>
          <a:prstGeom prst="rect">
            <a:avLst/>
          </a:prstGeom>
          <a:solidFill>
            <a:srgbClr val="2B354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AB1F7A11-4B5B-411D-A5A0-CC534E934284}"/>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BE24FA53-E1A2-4FED-905B-4B274F82EE79}"/>
              </a:ext>
            </a:extLst>
          </p:cNvPr>
          <p:cNvSpPr>
            <a:spLocks noGrp="1"/>
          </p:cNvSpPr>
          <p:nvPr/>
        </p:nvSpPr>
        <p:spPr>
          <a:xfrm>
            <a:off x="9750425" y="6419850"/>
            <a:ext cx="1755775" cy="47625"/>
          </a:xfrm>
          <a:prstGeom prst="rect">
            <a:avLst/>
          </a:prstGeom>
          <a:solidFill>
            <a:srgbClr val="2B354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4CBBE358-1682-4EE3-B518-FA0FFEF1F8AB}"/>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2323065B-008B-4799-9108-5733B44F731F}"/>
              </a:ext>
            </a:extLst>
          </p:cNvPr>
          <p:cNvSpPr>
            <a:spLocks noGrp="1"/>
          </p:cNvSpPr>
          <p:nvPr/>
        </p:nvSpPr>
        <p:spPr>
          <a:xfrm>
            <a:off x="685800" y="1524000"/>
            <a:ext cx="3429000" cy="2419350"/>
          </a:xfrm>
          <a:prstGeom prst="roundRect">
            <a:avLst>
              <a:gd name="adj" fmla="val 8661"/>
            </a:avLst>
          </a:prstGeom>
          <a:solidFill>
            <a:srgbClr val="151E31"/>
          </a:solidFill>
          <a:ln w="9525">
            <a:solidFill>
              <a:srgbClr val="32405A"/>
            </a:solidFill>
            <a:prstDash val="solid"/>
          </a:ln>
        </p:spPr>
        <p:txBody>
          <a:bodyPr/>
          <a:lstStyle/>
          <a:p>
            <a:endParaRPr lang="en-US"/>
          </a:p>
        </p:txBody>
      </p:sp>
      <p:sp>
        <p:nvSpPr>
          <p:cNvPr id="18" name="Rectangle 17">
            <a:extLst>
              <a:ext uri="{FF2B5EF4-FFF2-40B4-BE49-F238E27FC236}">
                <a16:creationId xmlns:a16="http://schemas.microsoft.com/office/drawing/2014/main" id="{8110FFC2-8952-4830-80E4-5BE7A7A9937A}"/>
              </a:ext>
            </a:extLst>
          </p:cNvPr>
          <p:cNvSpPr>
            <a:spLocks noGrp="1"/>
          </p:cNvSpPr>
          <p:nvPr/>
        </p:nvSpPr>
        <p:spPr>
          <a:xfrm>
            <a:off x="914400" y="1847850"/>
            <a:ext cx="2971800" cy="323850"/>
          </a:xfrm>
          <a:prstGeom prst="rect">
            <a:avLst/>
          </a:prstGeom>
          <a:noFill/>
          <a:ln w="0">
            <a:noFill/>
          </a:ln>
        </p:spPr>
        <p:txBody>
          <a:bodyPr wrap="square" lIns="0" tIns="0" rIns="0" bIns="0" anchor="t">
            <a:normAutofit/>
          </a:bodyPr>
          <a:lstStyle/>
          <a:p>
            <a:pPr algn="l">
              <a:defRPr sz="1875" b="1" i="0">
                <a:solidFill>
                  <a:srgbClr val="FFFFFF"/>
                </a:solidFill>
                <a:latin typeface="DejaVu Sans"/>
                <a:ea typeface="DejaVu Sans"/>
                <a:cs typeface="DejaVu Sans"/>
              </a:defRPr>
            </a:pPr>
            <a:r>
              <a:rPr sz="1875" b="1" i="0">
                <a:solidFill>
                  <a:srgbClr val="FFFFFF"/>
                </a:solidFill>
                <a:latin typeface="DejaVu Sans"/>
                <a:ea typeface="DejaVu Sans"/>
                <a:cs typeface="DejaVu Sans"/>
              </a:rPr>
              <a:t>AI writes code</a:t>
            </a:r>
          </a:p>
        </p:txBody>
      </p:sp>
      <p:sp>
        <p:nvSpPr>
          <p:cNvPr id="19" name="Rectangle 18">
            <a:extLst>
              <a:ext uri="{FF2B5EF4-FFF2-40B4-BE49-F238E27FC236}">
                <a16:creationId xmlns:a16="http://schemas.microsoft.com/office/drawing/2014/main" id="{EAB125E6-F41B-4628-B447-C774AFC0BE45}"/>
              </a:ext>
            </a:extLst>
          </p:cNvPr>
          <p:cNvSpPr>
            <a:spLocks noGrp="1"/>
          </p:cNvSpPr>
          <p:nvPr/>
        </p:nvSpPr>
        <p:spPr>
          <a:xfrm>
            <a:off x="914400" y="2362200"/>
            <a:ext cx="2971800" cy="285750"/>
          </a:xfrm>
          <a:prstGeom prst="rect">
            <a:avLst/>
          </a:prstGeom>
          <a:noFill/>
          <a:ln w="0">
            <a:noFill/>
          </a:ln>
        </p:spPr>
        <p:txBody>
          <a:bodyPr wrap="square" lIns="0" tIns="0" rIns="0" bIns="0" anchor="t">
            <a:normAutofit/>
          </a:bodyPr>
          <a:lstStyle/>
          <a:p>
            <a:pPr algn="l">
              <a:defRPr sz="1425" b="1" i="0">
                <a:solidFill>
                  <a:srgbClr val="19C3D2"/>
                </a:solidFill>
                <a:latin typeface="DejaVu Sans"/>
                <a:ea typeface="DejaVu Sans"/>
                <a:cs typeface="DejaVu Sans"/>
              </a:defRPr>
            </a:pPr>
            <a:r>
              <a:rPr sz="1425" b="1" i="0">
                <a:solidFill>
                  <a:srgbClr val="19C3D2"/>
                </a:solidFill>
                <a:latin typeface="DejaVu Sans"/>
                <a:ea typeface="DejaVu Sans"/>
                <a:cs typeface="DejaVu Sans"/>
              </a:rPr>
              <a:t>Minutes or hours</a:t>
            </a:r>
          </a:p>
        </p:txBody>
      </p:sp>
      <p:sp>
        <p:nvSpPr>
          <p:cNvPr id="20" name="Rectangle 19">
            <a:extLst>
              <a:ext uri="{FF2B5EF4-FFF2-40B4-BE49-F238E27FC236}">
                <a16:creationId xmlns:a16="http://schemas.microsoft.com/office/drawing/2014/main" id="{7E375DF4-A206-4999-8AA8-D390A8165C7D}"/>
              </a:ext>
            </a:extLst>
          </p:cNvPr>
          <p:cNvSpPr>
            <a:spLocks noGrp="1"/>
          </p:cNvSpPr>
          <p:nvPr/>
        </p:nvSpPr>
        <p:spPr>
          <a:xfrm>
            <a:off x="914400" y="2895600"/>
            <a:ext cx="2971800" cy="666750"/>
          </a:xfrm>
          <a:prstGeom prst="rect">
            <a:avLst/>
          </a:prstGeom>
          <a:noFill/>
          <a:ln w="0">
            <a:noFill/>
          </a:ln>
        </p:spPr>
        <p:txBody>
          <a:bodyPr wrap="square" lIns="0" tIns="0" rIns="0" bIns="0" anchor="t">
            <a:normAutofit/>
          </a:bodyPr>
          <a:lstStyle/>
          <a:p>
            <a:pPr algn="l">
              <a:defRPr sz="1275" b="0" i="0">
                <a:solidFill>
                  <a:srgbClr val="C4D1E3"/>
                </a:solidFill>
                <a:latin typeface="DejaVu Sans"/>
                <a:ea typeface="DejaVu Sans"/>
                <a:cs typeface="DejaVu Sans"/>
              </a:defRPr>
            </a:pPr>
            <a:r>
              <a:rPr sz="1275" b="0" i="0">
                <a:solidFill>
                  <a:srgbClr val="C4D1E3"/>
                </a:solidFill>
                <a:latin typeface="DejaVu Sans"/>
                <a:ea typeface="DejaVu Sans"/>
                <a:cs typeface="DejaVu Sans"/>
              </a:rPr>
              <a:t>More code can be produced in the same time.</a:t>
            </a:r>
          </a:p>
        </p:txBody>
      </p:sp>
      <p:sp>
        <p:nvSpPr>
          <p:cNvPr id="21" name="Arrow: Right 20">
            <a:extLst>
              <a:ext uri="{FF2B5EF4-FFF2-40B4-BE49-F238E27FC236}">
                <a16:creationId xmlns:a16="http://schemas.microsoft.com/office/drawing/2014/main" id="{D61AF09E-99BC-43F1-AA7F-73FA45436866}"/>
              </a:ext>
            </a:extLst>
          </p:cNvPr>
          <p:cNvSpPr>
            <a:spLocks noGrp="1"/>
          </p:cNvSpPr>
          <p:nvPr/>
        </p:nvSpPr>
        <p:spPr>
          <a:xfrm>
            <a:off x="4362450" y="2533650"/>
            <a:ext cx="800100" cy="247650"/>
          </a:xfrm>
          <a:prstGeom prst="rightArrow">
            <a:avLst/>
          </a:prstGeom>
          <a:solidFill>
            <a:srgbClr val="64748B"/>
          </a:solidFill>
          <a:ln w="0">
            <a:noFill/>
          </a:ln>
        </p:spPr>
        <p:txBody>
          <a:bodyPr/>
          <a:lstStyle/>
          <a:p>
            <a:endParaRPr lang="en-US"/>
          </a:p>
        </p:txBody>
      </p:sp>
      <p:sp>
        <p:nvSpPr>
          <p:cNvPr id="22" name="Rectangle: Rounded Corners 21">
            <a:extLst>
              <a:ext uri="{FF2B5EF4-FFF2-40B4-BE49-F238E27FC236}">
                <a16:creationId xmlns:a16="http://schemas.microsoft.com/office/drawing/2014/main" id="{FCEFC470-C436-493A-BC84-10063BDACB3D}"/>
              </a:ext>
            </a:extLst>
          </p:cNvPr>
          <p:cNvSpPr>
            <a:spLocks noGrp="1"/>
          </p:cNvSpPr>
          <p:nvPr/>
        </p:nvSpPr>
        <p:spPr>
          <a:xfrm>
            <a:off x="5410200" y="1524000"/>
            <a:ext cx="6096000" cy="2419350"/>
          </a:xfrm>
          <a:prstGeom prst="roundRect">
            <a:avLst>
              <a:gd name="adj" fmla="val 8661"/>
            </a:avLst>
          </a:prstGeom>
          <a:solidFill>
            <a:srgbClr val="151E31"/>
          </a:solidFill>
          <a:ln w="9525">
            <a:solidFill>
              <a:srgbClr val="32405A"/>
            </a:solidFill>
            <a:prstDash val="solid"/>
          </a:ln>
        </p:spPr>
        <p:txBody>
          <a:bodyPr/>
          <a:lstStyle/>
          <a:p>
            <a:endParaRPr lang="en-US"/>
          </a:p>
        </p:txBody>
      </p:sp>
      <p:sp>
        <p:nvSpPr>
          <p:cNvPr id="23" name="Rectangle 22">
            <a:extLst>
              <a:ext uri="{FF2B5EF4-FFF2-40B4-BE49-F238E27FC236}">
                <a16:creationId xmlns:a16="http://schemas.microsoft.com/office/drawing/2014/main" id="{64E71C1B-5C07-426A-A4A8-3D6F9070B12A}"/>
              </a:ext>
            </a:extLst>
          </p:cNvPr>
          <p:cNvSpPr>
            <a:spLocks noGrp="1"/>
          </p:cNvSpPr>
          <p:nvPr/>
        </p:nvSpPr>
        <p:spPr>
          <a:xfrm>
            <a:off x="5715000" y="1847850"/>
            <a:ext cx="5486400" cy="419100"/>
          </a:xfrm>
          <a:prstGeom prst="rect">
            <a:avLst/>
          </a:prstGeom>
          <a:noFill/>
          <a:ln w="0">
            <a:noFill/>
          </a:ln>
        </p:spPr>
        <p:txBody>
          <a:bodyPr wrap="square" lIns="0" tIns="0" rIns="0" bIns="0" anchor="t">
            <a:normAutofit/>
          </a:bodyPr>
          <a:lstStyle/>
          <a:p>
            <a:pPr algn="l">
              <a:defRPr sz="1875" b="1" i="0">
                <a:solidFill>
                  <a:srgbClr val="FFFFFF"/>
                </a:solidFill>
                <a:latin typeface="DejaVu Sans"/>
                <a:ea typeface="DejaVu Sans"/>
                <a:cs typeface="DejaVu Sans"/>
              </a:defRPr>
            </a:pPr>
            <a:r>
              <a:rPr sz="1875" b="1" i="0">
                <a:solidFill>
                  <a:srgbClr val="FFFFFF"/>
                </a:solidFill>
                <a:latin typeface="DejaVu Sans"/>
                <a:ea typeface="DejaVu Sans"/>
                <a:cs typeface="DejaVu Sans"/>
              </a:rPr>
              <a:t>The rest of the process must keep up</a:t>
            </a:r>
          </a:p>
        </p:txBody>
      </p:sp>
      <p:sp>
        <p:nvSpPr>
          <p:cNvPr id="24" name="Rectangle 23">
            <a:extLst>
              <a:ext uri="{FF2B5EF4-FFF2-40B4-BE49-F238E27FC236}">
                <a16:creationId xmlns:a16="http://schemas.microsoft.com/office/drawing/2014/main" id="{EEB0D70A-801C-468E-AB7D-FC1B50D01D4E}"/>
              </a:ext>
            </a:extLst>
          </p:cNvPr>
          <p:cNvSpPr>
            <a:spLocks noGrp="1"/>
          </p:cNvSpPr>
          <p:nvPr/>
        </p:nvSpPr>
        <p:spPr>
          <a:xfrm>
            <a:off x="5715000" y="2495550"/>
            <a:ext cx="5486400" cy="857250"/>
          </a:xfrm>
          <a:prstGeom prst="rect">
            <a:avLst/>
          </a:prstGeom>
          <a:noFill/>
          <a:ln w="0">
            <a:noFill/>
          </a:ln>
        </p:spPr>
        <p:txBody>
          <a:bodyPr wrap="square" lIns="0" tIns="0" rIns="0" bIns="0" anchor="t">
            <a:normAutofit/>
          </a:bodyPr>
          <a:lstStyle/>
          <a:p>
            <a:pPr algn="l">
              <a:defRPr sz="1350" b="0" i="0">
                <a:solidFill>
                  <a:srgbClr val="C4D1E3"/>
                </a:solidFill>
                <a:latin typeface="DejaVu Sans"/>
                <a:ea typeface="DejaVu Sans"/>
                <a:cs typeface="DejaVu Sans"/>
              </a:defRPr>
            </a:pPr>
            <a:r>
              <a:rPr sz="1350" b="0" i="0">
                <a:solidFill>
                  <a:srgbClr val="C4D1E3"/>
                </a:solidFill>
                <a:latin typeface="DejaVu Sans"/>
                <a:ea typeface="DejaVu Sans"/>
                <a:cs typeface="DejaVu Sans"/>
              </a:rPr>
              <a:t>Planning, review, security, release, and operations still take human time.</a:t>
            </a:r>
          </a:p>
        </p:txBody>
      </p:sp>
      <p:sp>
        <p:nvSpPr>
          <p:cNvPr id="25" name="Rectangle: Rounded Corners 24">
            <a:extLst>
              <a:ext uri="{FF2B5EF4-FFF2-40B4-BE49-F238E27FC236}">
                <a16:creationId xmlns:a16="http://schemas.microsoft.com/office/drawing/2014/main" id="{6985BC21-0FD2-4252-9700-CD3EE2023F5D}"/>
              </a:ext>
            </a:extLst>
          </p:cNvPr>
          <p:cNvSpPr>
            <a:spLocks noGrp="1"/>
          </p:cNvSpPr>
          <p:nvPr/>
        </p:nvSpPr>
        <p:spPr>
          <a:xfrm>
            <a:off x="1619250" y="4686300"/>
            <a:ext cx="8953500" cy="876300"/>
          </a:xfrm>
          <a:prstGeom prst="roundRect">
            <a:avLst>
              <a:gd name="adj" fmla="val 21739"/>
            </a:avLst>
          </a:prstGeom>
          <a:solidFill>
            <a:srgbClr val="151E31"/>
          </a:solidFill>
          <a:ln w="9525">
            <a:solidFill>
              <a:srgbClr val="32405A"/>
            </a:solidFill>
            <a:prstDash val="solid"/>
          </a:ln>
        </p:spPr>
        <p:txBody>
          <a:bodyPr/>
          <a:lstStyle/>
          <a:p>
            <a:endParaRPr lang="en-US"/>
          </a:p>
        </p:txBody>
      </p:sp>
      <p:sp>
        <p:nvSpPr>
          <p:cNvPr id="26" name="Rectangle 25">
            <a:extLst>
              <a:ext uri="{FF2B5EF4-FFF2-40B4-BE49-F238E27FC236}">
                <a16:creationId xmlns:a16="http://schemas.microsoft.com/office/drawing/2014/main" id="{8E17D6E2-E0D0-46E6-A49B-2A7E68D5AF73}"/>
              </a:ext>
            </a:extLst>
          </p:cNvPr>
          <p:cNvSpPr>
            <a:spLocks noGrp="1"/>
          </p:cNvSpPr>
          <p:nvPr/>
        </p:nvSpPr>
        <p:spPr>
          <a:xfrm>
            <a:off x="1905000" y="4876800"/>
            <a:ext cx="8382000" cy="266700"/>
          </a:xfrm>
          <a:prstGeom prst="rect">
            <a:avLst/>
          </a:prstGeom>
          <a:noFill/>
          <a:ln w="0">
            <a:noFill/>
          </a:ln>
        </p:spPr>
        <p:txBody>
          <a:bodyPr wrap="square" lIns="0" tIns="0" rIns="0" bIns="0" anchor="t">
            <a:normAutofit/>
          </a:bodyPr>
          <a:lstStyle/>
          <a:p>
            <a:pPr algn="ctr">
              <a:defRPr sz="1575" b="1" i="0">
                <a:solidFill>
                  <a:srgbClr val="FFFFFF"/>
                </a:solidFill>
                <a:latin typeface="DejaVu Sans"/>
                <a:ea typeface="DejaVu Sans"/>
                <a:cs typeface="DejaVu Sans"/>
              </a:defRPr>
            </a:pPr>
            <a:r>
              <a:rPr sz="1575" b="1" i="0">
                <a:solidFill>
                  <a:srgbClr val="FFFFFF"/>
                </a:solidFill>
                <a:latin typeface="DejaVu Sans"/>
                <a:ea typeface="DejaVu Sans"/>
                <a:cs typeface="DejaVu Sans"/>
              </a:rPr>
              <a:t>Faster coding alone does not create faster delivery</a:t>
            </a:r>
          </a:p>
        </p:txBody>
      </p:sp>
      <p:sp>
        <p:nvSpPr>
          <p:cNvPr id="27" name="Rectangle 26">
            <a:extLst>
              <a:ext uri="{FF2B5EF4-FFF2-40B4-BE49-F238E27FC236}">
                <a16:creationId xmlns:a16="http://schemas.microsoft.com/office/drawing/2014/main" id="{10EFC93D-1339-4677-9007-EF5DA0924038}"/>
              </a:ext>
            </a:extLst>
          </p:cNvPr>
          <p:cNvSpPr>
            <a:spLocks noGrp="1"/>
          </p:cNvSpPr>
          <p:nvPr/>
        </p:nvSpPr>
        <p:spPr>
          <a:xfrm>
            <a:off x="1905000" y="5219700"/>
            <a:ext cx="8382000" cy="190500"/>
          </a:xfrm>
          <a:prstGeom prst="rect">
            <a:avLst/>
          </a:prstGeom>
          <a:noFill/>
          <a:ln w="0">
            <a:noFill/>
          </a:ln>
        </p:spPr>
        <p:txBody>
          <a:bodyPr wrap="square" lIns="0" tIns="0" rIns="0" bIns="0" anchor="t">
            <a:normAutofit/>
          </a:bodyPr>
          <a:lstStyle/>
          <a:p>
            <a:pPr algn="ctr">
              <a:defRPr sz="975" b="0" i="0">
                <a:solidFill>
                  <a:srgbClr val="B9C7D9"/>
                </a:solidFill>
                <a:latin typeface="DejaVu Sans"/>
                <a:ea typeface="DejaVu Sans"/>
                <a:cs typeface="DejaVu Sans"/>
              </a:defRPr>
            </a:pPr>
            <a:r>
              <a:rPr sz="975" b="0" i="0">
                <a:solidFill>
                  <a:srgbClr val="B9C7D9"/>
                </a:solidFill>
                <a:latin typeface="DejaVu Sans"/>
                <a:ea typeface="DejaVu Sans"/>
                <a:cs typeface="DejaVu Sans"/>
              </a:rPr>
              <a:t>The full lifecycle needs to change</a:t>
            </a:r>
          </a:p>
        </p:txBody>
      </p:sp>
    </p:spTree>
    <p:extLst>
      <p:ext uri="{BB962C8B-B14F-4D97-AF65-F5344CB8AC3E}">
        <p14:creationId xmlns:p14="http://schemas.microsoft.com/office/powerpoint/2010/main" val="2043723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0BBEDE33-33D7-4C06-99CE-7EBF489A31D4}"/>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SIX STAGES IN A LINE</a:t>
            </a:r>
          </a:p>
        </p:txBody>
      </p:sp>
      <p:sp>
        <p:nvSpPr>
          <p:cNvPr id="2" name="Rectangle 1">
            <a:extLst>
              <a:ext uri="{FF2B5EF4-FFF2-40B4-BE49-F238E27FC236}">
                <a16:creationId xmlns:a16="http://schemas.microsoft.com/office/drawing/2014/main" id="{761B83C0-84A2-4868-BB17-635D7D2FEC95}"/>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The traditional SDLC</a:t>
            </a:r>
          </a:p>
        </p:txBody>
      </p:sp>
      <p:sp>
        <p:nvSpPr>
          <p:cNvPr id="3" name="Rectangle 2">
            <a:extLst>
              <a:ext uri="{FF2B5EF4-FFF2-40B4-BE49-F238E27FC236}">
                <a16:creationId xmlns:a16="http://schemas.microsoft.com/office/drawing/2014/main" id="{0ED0B92A-1EEA-4367-993B-FD626D924B94}"/>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F89B086F-704C-45D9-B87F-1AE61991701C}"/>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04</a:t>
            </a:r>
          </a:p>
        </p:txBody>
      </p:sp>
      <p:sp>
        <p:nvSpPr>
          <p:cNvPr id="5" name="Rectangle 4">
            <a:extLst>
              <a:ext uri="{FF2B5EF4-FFF2-40B4-BE49-F238E27FC236}">
                <a16:creationId xmlns:a16="http://schemas.microsoft.com/office/drawing/2014/main" id="{D014A93D-24A5-48BE-B890-F4C20E2591A6}"/>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E312F25A-4C0D-4385-BFFE-C1611963DB9A}"/>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E79807A5-62B0-41FD-B085-9DF5E9EB8A51}"/>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88E906A9-9D3C-443F-8EF7-348AA4829FC8}"/>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9CCCAD31-1EE2-4C5C-B343-CB8B56F338F5}"/>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3DDAA6A8-33CF-42E2-BA99-A65563CA890D}"/>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CF9D6248-CA1D-40FC-9DD7-63BA5587D79A}"/>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E5FEEC3F-F06A-4AA2-94C7-FEB444ACF4E6}"/>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2F8EE232-EBB1-4E28-AEB8-B8AB74F43238}"/>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ADBD2291-0948-4407-8A35-E6A848CB9721}"/>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90B5F2F0-7314-44B3-985E-FDE6E17EB474}"/>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7AE5D99D-7055-4F73-AB8B-B9C72B3C01CF}"/>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2B159C9F-ACE2-40C4-AC65-55AB28F9C683}"/>
              </a:ext>
            </a:extLst>
          </p:cNvPr>
          <p:cNvSpPr>
            <a:spLocks noGrp="1"/>
          </p:cNvSpPr>
          <p:nvPr/>
        </p:nvSpPr>
        <p:spPr>
          <a:xfrm>
            <a:off x="685800" y="1676400"/>
            <a:ext cx="1524000" cy="1447800"/>
          </a:xfrm>
          <a:prstGeom prst="roundRect">
            <a:avLst>
              <a:gd name="adj" fmla="val 11842"/>
            </a:avLst>
          </a:prstGeom>
          <a:solidFill>
            <a:srgbClr val="FFFFFF"/>
          </a:solidFill>
          <a:ln w="9525">
            <a:solidFill>
              <a:srgbClr val="D8DEE9"/>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4693432E-B0C2-4437-9096-E559C7CD66A4}"/>
              </a:ext>
            </a:extLst>
          </p:cNvPr>
          <p:cNvSpPr>
            <a:spLocks noGrp="1"/>
          </p:cNvSpPr>
          <p:nvPr/>
        </p:nvSpPr>
        <p:spPr>
          <a:xfrm>
            <a:off x="685800" y="1676400"/>
            <a:ext cx="1524000" cy="95250"/>
          </a:xfrm>
          <a:prstGeom prst="roundRect">
            <a:avLst>
              <a:gd name="adj" fmla="val 50000"/>
            </a:avLst>
          </a:prstGeom>
          <a:solidFill>
            <a:srgbClr val="FF806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A88EC134-27CF-4385-B640-6A1096265148}"/>
              </a:ext>
            </a:extLst>
          </p:cNvPr>
          <p:cNvSpPr>
            <a:spLocks noGrp="1"/>
          </p:cNvSpPr>
          <p:nvPr/>
        </p:nvSpPr>
        <p:spPr>
          <a:xfrm>
            <a:off x="781050" y="2057400"/>
            <a:ext cx="1333500" cy="228600"/>
          </a:xfrm>
          <a:prstGeom prst="rect">
            <a:avLst/>
          </a:prstGeom>
          <a:noFill/>
          <a:ln w="0">
            <a:noFill/>
          </a:ln>
        </p:spPr>
        <p:txBody>
          <a:bodyPr wrap="square" lIns="0" tIns="0" rIns="0" bIns="0" anchor="t">
            <a:normAutofit/>
          </a:bodyPr>
          <a:lstStyle/>
          <a:p>
            <a:pPr algn="ctr">
              <a:defRPr sz="1125" b="1" i="0">
                <a:solidFill>
                  <a:srgbClr val="FF8066"/>
                </a:solidFill>
                <a:latin typeface="DejaVu Sans"/>
                <a:ea typeface="DejaVu Sans"/>
                <a:cs typeface="DejaVu Sans"/>
              </a:defRPr>
            </a:pPr>
            <a:r>
              <a:rPr sz="1125" b="1" i="0">
                <a:solidFill>
                  <a:srgbClr val="FF8066"/>
                </a:solidFill>
                <a:latin typeface="DejaVu Sans"/>
                <a:ea typeface="DejaVu Sans"/>
                <a:cs typeface="DejaVu Sans"/>
              </a:rPr>
              <a:t>PLAN</a:t>
            </a:r>
          </a:p>
        </p:txBody>
      </p:sp>
      <p:sp>
        <p:nvSpPr>
          <p:cNvPr id="20" name="Rectangle 19">
            <a:extLst>
              <a:ext uri="{FF2B5EF4-FFF2-40B4-BE49-F238E27FC236}">
                <a16:creationId xmlns:a16="http://schemas.microsoft.com/office/drawing/2014/main" id="{3D63C2DB-310C-4677-9435-3A328762C6DF}"/>
              </a:ext>
            </a:extLst>
          </p:cNvPr>
          <p:cNvSpPr>
            <a:spLocks noGrp="1"/>
          </p:cNvSpPr>
          <p:nvPr/>
        </p:nvSpPr>
        <p:spPr>
          <a:xfrm>
            <a:off x="781050" y="2533650"/>
            <a:ext cx="1333500" cy="20955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Product</a:t>
            </a:r>
          </a:p>
        </p:txBody>
      </p:sp>
      <p:sp>
        <p:nvSpPr>
          <p:cNvPr id="21" name="Arrow: Right 20">
            <a:extLst>
              <a:ext uri="{FF2B5EF4-FFF2-40B4-BE49-F238E27FC236}">
                <a16:creationId xmlns:a16="http://schemas.microsoft.com/office/drawing/2014/main" id="{7E4C497A-353F-4B55-8CCE-218B3AFA78E1}"/>
              </a:ext>
            </a:extLst>
          </p:cNvPr>
          <p:cNvSpPr>
            <a:spLocks noGrp="1"/>
          </p:cNvSpPr>
          <p:nvPr/>
        </p:nvSpPr>
        <p:spPr>
          <a:xfrm>
            <a:off x="2247900" y="2266950"/>
            <a:ext cx="190500" cy="247650"/>
          </a:xfrm>
          <a:prstGeom prst="rightArrow">
            <a:avLst/>
          </a:prstGeom>
          <a:solidFill>
            <a:srgbClr val="A5AFC0"/>
          </a:solidFill>
          <a:ln w="0">
            <a:noFill/>
          </a:ln>
        </p:spPr>
        <p:txBody>
          <a:bodyPr/>
          <a:lstStyle/>
          <a:p>
            <a:endParaRPr lang="en-US"/>
          </a:p>
        </p:txBody>
      </p:sp>
      <p:sp>
        <p:nvSpPr>
          <p:cNvPr id="22" name="Rectangle: Rounded Corners 21">
            <a:extLst>
              <a:ext uri="{FF2B5EF4-FFF2-40B4-BE49-F238E27FC236}">
                <a16:creationId xmlns:a16="http://schemas.microsoft.com/office/drawing/2014/main" id="{7F12A562-A0EA-4F5C-A403-8BB43EF8CA18}"/>
              </a:ext>
            </a:extLst>
          </p:cNvPr>
          <p:cNvSpPr>
            <a:spLocks noGrp="1"/>
          </p:cNvSpPr>
          <p:nvPr/>
        </p:nvSpPr>
        <p:spPr>
          <a:xfrm>
            <a:off x="2486025" y="1676400"/>
            <a:ext cx="1524000" cy="1447800"/>
          </a:xfrm>
          <a:prstGeom prst="roundRect">
            <a:avLst>
              <a:gd name="adj" fmla="val 11842"/>
            </a:avLst>
          </a:prstGeom>
          <a:solidFill>
            <a:srgbClr val="FFFFFF"/>
          </a:solidFill>
          <a:ln w="9525">
            <a:solidFill>
              <a:srgbClr val="D8DEE9"/>
            </a:solidFill>
            <a:prstDash val="solid"/>
          </a:ln>
        </p:spPr>
        <p:txBody>
          <a:bodyPr/>
          <a:lstStyle/>
          <a:p>
            <a:endParaRPr lang="en-US"/>
          </a:p>
        </p:txBody>
      </p:sp>
      <p:sp>
        <p:nvSpPr>
          <p:cNvPr id="23" name="Rectangle: Rounded Corners 22">
            <a:extLst>
              <a:ext uri="{FF2B5EF4-FFF2-40B4-BE49-F238E27FC236}">
                <a16:creationId xmlns:a16="http://schemas.microsoft.com/office/drawing/2014/main" id="{907CD1C3-B201-4D20-B640-F28FE402C712}"/>
              </a:ext>
            </a:extLst>
          </p:cNvPr>
          <p:cNvSpPr>
            <a:spLocks noGrp="1"/>
          </p:cNvSpPr>
          <p:nvPr/>
        </p:nvSpPr>
        <p:spPr>
          <a:xfrm>
            <a:off x="2486025" y="1676400"/>
            <a:ext cx="1524000" cy="95250"/>
          </a:xfrm>
          <a:prstGeom prst="roundRect">
            <a:avLst>
              <a:gd name="adj" fmla="val 50000"/>
            </a:avLst>
          </a:prstGeom>
          <a:solidFill>
            <a:srgbClr val="F2A93B"/>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2C21D9B0-4014-4E91-B197-14490CEE50EB}"/>
              </a:ext>
            </a:extLst>
          </p:cNvPr>
          <p:cNvSpPr>
            <a:spLocks noGrp="1"/>
          </p:cNvSpPr>
          <p:nvPr/>
        </p:nvSpPr>
        <p:spPr>
          <a:xfrm>
            <a:off x="2581275" y="2057400"/>
            <a:ext cx="1333500" cy="228600"/>
          </a:xfrm>
          <a:prstGeom prst="rect">
            <a:avLst/>
          </a:prstGeom>
          <a:noFill/>
          <a:ln w="0">
            <a:noFill/>
          </a:ln>
        </p:spPr>
        <p:txBody>
          <a:bodyPr wrap="square" lIns="0" tIns="0" rIns="0" bIns="0" anchor="t">
            <a:normAutofit/>
          </a:bodyPr>
          <a:lstStyle/>
          <a:p>
            <a:pPr algn="ctr">
              <a:defRPr sz="1125" b="1" i="0">
                <a:solidFill>
                  <a:srgbClr val="F2A93B"/>
                </a:solidFill>
                <a:latin typeface="DejaVu Sans"/>
                <a:ea typeface="DejaVu Sans"/>
                <a:cs typeface="DejaVu Sans"/>
              </a:defRPr>
            </a:pPr>
            <a:r>
              <a:rPr sz="1125" b="1" i="0">
                <a:solidFill>
                  <a:srgbClr val="F2A93B"/>
                </a:solidFill>
                <a:latin typeface="DejaVu Sans"/>
                <a:ea typeface="DejaVu Sans"/>
                <a:cs typeface="DejaVu Sans"/>
              </a:rPr>
              <a:t>DESIGN</a:t>
            </a:r>
          </a:p>
        </p:txBody>
      </p:sp>
      <p:sp>
        <p:nvSpPr>
          <p:cNvPr id="25" name="Rectangle 24">
            <a:extLst>
              <a:ext uri="{FF2B5EF4-FFF2-40B4-BE49-F238E27FC236}">
                <a16:creationId xmlns:a16="http://schemas.microsoft.com/office/drawing/2014/main" id="{AEA51783-3F31-471B-8776-2057B123625F}"/>
              </a:ext>
            </a:extLst>
          </p:cNvPr>
          <p:cNvSpPr>
            <a:spLocks noGrp="1"/>
          </p:cNvSpPr>
          <p:nvPr/>
        </p:nvSpPr>
        <p:spPr>
          <a:xfrm>
            <a:off x="2581275" y="2533650"/>
            <a:ext cx="1333500" cy="20955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Architecture</a:t>
            </a:r>
          </a:p>
        </p:txBody>
      </p:sp>
      <p:sp>
        <p:nvSpPr>
          <p:cNvPr id="26" name="Arrow: Right 25">
            <a:extLst>
              <a:ext uri="{FF2B5EF4-FFF2-40B4-BE49-F238E27FC236}">
                <a16:creationId xmlns:a16="http://schemas.microsoft.com/office/drawing/2014/main" id="{0DD3F74C-352F-4519-8F1E-4DB80CA74C92}"/>
              </a:ext>
            </a:extLst>
          </p:cNvPr>
          <p:cNvSpPr>
            <a:spLocks noGrp="1"/>
          </p:cNvSpPr>
          <p:nvPr/>
        </p:nvSpPr>
        <p:spPr>
          <a:xfrm>
            <a:off x="4048125" y="2266950"/>
            <a:ext cx="190500" cy="247650"/>
          </a:xfrm>
          <a:prstGeom prst="rightArrow">
            <a:avLst/>
          </a:prstGeom>
          <a:solidFill>
            <a:srgbClr val="A5AFC0"/>
          </a:solidFill>
          <a:ln w="0">
            <a:noFill/>
          </a:ln>
        </p:spPr>
        <p:txBody>
          <a:bodyPr/>
          <a:lstStyle/>
          <a:p>
            <a:endParaRPr lang="en-US"/>
          </a:p>
        </p:txBody>
      </p:sp>
      <p:sp>
        <p:nvSpPr>
          <p:cNvPr id="27" name="Rectangle: Rounded Corners 26">
            <a:extLst>
              <a:ext uri="{FF2B5EF4-FFF2-40B4-BE49-F238E27FC236}">
                <a16:creationId xmlns:a16="http://schemas.microsoft.com/office/drawing/2014/main" id="{C00F937E-5E1E-4328-B77B-33DFC6808B17}"/>
              </a:ext>
            </a:extLst>
          </p:cNvPr>
          <p:cNvSpPr>
            <a:spLocks noGrp="1"/>
          </p:cNvSpPr>
          <p:nvPr/>
        </p:nvSpPr>
        <p:spPr>
          <a:xfrm>
            <a:off x="4286250" y="1676400"/>
            <a:ext cx="1524000" cy="1447800"/>
          </a:xfrm>
          <a:prstGeom prst="roundRect">
            <a:avLst>
              <a:gd name="adj" fmla="val 11842"/>
            </a:avLst>
          </a:prstGeom>
          <a:solidFill>
            <a:srgbClr val="FFFFFF"/>
          </a:solidFill>
          <a:ln w="9525">
            <a:solidFill>
              <a:srgbClr val="D8DEE9"/>
            </a:solidFill>
            <a:prstDash val="solid"/>
          </a:ln>
        </p:spPr>
        <p:txBody>
          <a:bodyPr/>
          <a:lstStyle/>
          <a:p>
            <a:endParaRPr lang="en-US"/>
          </a:p>
        </p:txBody>
      </p:sp>
      <p:sp>
        <p:nvSpPr>
          <p:cNvPr id="28" name="Rectangle: Rounded Corners 27">
            <a:extLst>
              <a:ext uri="{FF2B5EF4-FFF2-40B4-BE49-F238E27FC236}">
                <a16:creationId xmlns:a16="http://schemas.microsoft.com/office/drawing/2014/main" id="{4E1051A0-8850-4351-9D8C-A2F7D873BE47}"/>
              </a:ext>
            </a:extLst>
          </p:cNvPr>
          <p:cNvSpPr>
            <a:spLocks noGrp="1"/>
          </p:cNvSpPr>
          <p:nvPr/>
        </p:nvSpPr>
        <p:spPr>
          <a:xfrm>
            <a:off x="4286250" y="1676400"/>
            <a:ext cx="1524000" cy="95250"/>
          </a:xfrm>
          <a:prstGeom prst="roundRect">
            <a:avLst>
              <a:gd name="adj" fmla="val 50000"/>
            </a:avLst>
          </a:prstGeom>
          <a:solidFill>
            <a:srgbClr val="7457E8"/>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62407568-D52B-46EB-829C-047823356D0F}"/>
              </a:ext>
            </a:extLst>
          </p:cNvPr>
          <p:cNvSpPr>
            <a:spLocks noGrp="1"/>
          </p:cNvSpPr>
          <p:nvPr/>
        </p:nvSpPr>
        <p:spPr>
          <a:xfrm>
            <a:off x="4381500" y="2057400"/>
            <a:ext cx="1333500" cy="228600"/>
          </a:xfrm>
          <a:prstGeom prst="rect">
            <a:avLst/>
          </a:prstGeom>
          <a:noFill/>
          <a:ln w="0">
            <a:noFill/>
          </a:ln>
        </p:spPr>
        <p:txBody>
          <a:bodyPr wrap="square" lIns="0" tIns="0" rIns="0" bIns="0" anchor="t">
            <a:normAutofit/>
          </a:bodyPr>
          <a:lstStyle/>
          <a:p>
            <a:pPr algn="ctr">
              <a:defRPr sz="1125" b="1" i="0">
                <a:solidFill>
                  <a:srgbClr val="7457E8"/>
                </a:solidFill>
                <a:latin typeface="DejaVu Sans"/>
                <a:ea typeface="DejaVu Sans"/>
                <a:cs typeface="DejaVu Sans"/>
              </a:defRPr>
            </a:pPr>
            <a:r>
              <a:rPr sz="1125" b="1" i="0">
                <a:solidFill>
                  <a:srgbClr val="7457E8"/>
                </a:solidFill>
                <a:latin typeface="DejaVu Sans"/>
                <a:ea typeface="DejaVu Sans"/>
                <a:cs typeface="DejaVu Sans"/>
              </a:rPr>
              <a:t>BUILD</a:t>
            </a:r>
          </a:p>
        </p:txBody>
      </p:sp>
      <p:sp>
        <p:nvSpPr>
          <p:cNvPr id="30" name="Rectangle 29">
            <a:extLst>
              <a:ext uri="{FF2B5EF4-FFF2-40B4-BE49-F238E27FC236}">
                <a16:creationId xmlns:a16="http://schemas.microsoft.com/office/drawing/2014/main" id="{A13DE6FC-C1D4-4C5A-A855-1F59797410E6}"/>
              </a:ext>
            </a:extLst>
          </p:cNvPr>
          <p:cNvSpPr>
            <a:spLocks noGrp="1"/>
          </p:cNvSpPr>
          <p:nvPr/>
        </p:nvSpPr>
        <p:spPr>
          <a:xfrm>
            <a:off x="4381500" y="2533650"/>
            <a:ext cx="1333500" cy="20955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Engineering</a:t>
            </a:r>
          </a:p>
        </p:txBody>
      </p:sp>
      <p:sp>
        <p:nvSpPr>
          <p:cNvPr id="31" name="Arrow: Right 30">
            <a:extLst>
              <a:ext uri="{FF2B5EF4-FFF2-40B4-BE49-F238E27FC236}">
                <a16:creationId xmlns:a16="http://schemas.microsoft.com/office/drawing/2014/main" id="{D0AF2730-8086-40C1-9EEE-364D02C836E3}"/>
              </a:ext>
            </a:extLst>
          </p:cNvPr>
          <p:cNvSpPr>
            <a:spLocks noGrp="1"/>
          </p:cNvSpPr>
          <p:nvPr/>
        </p:nvSpPr>
        <p:spPr>
          <a:xfrm>
            <a:off x="5848350" y="2266950"/>
            <a:ext cx="190500" cy="247650"/>
          </a:xfrm>
          <a:prstGeom prst="rightArrow">
            <a:avLst/>
          </a:prstGeom>
          <a:solidFill>
            <a:srgbClr val="A5AFC0"/>
          </a:solidFill>
          <a:ln w="0">
            <a:noFill/>
          </a:ln>
        </p:spPr>
        <p:txBody>
          <a:bodyPr/>
          <a:lstStyle/>
          <a:p>
            <a:endParaRPr lang="en-US"/>
          </a:p>
        </p:txBody>
      </p:sp>
      <p:sp>
        <p:nvSpPr>
          <p:cNvPr id="32" name="Rectangle: Rounded Corners 31">
            <a:extLst>
              <a:ext uri="{FF2B5EF4-FFF2-40B4-BE49-F238E27FC236}">
                <a16:creationId xmlns:a16="http://schemas.microsoft.com/office/drawing/2014/main" id="{4D3DE2AA-25F0-421A-8DB4-EF971E5FCDF4}"/>
              </a:ext>
            </a:extLst>
          </p:cNvPr>
          <p:cNvSpPr>
            <a:spLocks noGrp="1"/>
          </p:cNvSpPr>
          <p:nvPr/>
        </p:nvSpPr>
        <p:spPr>
          <a:xfrm>
            <a:off x="6086475" y="1676400"/>
            <a:ext cx="1524000" cy="1447800"/>
          </a:xfrm>
          <a:prstGeom prst="roundRect">
            <a:avLst>
              <a:gd name="adj" fmla="val 11842"/>
            </a:avLst>
          </a:prstGeom>
          <a:solidFill>
            <a:srgbClr val="FFFFFF"/>
          </a:solidFill>
          <a:ln w="9525">
            <a:solidFill>
              <a:srgbClr val="D8DEE9"/>
            </a:solidFill>
            <a:prstDash val="solid"/>
          </a:ln>
        </p:spPr>
        <p:txBody>
          <a:bodyPr/>
          <a:lstStyle/>
          <a:p>
            <a:endParaRPr lang="en-US"/>
          </a:p>
        </p:txBody>
      </p:sp>
      <p:sp>
        <p:nvSpPr>
          <p:cNvPr id="33" name="Rectangle: Rounded Corners 32">
            <a:extLst>
              <a:ext uri="{FF2B5EF4-FFF2-40B4-BE49-F238E27FC236}">
                <a16:creationId xmlns:a16="http://schemas.microsoft.com/office/drawing/2014/main" id="{27134501-4E4C-4C32-80F0-E66F0319E9D9}"/>
              </a:ext>
            </a:extLst>
          </p:cNvPr>
          <p:cNvSpPr>
            <a:spLocks noGrp="1"/>
          </p:cNvSpPr>
          <p:nvPr/>
        </p:nvSpPr>
        <p:spPr>
          <a:xfrm>
            <a:off x="6086475" y="1676400"/>
            <a:ext cx="1524000" cy="95250"/>
          </a:xfrm>
          <a:prstGeom prst="roundRect">
            <a:avLst>
              <a:gd name="adj" fmla="val 50000"/>
            </a:avLst>
          </a:prstGeom>
          <a:solidFill>
            <a:srgbClr val="19C3D2"/>
          </a:solidFill>
          <a:ln w="0">
            <a:noFill/>
            <a:prstDash val="solid"/>
          </a:ln>
        </p:spPr>
        <p:txBody>
          <a:bodyPr/>
          <a:lstStyle/>
          <a:p>
            <a:endParaRPr lang="en-US"/>
          </a:p>
        </p:txBody>
      </p:sp>
      <p:sp>
        <p:nvSpPr>
          <p:cNvPr id="34" name="Rectangle 33">
            <a:extLst>
              <a:ext uri="{FF2B5EF4-FFF2-40B4-BE49-F238E27FC236}">
                <a16:creationId xmlns:a16="http://schemas.microsoft.com/office/drawing/2014/main" id="{9AD8D66C-CBC5-4DB4-9F9B-5ECF1B71F148}"/>
              </a:ext>
            </a:extLst>
          </p:cNvPr>
          <p:cNvSpPr>
            <a:spLocks noGrp="1"/>
          </p:cNvSpPr>
          <p:nvPr/>
        </p:nvSpPr>
        <p:spPr>
          <a:xfrm>
            <a:off x="6181725" y="2057400"/>
            <a:ext cx="1333500" cy="228600"/>
          </a:xfrm>
          <a:prstGeom prst="rect">
            <a:avLst/>
          </a:prstGeom>
          <a:noFill/>
          <a:ln w="0">
            <a:noFill/>
          </a:ln>
        </p:spPr>
        <p:txBody>
          <a:bodyPr wrap="square" lIns="0" tIns="0" rIns="0" bIns="0" anchor="t">
            <a:normAutofit/>
          </a:bodyPr>
          <a:lstStyle/>
          <a:p>
            <a:pPr algn="ctr">
              <a:defRPr sz="1125" b="1" i="0">
                <a:solidFill>
                  <a:srgbClr val="19C3D2"/>
                </a:solidFill>
                <a:latin typeface="DejaVu Sans"/>
                <a:ea typeface="DejaVu Sans"/>
                <a:cs typeface="DejaVu Sans"/>
              </a:defRPr>
            </a:pPr>
            <a:r>
              <a:rPr sz="1125" b="1" i="0">
                <a:solidFill>
                  <a:srgbClr val="19C3D2"/>
                </a:solidFill>
                <a:latin typeface="DejaVu Sans"/>
                <a:ea typeface="DejaVu Sans"/>
                <a:cs typeface="DejaVu Sans"/>
              </a:rPr>
              <a:t>TEST</a:t>
            </a:r>
          </a:p>
        </p:txBody>
      </p:sp>
      <p:sp>
        <p:nvSpPr>
          <p:cNvPr id="35" name="Rectangle 34">
            <a:extLst>
              <a:ext uri="{FF2B5EF4-FFF2-40B4-BE49-F238E27FC236}">
                <a16:creationId xmlns:a16="http://schemas.microsoft.com/office/drawing/2014/main" id="{C2BE9337-F320-47C7-BA87-9A1F1F4278EF}"/>
              </a:ext>
            </a:extLst>
          </p:cNvPr>
          <p:cNvSpPr>
            <a:spLocks noGrp="1"/>
          </p:cNvSpPr>
          <p:nvPr/>
        </p:nvSpPr>
        <p:spPr>
          <a:xfrm>
            <a:off x="6181725" y="2533650"/>
            <a:ext cx="1333500" cy="20955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QA</a:t>
            </a:r>
          </a:p>
        </p:txBody>
      </p:sp>
      <p:sp>
        <p:nvSpPr>
          <p:cNvPr id="36" name="Arrow: Right 35">
            <a:extLst>
              <a:ext uri="{FF2B5EF4-FFF2-40B4-BE49-F238E27FC236}">
                <a16:creationId xmlns:a16="http://schemas.microsoft.com/office/drawing/2014/main" id="{11CB7BCC-A183-47C6-893D-0F5FF15AC043}"/>
              </a:ext>
            </a:extLst>
          </p:cNvPr>
          <p:cNvSpPr>
            <a:spLocks noGrp="1"/>
          </p:cNvSpPr>
          <p:nvPr/>
        </p:nvSpPr>
        <p:spPr>
          <a:xfrm>
            <a:off x="7648575" y="2266950"/>
            <a:ext cx="190500" cy="247650"/>
          </a:xfrm>
          <a:prstGeom prst="rightArrow">
            <a:avLst/>
          </a:prstGeom>
          <a:solidFill>
            <a:srgbClr val="A5AFC0"/>
          </a:solidFill>
          <a:ln w="0">
            <a:noFill/>
          </a:ln>
        </p:spPr>
        <p:txBody>
          <a:bodyPr/>
          <a:lstStyle/>
          <a:p>
            <a:endParaRPr lang="en-US"/>
          </a:p>
        </p:txBody>
      </p:sp>
      <p:sp>
        <p:nvSpPr>
          <p:cNvPr id="37" name="Rectangle: Rounded Corners 36">
            <a:extLst>
              <a:ext uri="{FF2B5EF4-FFF2-40B4-BE49-F238E27FC236}">
                <a16:creationId xmlns:a16="http://schemas.microsoft.com/office/drawing/2014/main" id="{0EB38AA0-31FB-41B2-9435-67447C3B614B}"/>
              </a:ext>
            </a:extLst>
          </p:cNvPr>
          <p:cNvSpPr>
            <a:spLocks noGrp="1"/>
          </p:cNvSpPr>
          <p:nvPr/>
        </p:nvSpPr>
        <p:spPr>
          <a:xfrm>
            <a:off x="7886700" y="1676400"/>
            <a:ext cx="1524000" cy="1447800"/>
          </a:xfrm>
          <a:prstGeom prst="roundRect">
            <a:avLst>
              <a:gd name="adj" fmla="val 11842"/>
            </a:avLst>
          </a:prstGeom>
          <a:solidFill>
            <a:srgbClr val="FFFFFF"/>
          </a:solidFill>
          <a:ln w="9525">
            <a:solidFill>
              <a:srgbClr val="D8DEE9"/>
            </a:solidFill>
            <a:prstDash val="solid"/>
          </a:ln>
        </p:spPr>
        <p:txBody>
          <a:bodyPr/>
          <a:lstStyle/>
          <a:p>
            <a:endParaRPr lang="en-US"/>
          </a:p>
        </p:txBody>
      </p:sp>
      <p:sp>
        <p:nvSpPr>
          <p:cNvPr id="38" name="Rectangle: Rounded Corners 37">
            <a:extLst>
              <a:ext uri="{FF2B5EF4-FFF2-40B4-BE49-F238E27FC236}">
                <a16:creationId xmlns:a16="http://schemas.microsoft.com/office/drawing/2014/main" id="{3162C3BE-BD4D-435B-B11B-7AE7AAB8A23E}"/>
              </a:ext>
            </a:extLst>
          </p:cNvPr>
          <p:cNvSpPr>
            <a:spLocks noGrp="1"/>
          </p:cNvSpPr>
          <p:nvPr/>
        </p:nvSpPr>
        <p:spPr>
          <a:xfrm>
            <a:off x="7886700" y="1676400"/>
            <a:ext cx="1524000" cy="95250"/>
          </a:xfrm>
          <a:prstGeom prst="roundRect">
            <a:avLst>
              <a:gd name="adj" fmla="val 50000"/>
            </a:avLst>
          </a:prstGeom>
          <a:solidFill>
            <a:srgbClr val="3B82F6"/>
          </a:solidFill>
          <a:ln w="0">
            <a:noFill/>
            <a:prstDash val="solid"/>
          </a:ln>
        </p:spPr>
        <p:txBody>
          <a:bodyPr/>
          <a:lstStyle/>
          <a:p>
            <a:endParaRPr lang="en-US"/>
          </a:p>
        </p:txBody>
      </p:sp>
      <p:sp>
        <p:nvSpPr>
          <p:cNvPr id="39" name="Rectangle 38">
            <a:extLst>
              <a:ext uri="{FF2B5EF4-FFF2-40B4-BE49-F238E27FC236}">
                <a16:creationId xmlns:a16="http://schemas.microsoft.com/office/drawing/2014/main" id="{0DA24948-DF1B-4C71-B70E-6E79BA70C332}"/>
              </a:ext>
            </a:extLst>
          </p:cNvPr>
          <p:cNvSpPr>
            <a:spLocks noGrp="1"/>
          </p:cNvSpPr>
          <p:nvPr/>
        </p:nvSpPr>
        <p:spPr>
          <a:xfrm>
            <a:off x="7981950" y="2057400"/>
            <a:ext cx="1333500" cy="228600"/>
          </a:xfrm>
          <a:prstGeom prst="rect">
            <a:avLst/>
          </a:prstGeom>
          <a:noFill/>
          <a:ln w="0">
            <a:noFill/>
          </a:ln>
        </p:spPr>
        <p:txBody>
          <a:bodyPr wrap="square" lIns="0" tIns="0" rIns="0" bIns="0" anchor="t">
            <a:normAutofit/>
          </a:bodyPr>
          <a:lstStyle/>
          <a:p>
            <a:pPr algn="ctr">
              <a:defRPr sz="1125" b="1" i="0">
                <a:solidFill>
                  <a:srgbClr val="3B82F6"/>
                </a:solidFill>
                <a:latin typeface="DejaVu Sans"/>
                <a:ea typeface="DejaVu Sans"/>
                <a:cs typeface="DejaVu Sans"/>
              </a:defRPr>
            </a:pPr>
            <a:r>
              <a:rPr sz="1125" b="1" i="0">
                <a:solidFill>
                  <a:srgbClr val="3B82F6"/>
                </a:solidFill>
                <a:latin typeface="DejaVu Sans"/>
                <a:ea typeface="DejaVu Sans"/>
                <a:cs typeface="DejaVu Sans"/>
              </a:rPr>
              <a:t>DEPLOY</a:t>
            </a:r>
          </a:p>
        </p:txBody>
      </p:sp>
      <p:sp>
        <p:nvSpPr>
          <p:cNvPr id="40" name="Rectangle 39">
            <a:extLst>
              <a:ext uri="{FF2B5EF4-FFF2-40B4-BE49-F238E27FC236}">
                <a16:creationId xmlns:a16="http://schemas.microsoft.com/office/drawing/2014/main" id="{93A1768C-74A0-462A-8BC0-69B2B8613D3B}"/>
              </a:ext>
            </a:extLst>
          </p:cNvPr>
          <p:cNvSpPr>
            <a:spLocks noGrp="1"/>
          </p:cNvSpPr>
          <p:nvPr/>
        </p:nvSpPr>
        <p:spPr>
          <a:xfrm>
            <a:off x="7981950" y="2533650"/>
            <a:ext cx="1333500" cy="20955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Release</a:t>
            </a:r>
          </a:p>
        </p:txBody>
      </p:sp>
      <p:sp>
        <p:nvSpPr>
          <p:cNvPr id="41" name="Arrow: Right 40">
            <a:extLst>
              <a:ext uri="{FF2B5EF4-FFF2-40B4-BE49-F238E27FC236}">
                <a16:creationId xmlns:a16="http://schemas.microsoft.com/office/drawing/2014/main" id="{35E5DC64-EB44-4E1E-9A55-D616B6348295}"/>
              </a:ext>
            </a:extLst>
          </p:cNvPr>
          <p:cNvSpPr>
            <a:spLocks noGrp="1"/>
          </p:cNvSpPr>
          <p:nvPr/>
        </p:nvSpPr>
        <p:spPr>
          <a:xfrm>
            <a:off x="9448800" y="2266950"/>
            <a:ext cx="190500" cy="247650"/>
          </a:xfrm>
          <a:prstGeom prst="rightArrow">
            <a:avLst/>
          </a:prstGeom>
          <a:solidFill>
            <a:srgbClr val="A5AFC0"/>
          </a:solidFill>
          <a:ln w="0">
            <a:noFill/>
          </a:ln>
        </p:spPr>
        <p:txBody>
          <a:bodyPr/>
          <a:lstStyle/>
          <a:p>
            <a:endParaRPr lang="en-US"/>
          </a:p>
        </p:txBody>
      </p:sp>
      <p:sp>
        <p:nvSpPr>
          <p:cNvPr id="42" name="Rectangle: Rounded Corners 41">
            <a:extLst>
              <a:ext uri="{FF2B5EF4-FFF2-40B4-BE49-F238E27FC236}">
                <a16:creationId xmlns:a16="http://schemas.microsoft.com/office/drawing/2014/main" id="{1C46ED2A-73B8-48ED-8B77-8A237F2698A8}"/>
              </a:ext>
            </a:extLst>
          </p:cNvPr>
          <p:cNvSpPr>
            <a:spLocks noGrp="1"/>
          </p:cNvSpPr>
          <p:nvPr/>
        </p:nvSpPr>
        <p:spPr>
          <a:xfrm>
            <a:off x="9686925" y="1676400"/>
            <a:ext cx="1524000" cy="1447800"/>
          </a:xfrm>
          <a:prstGeom prst="roundRect">
            <a:avLst>
              <a:gd name="adj" fmla="val 11842"/>
            </a:avLst>
          </a:prstGeom>
          <a:solidFill>
            <a:srgbClr val="FFFFFF"/>
          </a:solidFill>
          <a:ln w="9525">
            <a:solidFill>
              <a:srgbClr val="D8DEE9"/>
            </a:solidFill>
            <a:prstDash val="solid"/>
          </a:ln>
        </p:spPr>
        <p:txBody>
          <a:bodyPr/>
          <a:lstStyle/>
          <a:p>
            <a:endParaRPr lang="en-US"/>
          </a:p>
        </p:txBody>
      </p:sp>
      <p:sp>
        <p:nvSpPr>
          <p:cNvPr id="43" name="Rectangle: Rounded Corners 42">
            <a:extLst>
              <a:ext uri="{FF2B5EF4-FFF2-40B4-BE49-F238E27FC236}">
                <a16:creationId xmlns:a16="http://schemas.microsoft.com/office/drawing/2014/main" id="{A328379C-E2E3-4037-8C83-5C35FFC64AE6}"/>
              </a:ext>
            </a:extLst>
          </p:cNvPr>
          <p:cNvSpPr>
            <a:spLocks noGrp="1"/>
          </p:cNvSpPr>
          <p:nvPr/>
        </p:nvSpPr>
        <p:spPr>
          <a:xfrm>
            <a:off x="9686925" y="1676400"/>
            <a:ext cx="1524000" cy="95250"/>
          </a:xfrm>
          <a:prstGeom prst="roundRect">
            <a:avLst>
              <a:gd name="adj" fmla="val 50000"/>
            </a:avLst>
          </a:prstGeom>
          <a:solidFill>
            <a:srgbClr val="29A36A"/>
          </a:solidFill>
          <a:ln w="0">
            <a:noFill/>
            <a:prstDash val="solid"/>
          </a:ln>
        </p:spPr>
        <p:txBody>
          <a:bodyPr/>
          <a:lstStyle/>
          <a:p>
            <a:endParaRPr lang="en-US"/>
          </a:p>
        </p:txBody>
      </p:sp>
      <p:sp>
        <p:nvSpPr>
          <p:cNvPr id="44" name="Rectangle 43">
            <a:extLst>
              <a:ext uri="{FF2B5EF4-FFF2-40B4-BE49-F238E27FC236}">
                <a16:creationId xmlns:a16="http://schemas.microsoft.com/office/drawing/2014/main" id="{78BBD929-0413-4C37-88C6-58034C655999}"/>
              </a:ext>
            </a:extLst>
          </p:cNvPr>
          <p:cNvSpPr>
            <a:spLocks noGrp="1"/>
          </p:cNvSpPr>
          <p:nvPr/>
        </p:nvSpPr>
        <p:spPr>
          <a:xfrm>
            <a:off x="9782175" y="2057400"/>
            <a:ext cx="1333500" cy="228600"/>
          </a:xfrm>
          <a:prstGeom prst="rect">
            <a:avLst/>
          </a:prstGeom>
          <a:noFill/>
          <a:ln w="0">
            <a:noFill/>
          </a:ln>
        </p:spPr>
        <p:txBody>
          <a:bodyPr wrap="square" lIns="0" tIns="0" rIns="0" bIns="0" anchor="t">
            <a:normAutofit/>
          </a:bodyPr>
          <a:lstStyle/>
          <a:p>
            <a:pPr algn="ctr">
              <a:defRPr sz="1125" b="1" i="0">
                <a:solidFill>
                  <a:srgbClr val="29A36A"/>
                </a:solidFill>
                <a:latin typeface="DejaVu Sans"/>
                <a:ea typeface="DejaVu Sans"/>
                <a:cs typeface="DejaVu Sans"/>
              </a:defRPr>
            </a:pPr>
            <a:r>
              <a:rPr sz="1125" b="1" i="0">
                <a:solidFill>
                  <a:srgbClr val="29A36A"/>
                </a:solidFill>
                <a:latin typeface="DejaVu Sans"/>
                <a:ea typeface="DejaVu Sans"/>
                <a:cs typeface="DejaVu Sans"/>
              </a:rPr>
              <a:t>MAINTAIN</a:t>
            </a:r>
          </a:p>
        </p:txBody>
      </p:sp>
      <p:sp>
        <p:nvSpPr>
          <p:cNvPr id="45" name="Rectangle 44">
            <a:extLst>
              <a:ext uri="{FF2B5EF4-FFF2-40B4-BE49-F238E27FC236}">
                <a16:creationId xmlns:a16="http://schemas.microsoft.com/office/drawing/2014/main" id="{DC11A599-2770-4273-83AA-5444D85C5728}"/>
              </a:ext>
            </a:extLst>
          </p:cNvPr>
          <p:cNvSpPr>
            <a:spLocks noGrp="1"/>
          </p:cNvSpPr>
          <p:nvPr/>
        </p:nvSpPr>
        <p:spPr>
          <a:xfrm>
            <a:off x="9782175" y="2533650"/>
            <a:ext cx="1333500" cy="20955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Operations</a:t>
            </a:r>
          </a:p>
        </p:txBody>
      </p:sp>
      <p:sp>
        <p:nvSpPr>
          <p:cNvPr id="46" name="Rectangle: Rounded Corners 45">
            <a:extLst>
              <a:ext uri="{FF2B5EF4-FFF2-40B4-BE49-F238E27FC236}">
                <a16:creationId xmlns:a16="http://schemas.microsoft.com/office/drawing/2014/main" id="{28528789-F619-4383-B58C-BA766F88561B}"/>
              </a:ext>
            </a:extLst>
          </p:cNvPr>
          <p:cNvSpPr>
            <a:spLocks noGrp="1"/>
          </p:cNvSpPr>
          <p:nvPr/>
        </p:nvSpPr>
        <p:spPr>
          <a:xfrm>
            <a:off x="685800" y="3657600"/>
            <a:ext cx="5219700" cy="1123950"/>
          </a:xfrm>
          <a:prstGeom prst="roundRect">
            <a:avLst>
              <a:gd name="adj" fmla="val 15254"/>
            </a:avLst>
          </a:prstGeom>
          <a:solidFill>
            <a:srgbClr val="FFFFFF"/>
          </a:solidFill>
          <a:ln w="9525">
            <a:solidFill>
              <a:srgbClr val="D8DEE9"/>
            </a:solidFill>
            <a:prstDash val="solid"/>
          </a:ln>
        </p:spPr>
        <p:txBody>
          <a:bodyPr/>
          <a:lstStyle/>
          <a:p>
            <a:endParaRPr lang="en-US"/>
          </a:p>
        </p:txBody>
      </p:sp>
      <p:sp>
        <p:nvSpPr>
          <p:cNvPr id="47" name="Rectangle: Rounded Corners 46">
            <a:extLst>
              <a:ext uri="{FF2B5EF4-FFF2-40B4-BE49-F238E27FC236}">
                <a16:creationId xmlns:a16="http://schemas.microsoft.com/office/drawing/2014/main" id="{13C92491-FA94-4660-B205-FCBF24486495}"/>
              </a:ext>
            </a:extLst>
          </p:cNvPr>
          <p:cNvSpPr>
            <a:spLocks noGrp="1"/>
          </p:cNvSpPr>
          <p:nvPr/>
        </p:nvSpPr>
        <p:spPr>
          <a:xfrm>
            <a:off x="685800" y="3657600"/>
            <a:ext cx="95250" cy="1123950"/>
          </a:xfrm>
          <a:prstGeom prst="roundRect">
            <a:avLst>
              <a:gd name="adj" fmla="val 50000"/>
            </a:avLst>
          </a:prstGeom>
          <a:solidFill>
            <a:srgbClr val="FF8066"/>
          </a:solidFill>
          <a:ln w="0">
            <a:noFill/>
            <a:prstDash val="solid"/>
          </a:ln>
        </p:spPr>
        <p:txBody>
          <a:bodyPr/>
          <a:lstStyle/>
          <a:p>
            <a:endParaRPr lang="en-US"/>
          </a:p>
        </p:txBody>
      </p:sp>
      <p:sp>
        <p:nvSpPr>
          <p:cNvPr id="48" name="Rectangle 47">
            <a:extLst>
              <a:ext uri="{FF2B5EF4-FFF2-40B4-BE49-F238E27FC236}">
                <a16:creationId xmlns:a16="http://schemas.microsoft.com/office/drawing/2014/main" id="{AA41C756-59DB-44F6-9561-57216279C744}"/>
              </a:ext>
            </a:extLst>
          </p:cNvPr>
          <p:cNvSpPr>
            <a:spLocks noGrp="1"/>
          </p:cNvSpPr>
          <p:nvPr/>
        </p:nvSpPr>
        <p:spPr>
          <a:xfrm>
            <a:off x="933450" y="3867150"/>
            <a:ext cx="476250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Many handoffs</a:t>
            </a:r>
          </a:p>
        </p:txBody>
      </p:sp>
      <p:sp>
        <p:nvSpPr>
          <p:cNvPr id="49" name="Rectangle 48">
            <a:extLst>
              <a:ext uri="{FF2B5EF4-FFF2-40B4-BE49-F238E27FC236}">
                <a16:creationId xmlns:a16="http://schemas.microsoft.com/office/drawing/2014/main" id="{F2A55FD1-FF67-4614-8453-EC3071898F67}"/>
              </a:ext>
            </a:extLst>
          </p:cNvPr>
          <p:cNvSpPr>
            <a:spLocks noGrp="1"/>
          </p:cNvSpPr>
          <p:nvPr/>
        </p:nvSpPr>
        <p:spPr>
          <a:xfrm>
            <a:off x="933450" y="4305300"/>
            <a:ext cx="4762500" cy="285750"/>
          </a:xfrm>
          <a:prstGeom prst="rect">
            <a:avLst/>
          </a:prstGeom>
          <a:noFill/>
          <a:ln w="0">
            <a:noFill/>
          </a:ln>
        </p:spPr>
        <p:txBody>
          <a:bodyPr wrap="square" lIns="0" tIns="0" rIns="0" bIns="0" anchor="t">
            <a:normAutofit fontScale="94628"/>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Work moves through tickets, documents, meetings, and sign-offs.</a:t>
            </a:r>
          </a:p>
        </p:txBody>
      </p:sp>
      <p:sp>
        <p:nvSpPr>
          <p:cNvPr id="50" name="Rectangle: Rounded Corners 49">
            <a:extLst>
              <a:ext uri="{FF2B5EF4-FFF2-40B4-BE49-F238E27FC236}">
                <a16:creationId xmlns:a16="http://schemas.microsoft.com/office/drawing/2014/main" id="{CFCC5DCF-24F7-42E5-9BE7-8F24FECE095E}"/>
              </a:ext>
            </a:extLst>
          </p:cNvPr>
          <p:cNvSpPr>
            <a:spLocks noGrp="1"/>
          </p:cNvSpPr>
          <p:nvPr/>
        </p:nvSpPr>
        <p:spPr>
          <a:xfrm>
            <a:off x="6286500" y="3657600"/>
            <a:ext cx="5219700" cy="1123950"/>
          </a:xfrm>
          <a:prstGeom prst="roundRect">
            <a:avLst>
              <a:gd name="adj" fmla="val 15254"/>
            </a:avLst>
          </a:prstGeom>
          <a:solidFill>
            <a:srgbClr val="FFFFFF"/>
          </a:solidFill>
          <a:ln w="9525">
            <a:solidFill>
              <a:srgbClr val="D8DEE9"/>
            </a:solidFill>
            <a:prstDash val="solid"/>
          </a:ln>
        </p:spPr>
        <p:txBody>
          <a:bodyPr/>
          <a:lstStyle/>
          <a:p>
            <a:endParaRPr lang="en-US"/>
          </a:p>
        </p:txBody>
      </p:sp>
      <p:sp>
        <p:nvSpPr>
          <p:cNvPr id="51" name="Rectangle: Rounded Corners 50">
            <a:extLst>
              <a:ext uri="{FF2B5EF4-FFF2-40B4-BE49-F238E27FC236}">
                <a16:creationId xmlns:a16="http://schemas.microsoft.com/office/drawing/2014/main" id="{4D0F17BC-D281-40F2-925F-8A51EE842DFF}"/>
              </a:ext>
            </a:extLst>
          </p:cNvPr>
          <p:cNvSpPr>
            <a:spLocks noGrp="1"/>
          </p:cNvSpPr>
          <p:nvPr/>
        </p:nvSpPr>
        <p:spPr>
          <a:xfrm>
            <a:off x="6286500" y="3657600"/>
            <a:ext cx="95250" cy="1123950"/>
          </a:xfrm>
          <a:prstGeom prst="roundRect">
            <a:avLst>
              <a:gd name="adj" fmla="val 50000"/>
            </a:avLst>
          </a:prstGeom>
          <a:solidFill>
            <a:srgbClr val="7457E8"/>
          </a:solidFill>
          <a:ln w="0">
            <a:noFill/>
            <a:prstDash val="solid"/>
          </a:ln>
        </p:spPr>
        <p:txBody>
          <a:bodyPr/>
          <a:lstStyle/>
          <a:p>
            <a:endParaRPr lang="en-US"/>
          </a:p>
        </p:txBody>
      </p:sp>
      <p:sp>
        <p:nvSpPr>
          <p:cNvPr id="52" name="Rectangle 51">
            <a:extLst>
              <a:ext uri="{FF2B5EF4-FFF2-40B4-BE49-F238E27FC236}">
                <a16:creationId xmlns:a16="http://schemas.microsoft.com/office/drawing/2014/main" id="{8C9103E6-432B-467A-9A2C-38AEB779A6D0}"/>
              </a:ext>
            </a:extLst>
          </p:cNvPr>
          <p:cNvSpPr>
            <a:spLocks noGrp="1"/>
          </p:cNvSpPr>
          <p:nvPr/>
        </p:nvSpPr>
        <p:spPr>
          <a:xfrm>
            <a:off x="6534150" y="3867150"/>
            <a:ext cx="476250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Human-speed controls</a:t>
            </a:r>
          </a:p>
        </p:txBody>
      </p:sp>
      <p:sp>
        <p:nvSpPr>
          <p:cNvPr id="53" name="Rectangle 52">
            <a:extLst>
              <a:ext uri="{FF2B5EF4-FFF2-40B4-BE49-F238E27FC236}">
                <a16:creationId xmlns:a16="http://schemas.microsoft.com/office/drawing/2014/main" id="{2DD62063-A2AB-4CFF-B71B-493184F59B31}"/>
              </a:ext>
            </a:extLst>
          </p:cNvPr>
          <p:cNvSpPr>
            <a:spLocks noGrp="1"/>
          </p:cNvSpPr>
          <p:nvPr/>
        </p:nvSpPr>
        <p:spPr>
          <a:xfrm>
            <a:off x="6534150" y="4305300"/>
            <a:ext cx="4762500" cy="28575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People review each step because people created each step.</a:t>
            </a:r>
          </a:p>
        </p:txBody>
      </p:sp>
    </p:spTree>
    <p:extLst>
      <p:ext uri="{BB962C8B-B14F-4D97-AF65-F5344CB8AC3E}">
        <p14:creationId xmlns:p14="http://schemas.microsoft.com/office/powerpoint/2010/main" val="1592722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F4B5493-E5B4-4A41-B304-593F04BC1222}"/>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WHEN BUILD BECOMES VERY FAST</a:t>
            </a:r>
          </a:p>
        </p:txBody>
      </p:sp>
      <p:sp>
        <p:nvSpPr>
          <p:cNvPr id="2" name="Rectangle 1">
            <a:extLst>
              <a:ext uri="{FF2B5EF4-FFF2-40B4-BE49-F238E27FC236}">
                <a16:creationId xmlns:a16="http://schemas.microsoft.com/office/drawing/2014/main" id="{127D8332-FBA5-4ADD-8A95-BE90323E9DAA}"/>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The bottleneck moves</a:t>
            </a:r>
          </a:p>
        </p:txBody>
      </p:sp>
      <p:sp>
        <p:nvSpPr>
          <p:cNvPr id="3" name="Rectangle 2">
            <a:extLst>
              <a:ext uri="{FF2B5EF4-FFF2-40B4-BE49-F238E27FC236}">
                <a16:creationId xmlns:a16="http://schemas.microsoft.com/office/drawing/2014/main" id="{4C566BD7-8587-4281-ADE0-AB0DDB144065}"/>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CB047ECD-31F2-42DE-98FB-970151F35432}"/>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05</a:t>
            </a:r>
          </a:p>
        </p:txBody>
      </p:sp>
      <p:sp>
        <p:nvSpPr>
          <p:cNvPr id="5" name="Rectangle 4">
            <a:extLst>
              <a:ext uri="{FF2B5EF4-FFF2-40B4-BE49-F238E27FC236}">
                <a16:creationId xmlns:a16="http://schemas.microsoft.com/office/drawing/2014/main" id="{E77364B9-59FD-405D-9210-D726C27136E7}"/>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3D30C8EF-F9CA-451C-BC64-58F93A6B7B0A}"/>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203BA368-69E9-420C-BA69-E26BBD76646B}"/>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C8B72768-AEDF-4EB3-AB6D-28A15BCF5E0B}"/>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58EAE093-7861-4755-8D14-3ED986E25AB7}"/>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D3F4898-EC29-4D27-BE27-9F12CDA403F2}"/>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D246B513-F0D4-4C4C-BC7D-808AB828D624}"/>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CBE1A4B4-BDE6-4FE6-8A94-1B9B170B6549}"/>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7739EDED-F74E-4D01-BCE4-6374E8725278}"/>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72703C67-1B8A-4928-BE41-79143F007962}"/>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7D2C651F-FC5B-4193-B1E3-40AC06581CF4}"/>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6BB31D63-18DD-4F55-B51A-FAF944E97704}"/>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sp>
        <p:nvSpPr>
          <p:cNvPr id="17" name="Rectangle 16">
            <a:extLst>
              <a:ext uri="{FF2B5EF4-FFF2-40B4-BE49-F238E27FC236}">
                <a16:creationId xmlns:a16="http://schemas.microsoft.com/office/drawing/2014/main" id="{71B9DEEB-A9FC-4EE0-8F05-E4B1D7C0CDAD}"/>
              </a:ext>
            </a:extLst>
          </p:cNvPr>
          <p:cNvSpPr>
            <a:spLocks noGrp="1"/>
          </p:cNvSpPr>
          <p:nvPr/>
        </p:nvSpPr>
        <p:spPr>
          <a:xfrm>
            <a:off x="685800" y="1428750"/>
            <a:ext cx="1428750" cy="209550"/>
          </a:xfrm>
          <a:prstGeom prst="rect">
            <a:avLst/>
          </a:prstGeom>
          <a:noFill/>
          <a:ln w="0">
            <a:noFill/>
          </a:ln>
        </p:spPr>
        <p:txBody>
          <a:bodyPr wrap="square" lIns="0" tIns="0" rIns="0" bIns="0" anchor="t">
            <a:normAutofit/>
          </a:bodyPr>
          <a:lstStyle/>
          <a:p>
            <a:pPr algn="l">
              <a:defRPr sz="900" b="1" i="0">
                <a:solidFill>
                  <a:srgbClr val="64748B"/>
                </a:solidFill>
                <a:latin typeface="DejaVu Sans"/>
                <a:ea typeface="DejaVu Sans"/>
                <a:cs typeface="DejaVu Sans"/>
              </a:defRPr>
            </a:pPr>
            <a:r>
              <a:rPr sz="900" b="1" i="0">
                <a:solidFill>
                  <a:srgbClr val="64748B"/>
                </a:solidFill>
                <a:latin typeface="DejaVu Sans"/>
                <a:ea typeface="DejaVu Sans"/>
                <a:cs typeface="DejaVu Sans"/>
              </a:rPr>
              <a:t>BEFORE AI</a:t>
            </a:r>
          </a:p>
        </p:txBody>
      </p:sp>
      <p:sp>
        <p:nvSpPr>
          <p:cNvPr id="18" name="Rectangle: Rounded Corners 17">
            <a:extLst>
              <a:ext uri="{FF2B5EF4-FFF2-40B4-BE49-F238E27FC236}">
                <a16:creationId xmlns:a16="http://schemas.microsoft.com/office/drawing/2014/main" id="{D36AFC7C-0271-45D6-BFCF-A57ADF872C72}"/>
              </a:ext>
            </a:extLst>
          </p:cNvPr>
          <p:cNvSpPr>
            <a:spLocks noGrp="1"/>
          </p:cNvSpPr>
          <p:nvPr/>
        </p:nvSpPr>
        <p:spPr>
          <a:xfrm>
            <a:off x="685800" y="1790700"/>
            <a:ext cx="1714500" cy="609600"/>
          </a:xfrm>
          <a:prstGeom prst="roundRect">
            <a:avLst>
              <a:gd name="adj" fmla="val 18750"/>
            </a:avLst>
          </a:prstGeom>
          <a:solidFill>
            <a:srgbClr val="FF806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EBE40E01-52E5-454F-A8A0-B389CCA51CEF}"/>
              </a:ext>
            </a:extLst>
          </p:cNvPr>
          <p:cNvSpPr>
            <a:spLocks noGrp="1"/>
          </p:cNvSpPr>
          <p:nvPr/>
        </p:nvSpPr>
        <p:spPr>
          <a:xfrm>
            <a:off x="685800" y="2009775"/>
            <a:ext cx="1714500" cy="190500"/>
          </a:xfrm>
          <a:prstGeom prst="rect">
            <a:avLst/>
          </a:prstGeom>
          <a:noFill/>
          <a:ln w="0">
            <a:noFill/>
          </a:ln>
        </p:spPr>
        <p:txBody>
          <a:bodyPr wrap="square" lIns="0" tIns="0" rIns="0" bIns="0" anchor="t">
            <a:normAutofit/>
          </a:bodyPr>
          <a:lstStyle/>
          <a:p>
            <a:pPr algn="ctr">
              <a:defRPr sz="975" b="1" i="0">
                <a:solidFill>
                  <a:srgbClr val="FFFFFF"/>
                </a:solidFill>
                <a:latin typeface="DejaVu Sans"/>
                <a:ea typeface="DejaVu Sans"/>
                <a:cs typeface="DejaVu Sans"/>
              </a:defRPr>
            </a:pPr>
            <a:r>
              <a:rPr sz="975" b="1" i="0">
                <a:solidFill>
                  <a:srgbClr val="FFFFFF"/>
                </a:solidFill>
                <a:latin typeface="DejaVu Sans"/>
                <a:ea typeface="DejaVu Sans"/>
                <a:cs typeface="DejaVu Sans"/>
              </a:rPr>
              <a:t>PLAN</a:t>
            </a:r>
          </a:p>
        </p:txBody>
      </p:sp>
      <p:sp>
        <p:nvSpPr>
          <p:cNvPr id="20" name="Rectangle: Rounded Corners 19">
            <a:extLst>
              <a:ext uri="{FF2B5EF4-FFF2-40B4-BE49-F238E27FC236}">
                <a16:creationId xmlns:a16="http://schemas.microsoft.com/office/drawing/2014/main" id="{5787F369-E57C-42AE-8B7B-E6B8E6217561}"/>
              </a:ext>
            </a:extLst>
          </p:cNvPr>
          <p:cNvSpPr>
            <a:spLocks noGrp="1"/>
          </p:cNvSpPr>
          <p:nvPr/>
        </p:nvSpPr>
        <p:spPr>
          <a:xfrm>
            <a:off x="2476500" y="1790700"/>
            <a:ext cx="1619250" cy="609600"/>
          </a:xfrm>
          <a:prstGeom prst="roundRect">
            <a:avLst>
              <a:gd name="adj" fmla="val 18750"/>
            </a:avLst>
          </a:prstGeom>
          <a:solidFill>
            <a:srgbClr val="F2A93B"/>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AD6ACD91-F841-4D82-8576-5D338D9AC4EB}"/>
              </a:ext>
            </a:extLst>
          </p:cNvPr>
          <p:cNvSpPr>
            <a:spLocks noGrp="1"/>
          </p:cNvSpPr>
          <p:nvPr/>
        </p:nvSpPr>
        <p:spPr>
          <a:xfrm>
            <a:off x="2476500" y="2009775"/>
            <a:ext cx="1619250" cy="190500"/>
          </a:xfrm>
          <a:prstGeom prst="rect">
            <a:avLst/>
          </a:prstGeom>
          <a:noFill/>
          <a:ln w="0">
            <a:noFill/>
          </a:ln>
        </p:spPr>
        <p:txBody>
          <a:bodyPr wrap="square" lIns="0" tIns="0" rIns="0" bIns="0" anchor="t">
            <a:normAutofit/>
          </a:bodyPr>
          <a:lstStyle/>
          <a:p>
            <a:pPr algn="ctr">
              <a:defRPr sz="975" b="1" i="0">
                <a:solidFill>
                  <a:srgbClr val="FFFFFF"/>
                </a:solidFill>
                <a:latin typeface="DejaVu Sans"/>
                <a:ea typeface="DejaVu Sans"/>
                <a:cs typeface="DejaVu Sans"/>
              </a:defRPr>
            </a:pPr>
            <a:r>
              <a:rPr sz="975" b="1" i="0">
                <a:solidFill>
                  <a:srgbClr val="FFFFFF"/>
                </a:solidFill>
                <a:latin typeface="DejaVu Sans"/>
                <a:ea typeface="DejaVu Sans"/>
                <a:cs typeface="DejaVu Sans"/>
              </a:rPr>
              <a:t>DESIGN</a:t>
            </a:r>
          </a:p>
        </p:txBody>
      </p:sp>
      <p:sp>
        <p:nvSpPr>
          <p:cNvPr id="22" name="Rectangle: Rounded Corners 21">
            <a:extLst>
              <a:ext uri="{FF2B5EF4-FFF2-40B4-BE49-F238E27FC236}">
                <a16:creationId xmlns:a16="http://schemas.microsoft.com/office/drawing/2014/main" id="{3AEAFC54-DF70-47CF-9C84-7FF28CBDD09A}"/>
              </a:ext>
            </a:extLst>
          </p:cNvPr>
          <p:cNvSpPr>
            <a:spLocks noGrp="1"/>
          </p:cNvSpPr>
          <p:nvPr/>
        </p:nvSpPr>
        <p:spPr>
          <a:xfrm>
            <a:off x="4171950" y="1790700"/>
            <a:ext cx="4000500" cy="609600"/>
          </a:xfrm>
          <a:prstGeom prst="roundRect">
            <a:avLst>
              <a:gd name="adj" fmla="val 18750"/>
            </a:avLst>
          </a:prstGeom>
          <a:solidFill>
            <a:srgbClr val="7457E8"/>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4EA5588F-AE8C-4B4E-86CA-75F98D7B14FA}"/>
              </a:ext>
            </a:extLst>
          </p:cNvPr>
          <p:cNvSpPr>
            <a:spLocks noGrp="1"/>
          </p:cNvSpPr>
          <p:nvPr/>
        </p:nvSpPr>
        <p:spPr>
          <a:xfrm>
            <a:off x="4171950" y="2009775"/>
            <a:ext cx="4000500" cy="190500"/>
          </a:xfrm>
          <a:prstGeom prst="rect">
            <a:avLst/>
          </a:prstGeom>
          <a:noFill/>
          <a:ln w="0">
            <a:noFill/>
          </a:ln>
        </p:spPr>
        <p:txBody>
          <a:bodyPr wrap="square" lIns="0" tIns="0" rIns="0" bIns="0" anchor="t">
            <a:normAutofit/>
          </a:bodyPr>
          <a:lstStyle/>
          <a:p>
            <a:pPr algn="ctr">
              <a:defRPr sz="975" b="1" i="0">
                <a:solidFill>
                  <a:srgbClr val="FFFFFF"/>
                </a:solidFill>
                <a:latin typeface="DejaVu Sans"/>
                <a:ea typeface="DejaVu Sans"/>
                <a:cs typeface="DejaVu Sans"/>
              </a:defRPr>
            </a:pPr>
            <a:r>
              <a:rPr sz="975" b="1" i="0">
                <a:solidFill>
                  <a:srgbClr val="FFFFFF"/>
                </a:solidFill>
                <a:latin typeface="DejaVu Sans"/>
                <a:ea typeface="DejaVu Sans"/>
                <a:cs typeface="DejaVu Sans"/>
              </a:rPr>
              <a:t>BUILD</a:t>
            </a:r>
          </a:p>
        </p:txBody>
      </p:sp>
      <p:sp>
        <p:nvSpPr>
          <p:cNvPr id="24" name="Rectangle: Rounded Corners 23">
            <a:extLst>
              <a:ext uri="{FF2B5EF4-FFF2-40B4-BE49-F238E27FC236}">
                <a16:creationId xmlns:a16="http://schemas.microsoft.com/office/drawing/2014/main" id="{CBE84547-C612-45F1-A8F4-2C0901536EE7}"/>
              </a:ext>
            </a:extLst>
          </p:cNvPr>
          <p:cNvSpPr>
            <a:spLocks noGrp="1"/>
          </p:cNvSpPr>
          <p:nvPr/>
        </p:nvSpPr>
        <p:spPr>
          <a:xfrm>
            <a:off x="8248650" y="1790700"/>
            <a:ext cx="1428750" cy="609600"/>
          </a:xfrm>
          <a:prstGeom prst="roundRect">
            <a:avLst>
              <a:gd name="adj" fmla="val 18750"/>
            </a:avLst>
          </a:prstGeom>
          <a:solidFill>
            <a:srgbClr val="19C3D2"/>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0B602102-476F-4A82-A656-C23902DE1477}"/>
              </a:ext>
            </a:extLst>
          </p:cNvPr>
          <p:cNvSpPr>
            <a:spLocks noGrp="1"/>
          </p:cNvSpPr>
          <p:nvPr/>
        </p:nvSpPr>
        <p:spPr>
          <a:xfrm>
            <a:off x="8248650" y="2009775"/>
            <a:ext cx="1428750" cy="190500"/>
          </a:xfrm>
          <a:prstGeom prst="rect">
            <a:avLst/>
          </a:prstGeom>
          <a:noFill/>
          <a:ln w="0">
            <a:noFill/>
          </a:ln>
        </p:spPr>
        <p:txBody>
          <a:bodyPr wrap="square" lIns="0" tIns="0" rIns="0" bIns="0" anchor="t">
            <a:normAutofit/>
          </a:bodyPr>
          <a:lstStyle/>
          <a:p>
            <a:pPr algn="ctr">
              <a:defRPr sz="975" b="1" i="0">
                <a:solidFill>
                  <a:srgbClr val="FFFFFF"/>
                </a:solidFill>
                <a:latin typeface="DejaVu Sans"/>
                <a:ea typeface="DejaVu Sans"/>
                <a:cs typeface="DejaVu Sans"/>
              </a:defRPr>
            </a:pPr>
            <a:r>
              <a:rPr sz="975" b="1" i="0">
                <a:solidFill>
                  <a:srgbClr val="FFFFFF"/>
                </a:solidFill>
                <a:latin typeface="DejaVu Sans"/>
                <a:ea typeface="DejaVu Sans"/>
                <a:cs typeface="DejaVu Sans"/>
              </a:rPr>
              <a:t>TEST</a:t>
            </a:r>
          </a:p>
        </p:txBody>
      </p:sp>
      <p:sp>
        <p:nvSpPr>
          <p:cNvPr id="26" name="Rectangle: Rounded Corners 25">
            <a:extLst>
              <a:ext uri="{FF2B5EF4-FFF2-40B4-BE49-F238E27FC236}">
                <a16:creationId xmlns:a16="http://schemas.microsoft.com/office/drawing/2014/main" id="{544F97AD-2F1D-4202-A11E-F294E73A52EA}"/>
              </a:ext>
            </a:extLst>
          </p:cNvPr>
          <p:cNvSpPr>
            <a:spLocks noGrp="1"/>
          </p:cNvSpPr>
          <p:nvPr/>
        </p:nvSpPr>
        <p:spPr>
          <a:xfrm>
            <a:off x="9753600" y="1790700"/>
            <a:ext cx="1524000" cy="609600"/>
          </a:xfrm>
          <a:prstGeom prst="roundRect">
            <a:avLst>
              <a:gd name="adj" fmla="val 18750"/>
            </a:avLst>
          </a:prstGeom>
          <a:solidFill>
            <a:srgbClr val="3B82F6"/>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989AD4B6-5C58-4721-B2F5-F01A3C263E05}"/>
              </a:ext>
            </a:extLst>
          </p:cNvPr>
          <p:cNvSpPr>
            <a:spLocks noGrp="1"/>
          </p:cNvSpPr>
          <p:nvPr/>
        </p:nvSpPr>
        <p:spPr>
          <a:xfrm>
            <a:off x="9753600" y="2009775"/>
            <a:ext cx="1524000" cy="190500"/>
          </a:xfrm>
          <a:prstGeom prst="rect">
            <a:avLst/>
          </a:prstGeom>
          <a:noFill/>
          <a:ln w="0">
            <a:noFill/>
          </a:ln>
        </p:spPr>
        <p:txBody>
          <a:bodyPr wrap="square" lIns="0" tIns="0" rIns="0" bIns="0" anchor="t">
            <a:normAutofit/>
          </a:bodyPr>
          <a:lstStyle/>
          <a:p>
            <a:pPr algn="ctr">
              <a:defRPr sz="975" b="1" i="0">
                <a:solidFill>
                  <a:srgbClr val="FFFFFF"/>
                </a:solidFill>
                <a:latin typeface="DejaVu Sans"/>
                <a:ea typeface="DejaVu Sans"/>
                <a:cs typeface="DejaVu Sans"/>
              </a:defRPr>
            </a:pPr>
            <a:r>
              <a:rPr sz="975" b="1" i="0">
                <a:solidFill>
                  <a:srgbClr val="FFFFFF"/>
                </a:solidFill>
                <a:latin typeface="DejaVu Sans"/>
                <a:ea typeface="DejaVu Sans"/>
                <a:cs typeface="DejaVu Sans"/>
              </a:rPr>
              <a:t>DEPLOY</a:t>
            </a:r>
          </a:p>
        </p:txBody>
      </p:sp>
      <p:sp>
        <p:nvSpPr>
          <p:cNvPr id="28" name="Rectangle 27">
            <a:extLst>
              <a:ext uri="{FF2B5EF4-FFF2-40B4-BE49-F238E27FC236}">
                <a16:creationId xmlns:a16="http://schemas.microsoft.com/office/drawing/2014/main" id="{F255ECC4-2E98-475E-B76F-CF6D6257F1CE}"/>
              </a:ext>
            </a:extLst>
          </p:cNvPr>
          <p:cNvSpPr>
            <a:spLocks noGrp="1"/>
          </p:cNvSpPr>
          <p:nvPr/>
        </p:nvSpPr>
        <p:spPr>
          <a:xfrm>
            <a:off x="685800" y="2857500"/>
            <a:ext cx="1428750" cy="209550"/>
          </a:xfrm>
          <a:prstGeom prst="rect">
            <a:avLst/>
          </a:prstGeom>
          <a:noFill/>
          <a:ln w="0">
            <a:noFill/>
          </a:ln>
        </p:spPr>
        <p:txBody>
          <a:bodyPr wrap="square" lIns="0" tIns="0" rIns="0" bIns="0" anchor="t">
            <a:normAutofit/>
          </a:bodyPr>
          <a:lstStyle/>
          <a:p>
            <a:pPr algn="l">
              <a:defRPr sz="900" b="1" i="0">
                <a:solidFill>
                  <a:srgbClr val="64748B"/>
                </a:solidFill>
                <a:latin typeface="DejaVu Sans"/>
                <a:ea typeface="DejaVu Sans"/>
                <a:cs typeface="DejaVu Sans"/>
              </a:defRPr>
            </a:pPr>
            <a:r>
              <a:rPr sz="900" b="1" i="0">
                <a:solidFill>
                  <a:srgbClr val="64748B"/>
                </a:solidFill>
                <a:latin typeface="DejaVu Sans"/>
                <a:ea typeface="DejaVu Sans"/>
                <a:cs typeface="DejaVu Sans"/>
              </a:rPr>
              <a:t>WITH AI</a:t>
            </a:r>
          </a:p>
        </p:txBody>
      </p:sp>
      <p:sp>
        <p:nvSpPr>
          <p:cNvPr id="29" name="Rectangle: Rounded Corners 28">
            <a:extLst>
              <a:ext uri="{FF2B5EF4-FFF2-40B4-BE49-F238E27FC236}">
                <a16:creationId xmlns:a16="http://schemas.microsoft.com/office/drawing/2014/main" id="{DCD717AA-265D-4CFE-90AB-E79BB3E2E1E5}"/>
              </a:ext>
            </a:extLst>
          </p:cNvPr>
          <p:cNvSpPr>
            <a:spLocks noGrp="1"/>
          </p:cNvSpPr>
          <p:nvPr/>
        </p:nvSpPr>
        <p:spPr>
          <a:xfrm>
            <a:off x="685800" y="3219450"/>
            <a:ext cx="2381250" cy="609600"/>
          </a:xfrm>
          <a:prstGeom prst="roundRect">
            <a:avLst>
              <a:gd name="adj" fmla="val 18750"/>
            </a:avLst>
          </a:prstGeom>
          <a:solidFill>
            <a:srgbClr val="FF8066"/>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B7785F2F-A103-4D07-AC73-20534A75EFB1}"/>
              </a:ext>
            </a:extLst>
          </p:cNvPr>
          <p:cNvSpPr>
            <a:spLocks noGrp="1"/>
          </p:cNvSpPr>
          <p:nvPr/>
        </p:nvSpPr>
        <p:spPr>
          <a:xfrm>
            <a:off x="685800" y="3438525"/>
            <a:ext cx="2381250" cy="190500"/>
          </a:xfrm>
          <a:prstGeom prst="rect">
            <a:avLst/>
          </a:prstGeom>
          <a:noFill/>
          <a:ln w="0">
            <a:noFill/>
          </a:ln>
        </p:spPr>
        <p:txBody>
          <a:bodyPr wrap="square" lIns="0" tIns="0" rIns="0" bIns="0" anchor="t">
            <a:normAutofit/>
          </a:bodyPr>
          <a:lstStyle/>
          <a:p>
            <a:pPr algn="ctr">
              <a:defRPr sz="975" b="1" i="0">
                <a:solidFill>
                  <a:srgbClr val="FFFFFF"/>
                </a:solidFill>
                <a:latin typeface="DejaVu Sans"/>
                <a:ea typeface="DejaVu Sans"/>
                <a:cs typeface="DejaVu Sans"/>
              </a:defRPr>
            </a:pPr>
            <a:r>
              <a:rPr sz="975" b="1" i="0">
                <a:solidFill>
                  <a:srgbClr val="FFFFFF"/>
                </a:solidFill>
                <a:latin typeface="DejaVu Sans"/>
                <a:ea typeface="DejaVu Sans"/>
                <a:cs typeface="DejaVu Sans"/>
              </a:rPr>
              <a:t>PLAN</a:t>
            </a:r>
          </a:p>
        </p:txBody>
      </p:sp>
      <p:sp>
        <p:nvSpPr>
          <p:cNvPr id="31" name="Rectangle: Rounded Corners 30">
            <a:extLst>
              <a:ext uri="{FF2B5EF4-FFF2-40B4-BE49-F238E27FC236}">
                <a16:creationId xmlns:a16="http://schemas.microsoft.com/office/drawing/2014/main" id="{33BD27C3-A189-4277-B46E-DB614EB8A8BB}"/>
              </a:ext>
            </a:extLst>
          </p:cNvPr>
          <p:cNvSpPr>
            <a:spLocks noGrp="1"/>
          </p:cNvSpPr>
          <p:nvPr/>
        </p:nvSpPr>
        <p:spPr>
          <a:xfrm>
            <a:off x="3143250" y="3219450"/>
            <a:ext cx="2190750" cy="609600"/>
          </a:xfrm>
          <a:prstGeom prst="roundRect">
            <a:avLst>
              <a:gd name="adj" fmla="val 18750"/>
            </a:avLst>
          </a:prstGeom>
          <a:solidFill>
            <a:srgbClr val="F2A93B"/>
          </a:solidFill>
          <a:ln w="0">
            <a:noFill/>
            <a:prstDash val="solid"/>
          </a:ln>
        </p:spPr>
        <p:txBody>
          <a:bodyPr/>
          <a:lstStyle/>
          <a:p>
            <a:endParaRPr lang="en-US"/>
          </a:p>
        </p:txBody>
      </p:sp>
      <p:sp>
        <p:nvSpPr>
          <p:cNvPr id="32" name="Rectangle 31">
            <a:extLst>
              <a:ext uri="{FF2B5EF4-FFF2-40B4-BE49-F238E27FC236}">
                <a16:creationId xmlns:a16="http://schemas.microsoft.com/office/drawing/2014/main" id="{64F36B28-CB2C-4248-87D1-2556B115C80D}"/>
              </a:ext>
            </a:extLst>
          </p:cNvPr>
          <p:cNvSpPr>
            <a:spLocks noGrp="1"/>
          </p:cNvSpPr>
          <p:nvPr/>
        </p:nvSpPr>
        <p:spPr>
          <a:xfrm>
            <a:off x="3143250" y="3438525"/>
            <a:ext cx="2190750" cy="190500"/>
          </a:xfrm>
          <a:prstGeom prst="rect">
            <a:avLst/>
          </a:prstGeom>
          <a:noFill/>
          <a:ln w="0">
            <a:noFill/>
          </a:ln>
        </p:spPr>
        <p:txBody>
          <a:bodyPr wrap="square" lIns="0" tIns="0" rIns="0" bIns="0" anchor="t">
            <a:normAutofit/>
          </a:bodyPr>
          <a:lstStyle/>
          <a:p>
            <a:pPr algn="ctr">
              <a:defRPr sz="975" b="1" i="0">
                <a:solidFill>
                  <a:srgbClr val="FFFFFF"/>
                </a:solidFill>
                <a:latin typeface="DejaVu Sans"/>
                <a:ea typeface="DejaVu Sans"/>
                <a:cs typeface="DejaVu Sans"/>
              </a:defRPr>
            </a:pPr>
            <a:r>
              <a:rPr sz="975" b="1" i="0">
                <a:solidFill>
                  <a:srgbClr val="FFFFFF"/>
                </a:solidFill>
                <a:latin typeface="DejaVu Sans"/>
                <a:ea typeface="DejaVu Sans"/>
                <a:cs typeface="DejaVu Sans"/>
              </a:rPr>
              <a:t>DESIGN</a:t>
            </a:r>
          </a:p>
        </p:txBody>
      </p:sp>
      <p:sp>
        <p:nvSpPr>
          <p:cNvPr id="33" name="Rectangle: Rounded Corners 32">
            <a:extLst>
              <a:ext uri="{FF2B5EF4-FFF2-40B4-BE49-F238E27FC236}">
                <a16:creationId xmlns:a16="http://schemas.microsoft.com/office/drawing/2014/main" id="{714344A1-5B34-4EAD-AEDD-821B83DCC8B7}"/>
              </a:ext>
            </a:extLst>
          </p:cNvPr>
          <p:cNvSpPr>
            <a:spLocks noGrp="1"/>
          </p:cNvSpPr>
          <p:nvPr/>
        </p:nvSpPr>
        <p:spPr>
          <a:xfrm>
            <a:off x="5410200" y="3219450"/>
            <a:ext cx="685800" cy="609600"/>
          </a:xfrm>
          <a:prstGeom prst="roundRect">
            <a:avLst>
              <a:gd name="adj" fmla="val 18750"/>
            </a:avLst>
          </a:prstGeom>
          <a:solidFill>
            <a:srgbClr val="7457E8"/>
          </a:solidFill>
          <a:ln w="0">
            <a:noFill/>
            <a:prstDash val="solid"/>
          </a:ln>
        </p:spPr>
        <p:txBody>
          <a:bodyPr/>
          <a:lstStyle/>
          <a:p>
            <a:endParaRPr lang="en-US"/>
          </a:p>
        </p:txBody>
      </p:sp>
      <p:sp>
        <p:nvSpPr>
          <p:cNvPr id="34" name="Rectangle 33">
            <a:extLst>
              <a:ext uri="{FF2B5EF4-FFF2-40B4-BE49-F238E27FC236}">
                <a16:creationId xmlns:a16="http://schemas.microsoft.com/office/drawing/2014/main" id="{46944234-BE14-462D-BBF1-88F5C714FD1C}"/>
              </a:ext>
            </a:extLst>
          </p:cNvPr>
          <p:cNvSpPr>
            <a:spLocks noGrp="1"/>
          </p:cNvSpPr>
          <p:nvPr/>
        </p:nvSpPr>
        <p:spPr>
          <a:xfrm>
            <a:off x="5410200" y="3438525"/>
            <a:ext cx="685800" cy="190500"/>
          </a:xfrm>
          <a:prstGeom prst="rect">
            <a:avLst/>
          </a:prstGeom>
          <a:noFill/>
          <a:ln w="0">
            <a:noFill/>
          </a:ln>
        </p:spPr>
        <p:txBody>
          <a:bodyPr wrap="square" lIns="0" tIns="0" rIns="0" bIns="0" anchor="t">
            <a:normAutofit/>
          </a:bodyPr>
          <a:lstStyle/>
          <a:p>
            <a:pPr algn="ctr">
              <a:defRPr sz="975" b="1" i="0">
                <a:solidFill>
                  <a:srgbClr val="FFFFFF"/>
                </a:solidFill>
                <a:latin typeface="DejaVu Sans"/>
                <a:ea typeface="DejaVu Sans"/>
                <a:cs typeface="DejaVu Sans"/>
              </a:defRPr>
            </a:pPr>
            <a:r>
              <a:rPr sz="975" b="1" i="0">
                <a:solidFill>
                  <a:srgbClr val="FFFFFF"/>
                </a:solidFill>
                <a:latin typeface="DejaVu Sans"/>
                <a:ea typeface="DejaVu Sans"/>
                <a:cs typeface="DejaVu Sans"/>
              </a:rPr>
              <a:t>BUILD</a:t>
            </a:r>
          </a:p>
        </p:txBody>
      </p:sp>
      <p:sp>
        <p:nvSpPr>
          <p:cNvPr id="35" name="Rectangle: Rounded Corners 34">
            <a:extLst>
              <a:ext uri="{FF2B5EF4-FFF2-40B4-BE49-F238E27FC236}">
                <a16:creationId xmlns:a16="http://schemas.microsoft.com/office/drawing/2014/main" id="{FB89509B-40FF-4782-A67C-3220C421F987}"/>
              </a:ext>
            </a:extLst>
          </p:cNvPr>
          <p:cNvSpPr>
            <a:spLocks noGrp="1"/>
          </p:cNvSpPr>
          <p:nvPr/>
        </p:nvSpPr>
        <p:spPr>
          <a:xfrm>
            <a:off x="6172200" y="3219450"/>
            <a:ext cx="2286000" cy="609600"/>
          </a:xfrm>
          <a:prstGeom prst="roundRect">
            <a:avLst>
              <a:gd name="adj" fmla="val 18750"/>
            </a:avLst>
          </a:prstGeom>
          <a:solidFill>
            <a:srgbClr val="19C3D2"/>
          </a:solidFill>
          <a:ln w="0">
            <a:noFill/>
            <a:prstDash val="solid"/>
          </a:ln>
        </p:spPr>
        <p:txBody>
          <a:bodyPr/>
          <a:lstStyle/>
          <a:p>
            <a:endParaRPr lang="en-US"/>
          </a:p>
        </p:txBody>
      </p:sp>
      <p:sp>
        <p:nvSpPr>
          <p:cNvPr id="36" name="Rectangle 35">
            <a:extLst>
              <a:ext uri="{FF2B5EF4-FFF2-40B4-BE49-F238E27FC236}">
                <a16:creationId xmlns:a16="http://schemas.microsoft.com/office/drawing/2014/main" id="{CB422D73-7EE1-4F02-9C36-566077ED942F}"/>
              </a:ext>
            </a:extLst>
          </p:cNvPr>
          <p:cNvSpPr>
            <a:spLocks noGrp="1"/>
          </p:cNvSpPr>
          <p:nvPr/>
        </p:nvSpPr>
        <p:spPr>
          <a:xfrm>
            <a:off x="6172200" y="3438525"/>
            <a:ext cx="2286000" cy="190500"/>
          </a:xfrm>
          <a:prstGeom prst="rect">
            <a:avLst/>
          </a:prstGeom>
          <a:noFill/>
          <a:ln w="0">
            <a:noFill/>
          </a:ln>
        </p:spPr>
        <p:txBody>
          <a:bodyPr wrap="square" lIns="0" tIns="0" rIns="0" bIns="0" anchor="t">
            <a:normAutofit/>
          </a:bodyPr>
          <a:lstStyle/>
          <a:p>
            <a:pPr algn="ctr">
              <a:defRPr sz="975" b="1" i="0">
                <a:solidFill>
                  <a:srgbClr val="FFFFFF"/>
                </a:solidFill>
                <a:latin typeface="DejaVu Sans"/>
                <a:ea typeface="DejaVu Sans"/>
                <a:cs typeface="DejaVu Sans"/>
              </a:defRPr>
            </a:pPr>
            <a:r>
              <a:rPr sz="975" b="1" i="0">
                <a:solidFill>
                  <a:srgbClr val="FFFFFF"/>
                </a:solidFill>
                <a:latin typeface="DejaVu Sans"/>
                <a:ea typeface="DejaVu Sans"/>
                <a:cs typeface="DejaVu Sans"/>
              </a:rPr>
              <a:t>TEST</a:t>
            </a:r>
          </a:p>
        </p:txBody>
      </p:sp>
      <p:sp>
        <p:nvSpPr>
          <p:cNvPr id="37" name="Rectangle: Rounded Corners 36">
            <a:extLst>
              <a:ext uri="{FF2B5EF4-FFF2-40B4-BE49-F238E27FC236}">
                <a16:creationId xmlns:a16="http://schemas.microsoft.com/office/drawing/2014/main" id="{3AF313D2-4330-4C7F-9BC7-33FD39980BA6}"/>
              </a:ext>
            </a:extLst>
          </p:cNvPr>
          <p:cNvSpPr>
            <a:spLocks noGrp="1"/>
          </p:cNvSpPr>
          <p:nvPr/>
        </p:nvSpPr>
        <p:spPr>
          <a:xfrm>
            <a:off x="8534400" y="3219450"/>
            <a:ext cx="2381250" cy="609600"/>
          </a:xfrm>
          <a:prstGeom prst="roundRect">
            <a:avLst>
              <a:gd name="adj" fmla="val 18750"/>
            </a:avLst>
          </a:prstGeom>
          <a:solidFill>
            <a:srgbClr val="3B82F6"/>
          </a:solidFill>
          <a:ln w="0">
            <a:noFill/>
            <a:prstDash val="solid"/>
          </a:ln>
        </p:spPr>
        <p:txBody>
          <a:bodyPr/>
          <a:lstStyle/>
          <a:p>
            <a:endParaRPr lang="en-US"/>
          </a:p>
        </p:txBody>
      </p:sp>
      <p:sp>
        <p:nvSpPr>
          <p:cNvPr id="38" name="Rectangle 37">
            <a:extLst>
              <a:ext uri="{FF2B5EF4-FFF2-40B4-BE49-F238E27FC236}">
                <a16:creationId xmlns:a16="http://schemas.microsoft.com/office/drawing/2014/main" id="{AA796865-A9F9-4304-B4FE-AA9315CB69F9}"/>
              </a:ext>
            </a:extLst>
          </p:cNvPr>
          <p:cNvSpPr>
            <a:spLocks noGrp="1"/>
          </p:cNvSpPr>
          <p:nvPr/>
        </p:nvSpPr>
        <p:spPr>
          <a:xfrm>
            <a:off x="8534400" y="3438525"/>
            <a:ext cx="2381250" cy="190500"/>
          </a:xfrm>
          <a:prstGeom prst="rect">
            <a:avLst/>
          </a:prstGeom>
          <a:noFill/>
          <a:ln w="0">
            <a:noFill/>
          </a:ln>
        </p:spPr>
        <p:txBody>
          <a:bodyPr wrap="square" lIns="0" tIns="0" rIns="0" bIns="0" anchor="t">
            <a:normAutofit/>
          </a:bodyPr>
          <a:lstStyle/>
          <a:p>
            <a:pPr algn="ctr">
              <a:defRPr sz="975" b="1" i="0">
                <a:solidFill>
                  <a:srgbClr val="FFFFFF"/>
                </a:solidFill>
                <a:latin typeface="DejaVu Sans"/>
                <a:ea typeface="DejaVu Sans"/>
                <a:cs typeface="DejaVu Sans"/>
              </a:defRPr>
            </a:pPr>
            <a:r>
              <a:rPr sz="975" b="1" i="0">
                <a:solidFill>
                  <a:srgbClr val="FFFFFF"/>
                </a:solidFill>
                <a:latin typeface="DejaVu Sans"/>
                <a:ea typeface="DejaVu Sans"/>
                <a:cs typeface="DejaVu Sans"/>
              </a:rPr>
              <a:t>DEPLOY</a:t>
            </a:r>
          </a:p>
        </p:txBody>
      </p:sp>
      <p:sp>
        <p:nvSpPr>
          <p:cNvPr id="39" name="Rectangle: Rounded Corners 38">
            <a:extLst>
              <a:ext uri="{FF2B5EF4-FFF2-40B4-BE49-F238E27FC236}">
                <a16:creationId xmlns:a16="http://schemas.microsoft.com/office/drawing/2014/main" id="{FFE0060B-9416-4192-918D-A7DBB5981E31}"/>
              </a:ext>
            </a:extLst>
          </p:cNvPr>
          <p:cNvSpPr>
            <a:spLocks noGrp="1"/>
          </p:cNvSpPr>
          <p:nvPr/>
        </p:nvSpPr>
        <p:spPr>
          <a:xfrm>
            <a:off x="1619250" y="4686300"/>
            <a:ext cx="8953500" cy="876300"/>
          </a:xfrm>
          <a:prstGeom prst="roundRect">
            <a:avLst>
              <a:gd name="adj" fmla="val 21739"/>
            </a:avLst>
          </a:prstGeom>
          <a:solidFill>
            <a:srgbClr val="0A1020"/>
          </a:solidFill>
          <a:ln w="9525">
            <a:solidFill>
              <a:srgbClr val="0A1020"/>
            </a:solidFill>
            <a:prstDash val="solid"/>
          </a:ln>
        </p:spPr>
        <p:txBody>
          <a:bodyPr/>
          <a:lstStyle/>
          <a:p>
            <a:endParaRPr lang="en-US"/>
          </a:p>
        </p:txBody>
      </p:sp>
      <p:sp>
        <p:nvSpPr>
          <p:cNvPr id="40" name="Rectangle 39">
            <a:extLst>
              <a:ext uri="{FF2B5EF4-FFF2-40B4-BE49-F238E27FC236}">
                <a16:creationId xmlns:a16="http://schemas.microsoft.com/office/drawing/2014/main" id="{F76A084E-D6EB-42FB-9A0A-4480E52F6748}"/>
              </a:ext>
            </a:extLst>
          </p:cNvPr>
          <p:cNvSpPr>
            <a:spLocks noGrp="1"/>
          </p:cNvSpPr>
          <p:nvPr/>
        </p:nvSpPr>
        <p:spPr>
          <a:xfrm>
            <a:off x="1905000" y="4876800"/>
            <a:ext cx="8382000" cy="266700"/>
          </a:xfrm>
          <a:prstGeom prst="rect">
            <a:avLst/>
          </a:prstGeom>
          <a:noFill/>
          <a:ln w="0">
            <a:noFill/>
          </a:ln>
        </p:spPr>
        <p:txBody>
          <a:bodyPr wrap="square" lIns="0" tIns="0" rIns="0" bIns="0" anchor="t">
            <a:normAutofit/>
          </a:bodyPr>
          <a:lstStyle/>
          <a:p>
            <a:pPr algn="ctr">
              <a:defRPr sz="1575" b="1" i="0">
                <a:solidFill>
                  <a:srgbClr val="FFFFFF"/>
                </a:solidFill>
                <a:latin typeface="DejaVu Sans"/>
                <a:ea typeface="DejaVu Sans"/>
                <a:cs typeface="DejaVu Sans"/>
              </a:defRPr>
            </a:pPr>
            <a:r>
              <a:rPr sz="1575" b="1" i="0">
                <a:solidFill>
                  <a:srgbClr val="FFFFFF"/>
                </a:solidFill>
                <a:latin typeface="DejaVu Sans"/>
                <a:ea typeface="DejaVu Sans"/>
                <a:cs typeface="DejaVu Sans"/>
              </a:rPr>
              <a:t>The queue moves to planning, review, security, and release</a:t>
            </a:r>
          </a:p>
        </p:txBody>
      </p:sp>
      <p:sp>
        <p:nvSpPr>
          <p:cNvPr id="41" name="Rectangle 40">
            <a:extLst>
              <a:ext uri="{FF2B5EF4-FFF2-40B4-BE49-F238E27FC236}">
                <a16:creationId xmlns:a16="http://schemas.microsoft.com/office/drawing/2014/main" id="{647D3927-CF0E-437A-958F-16D45842AF76}"/>
              </a:ext>
            </a:extLst>
          </p:cNvPr>
          <p:cNvSpPr>
            <a:spLocks noGrp="1"/>
          </p:cNvSpPr>
          <p:nvPr/>
        </p:nvSpPr>
        <p:spPr>
          <a:xfrm>
            <a:off x="1905000" y="5219700"/>
            <a:ext cx="8382000" cy="190500"/>
          </a:xfrm>
          <a:prstGeom prst="rect">
            <a:avLst/>
          </a:prstGeom>
          <a:noFill/>
          <a:ln w="0">
            <a:noFill/>
          </a:ln>
        </p:spPr>
        <p:txBody>
          <a:bodyPr wrap="square" lIns="0" tIns="0" rIns="0" bIns="0" anchor="t">
            <a:normAutofit/>
          </a:bodyPr>
          <a:lstStyle/>
          <a:p>
            <a:pPr algn="ctr">
              <a:defRPr sz="975" b="0" i="0">
                <a:solidFill>
                  <a:srgbClr val="D6E1F3"/>
                </a:solidFill>
                <a:latin typeface="DejaVu Sans"/>
                <a:ea typeface="DejaVu Sans"/>
                <a:cs typeface="DejaVu Sans"/>
              </a:defRPr>
            </a:pPr>
            <a:r>
              <a:rPr sz="975" b="0" i="0">
                <a:solidFill>
                  <a:srgbClr val="D6E1F3"/>
                </a:solidFill>
                <a:latin typeface="DejaVu Sans"/>
                <a:ea typeface="DejaVu Sans"/>
                <a:cs typeface="DejaVu Sans"/>
              </a:rPr>
              <a:t>These stages need new tools and new controls</a:t>
            </a:r>
          </a:p>
        </p:txBody>
      </p:sp>
    </p:spTree>
    <p:extLst>
      <p:ext uri="{BB962C8B-B14F-4D97-AF65-F5344CB8AC3E}">
        <p14:creationId xmlns:p14="http://schemas.microsoft.com/office/powerpoint/2010/main" val="1257173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020"/>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81596656-2D91-42D6-9146-F736B8F8E820}"/>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19C3D2"/>
                </a:solidFill>
                <a:latin typeface="DejaVu Sans"/>
                <a:ea typeface="DejaVu Sans"/>
                <a:cs typeface="DejaVu Sans"/>
              </a:defRPr>
            </a:pPr>
            <a:r>
              <a:rPr sz="900" b="1" i="0">
                <a:solidFill>
                  <a:srgbClr val="19C3D2"/>
                </a:solidFill>
                <a:latin typeface="DejaVu Sans"/>
                <a:ea typeface="DejaVu Sans"/>
                <a:cs typeface="DejaVu Sans"/>
              </a:rPr>
              <a:t>AI WORKS IN EVERY STAGE</a:t>
            </a:r>
          </a:p>
        </p:txBody>
      </p:sp>
      <p:sp>
        <p:nvSpPr>
          <p:cNvPr id="2" name="Rectangle 1">
            <a:extLst>
              <a:ext uri="{FF2B5EF4-FFF2-40B4-BE49-F238E27FC236}">
                <a16:creationId xmlns:a16="http://schemas.microsoft.com/office/drawing/2014/main" id="{CA3D1267-890B-4B91-A0EE-B40170D98682}"/>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FFFFFF"/>
                </a:solidFill>
                <a:latin typeface="DejaVu Sans"/>
                <a:ea typeface="DejaVu Sans"/>
                <a:cs typeface="DejaVu Sans"/>
              </a:defRPr>
            </a:pPr>
            <a:r>
              <a:rPr sz="2700" b="1" i="0">
                <a:solidFill>
                  <a:srgbClr val="FFFFFF"/>
                </a:solidFill>
                <a:latin typeface="DejaVu Sans"/>
                <a:ea typeface="DejaVu Sans"/>
                <a:cs typeface="DejaVu Sans"/>
              </a:rPr>
              <a:t>The AI-native lifecycle</a:t>
            </a:r>
          </a:p>
        </p:txBody>
      </p:sp>
      <p:sp>
        <p:nvSpPr>
          <p:cNvPr id="3" name="Rectangle 2">
            <a:extLst>
              <a:ext uri="{FF2B5EF4-FFF2-40B4-BE49-F238E27FC236}">
                <a16:creationId xmlns:a16="http://schemas.microsoft.com/office/drawing/2014/main" id="{7CFFEA14-DB82-4664-A9F1-D44E326CC094}"/>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8190AA"/>
                </a:solidFill>
                <a:latin typeface="DejaVu Sans"/>
                <a:ea typeface="DejaVu Sans"/>
                <a:cs typeface="DejaVu Sans"/>
              </a:defRPr>
            </a:pPr>
            <a:r>
              <a:rPr sz="750" b="0" i="0">
                <a:solidFill>
                  <a:srgbClr val="8190AA"/>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C5C1C753-7D8E-4A06-BBF3-6AC762B5DD1B}"/>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8190AA"/>
                </a:solidFill>
                <a:latin typeface="DejaVu Sans Mono"/>
                <a:ea typeface="DejaVu Sans Mono"/>
                <a:cs typeface="DejaVu Sans Mono"/>
              </a:defRPr>
            </a:pPr>
            <a:r>
              <a:rPr sz="750" b="0" i="0">
                <a:solidFill>
                  <a:srgbClr val="8190AA"/>
                </a:solidFill>
                <a:latin typeface="DejaVu Sans Mono"/>
                <a:ea typeface="DejaVu Sans Mono"/>
                <a:cs typeface="DejaVu Sans Mono"/>
              </a:rPr>
              <a:t>06</a:t>
            </a:r>
          </a:p>
        </p:txBody>
      </p:sp>
      <p:sp>
        <p:nvSpPr>
          <p:cNvPr id="5" name="Rectangle 4">
            <a:extLst>
              <a:ext uri="{FF2B5EF4-FFF2-40B4-BE49-F238E27FC236}">
                <a16:creationId xmlns:a16="http://schemas.microsoft.com/office/drawing/2014/main" id="{B2D0D944-72DB-4499-9640-E1EA536FF04E}"/>
              </a:ext>
            </a:extLst>
          </p:cNvPr>
          <p:cNvSpPr>
            <a:spLocks noGrp="1"/>
          </p:cNvSpPr>
          <p:nvPr/>
        </p:nvSpPr>
        <p:spPr>
          <a:xfrm>
            <a:off x="685800" y="6419850"/>
            <a:ext cx="1755775" cy="47625"/>
          </a:xfrm>
          <a:prstGeom prst="rect">
            <a:avLst/>
          </a:prstGeom>
          <a:solidFill>
            <a:srgbClr val="2B3548"/>
          </a:solidFill>
          <a:ln w="0">
            <a:noFill/>
            <a:prstDash val="solid"/>
          </a:ln>
        </p:spPr>
        <p:txBody>
          <a:bodyPr/>
          <a:lstStyle/>
          <a:p>
            <a:endParaRPr lang="en-US"/>
          </a:p>
        </p:txBody>
      </p:sp>
      <p:sp>
        <p:nvSpPr>
          <p:cNvPr id="6" name="Rectangle 5">
            <a:extLst>
              <a:ext uri="{FF2B5EF4-FFF2-40B4-BE49-F238E27FC236}">
                <a16:creationId xmlns:a16="http://schemas.microsoft.com/office/drawing/2014/main" id="{5E490E8E-3D52-4BEC-86BA-47EB9990D724}"/>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PLAN</a:t>
            </a:r>
          </a:p>
        </p:txBody>
      </p:sp>
      <p:sp>
        <p:nvSpPr>
          <p:cNvPr id="7" name="Rectangle 6">
            <a:extLst>
              <a:ext uri="{FF2B5EF4-FFF2-40B4-BE49-F238E27FC236}">
                <a16:creationId xmlns:a16="http://schemas.microsoft.com/office/drawing/2014/main" id="{82ABEBAE-FC3E-495F-8613-B925FA5BF90A}"/>
              </a:ext>
            </a:extLst>
          </p:cNvPr>
          <p:cNvSpPr>
            <a:spLocks noGrp="1"/>
          </p:cNvSpPr>
          <p:nvPr/>
        </p:nvSpPr>
        <p:spPr>
          <a:xfrm>
            <a:off x="2498725" y="6419850"/>
            <a:ext cx="1755775" cy="47625"/>
          </a:xfrm>
          <a:prstGeom prst="rect">
            <a:avLst/>
          </a:prstGeom>
          <a:solidFill>
            <a:srgbClr val="2B3548"/>
          </a:solidFill>
          <a:ln w="0">
            <a:noFill/>
            <a:prstDash val="solid"/>
          </a:ln>
        </p:spPr>
        <p:txBody>
          <a:bodyPr/>
          <a:lstStyle/>
          <a:p>
            <a:endParaRPr lang="en-US"/>
          </a:p>
        </p:txBody>
      </p:sp>
      <p:sp>
        <p:nvSpPr>
          <p:cNvPr id="8" name="Rectangle 7">
            <a:extLst>
              <a:ext uri="{FF2B5EF4-FFF2-40B4-BE49-F238E27FC236}">
                <a16:creationId xmlns:a16="http://schemas.microsoft.com/office/drawing/2014/main" id="{3B771CCC-0B5A-4D31-8B7D-0F26FBE64D97}"/>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DESIGN</a:t>
            </a:r>
          </a:p>
        </p:txBody>
      </p:sp>
      <p:sp>
        <p:nvSpPr>
          <p:cNvPr id="9" name="Rectangle 8">
            <a:extLst>
              <a:ext uri="{FF2B5EF4-FFF2-40B4-BE49-F238E27FC236}">
                <a16:creationId xmlns:a16="http://schemas.microsoft.com/office/drawing/2014/main" id="{81ADAC3F-5771-4B22-AC9B-8D7FDE0F8262}"/>
              </a:ext>
            </a:extLst>
          </p:cNvPr>
          <p:cNvSpPr>
            <a:spLocks noGrp="1"/>
          </p:cNvSpPr>
          <p:nvPr/>
        </p:nvSpPr>
        <p:spPr>
          <a:xfrm>
            <a:off x="4311650" y="6419850"/>
            <a:ext cx="1755775" cy="47625"/>
          </a:xfrm>
          <a:prstGeom prst="rect">
            <a:avLst/>
          </a:prstGeom>
          <a:solidFill>
            <a:srgbClr val="2B354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3651B453-96E6-41C0-BB90-1239FB50E18E}"/>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BUILD</a:t>
            </a:r>
          </a:p>
        </p:txBody>
      </p:sp>
      <p:sp>
        <p:nvSpPr>
          <p:cNvPr id="11" name="Rectangle 10">
            <a:extLst>
              <a:ext uri="{FF2B5EF4-FFF2-40B4-BE49-F238E27FC236}">
                <a16:creationId xmlns:a16="http://schemas.microsoft.com/office/drawing/2014/main" id="{6467F95B-A77E-43F2-8AD6-3ACC9259B37D}"/>
              </a:ext>
            </a:extLst>
          </p:cNvPr>
          <p:cNvSpPr>
            <a:spLocks noGrp="1"/>
          </p:cNvSpPr>
          <p:nvPr/>
        </p:nvSpPr>
        <p:spPr>
          <a:xfrm>
            <a:off x="6124575" y="6419850"/>
            <a:ext cx="1755775" cy="47625"/>
          </a:xfrm>
          <a:prstGeom prst="rect">
            <a:avLst/>
          </a:prstGeom>
          <a:solidFill>
            <a:srgbClr val="2B354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62D886AC-5C21-47CE-BD3B-C8589E1AB98A}"/>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TEST</a:t>
            </a:r>
          </a:p>
        </p:txBody>
      </p:sp>
      <p:sp>
        <p:nvSpPr>
          <p:cNvPr id="13" name="Rectangle 12">
            <a:extLst>
              <a:ext uri="{FF2B5EF4-FFF2-40B4-BE49-F238E27FC236}">
                <a16:creationId xmlns:a16="http://schemas.microsoft.com/office/drawing/2014/main" id="{EC18AE55-6A88-456C-B99D-E871080D4B66}"/>
              </a:ext>
            </a:extLst>
          </p:cNvPr>
          <p:cNvSpPr>
            <a:spLocks noGrp="1"/>
          </p:cNvSpPr>
          <p:nvPr/>
        </p:nvSpPr>
        <p:spPr>
          <a:xfrm>
            <a:off x="7937500" y="6419850"/>
            <a:ext cx="1755775" cy="47625"/>
          </a:xfrm>
          <a:prstGeom prst="rect">
            <a:avLst/>
          </a:prstGeom>
          <a:solidFill>
            <a:srgbClr val="2B354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FBC64159-96A9-4B5A-BF85-769E099D2BBF}"/>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FA825D5E-4C3F-4B84-B5A0-64C5F0CC97C2}"/>
              </a:ext>
            </a:extLst>
          </p:cNvPr>
          <p:cNvSpPr>
            <a:spLocks noGrp="1"/>
          </p:cNvSpPr>
          <p:nvPr/>
        </p:nvSpPr>
        <p:spPr>
          <a:xfrm>
            <a:off x="9750425" y="6419850"/>
            <a:ext cx="1755775" cy="47625"/>
          </a:xfrm>
          <a:prstGeom prst="rect">
            <a:avLst/>
          </a:prstGeom>
          <a:solidFill>
            <a:srgbClr val="2B354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8C3CD990-1F8F-47AC-B4A6-7E6545E7D2C3}"/>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BE73630A-8B64-4B11-967A-51284C7C4523}"/>
              </a:ext>
            </a:extLst>
          </p:cNvPr>
          <p:cNvSpPr>
            <a:spLocks noGrp="1"/>
          </p:cNvSpPr>
          <p:nvPr/>
        </p:nvSpPr>
        <p:spPr>
          <a:xfrm>
            <a:off x="2476500" y="1562100"/>
            <a:ext cx="1657350" cy="647700"/>
          </a:xfrm>
          <a:prstGeom prst="roundRect">
            <a:avLst>
              <a:gd name="adj" fmla="val 29412"/>
            </a:avLst>
          </a:prstGeom>
          <a:solidFill>
            <a:srgbClr val="FF8066"/>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91511D03-3AE9-42F7-A481-8503149560B2}"/>
              </a:ext>
            </a:extLst>
          </p:cNvPr>
          <p:cNvSpPr>
            <a:spLocks noGrp="1"/>
          </p:cNvSpPr>
          <p:nvPr/>
        </p:nvSpPr>
        <p:spPr>
          <a:xfrm>
            <a:off x="2476500" y="1781175"/>
            <a:ext cx="1657350" cy="209550"/>
          </a:xfrm>
          <a:prstGeom prst="rect">
            <a:avLst/>
          </a:prstGeom>
          <a:noFill/>
          <a:ln w="0">
            <a:noFill/>
          </a:ln>
        </p:spPr>
        <p:txBody>
          <a:bodyPr wrap="square" lIns="0" tIns="0" rIns="0" bIns="0" anchor="t">
            <a:normAutofit/>
          </a:bodyPr>
          <a:lstStyle/>
          <a:p>
            <a:pPr algn="ctr">
              <a:defRPr sz="1125" b="1" i="0">
                <a:solidFill>
                  <a:srgbClr val="FFFFFF"/>
                </a:solidFill>
                <a:latin typeface="DejaVu Sans"/>
                <a:ea typeface="DejaVu Sans"/>
                <a:cs typeface="DejaVu Sans"/>
              </a:defRPr>
            </a:pPr>
            <a:r>
              <a:rPr sz="1125" b="1" i="0">
                <a:solidFill>
                  <a:srgbClr val="FFFFFF"/>
                </a:solidFill>
                <a:latin typeface="DejaVu Sans"/>
                <a:ea typeface="DejaVu Sans"/>
                <a:cs typeface="DejaVu Sans"/>
              </a:rPr>
              <a:t>PLAN</a:t>
            </a:r>
          </a:p>
        </p:txBody>
      </p:sp>
      <p:sp>
        <p:nvSpPr>
          <p:cNvPr id="19" name="Rectangle: Rounded Corners 18">
            <a:extLst>
              <a:ext uri="{FF2B5EF4-FFF2-40B4-BE49-F238E27FC236}">
                <a16:creationId xmlns:a16="http://schemas.microsoft.com/office/drawing/2014/main" id="{D9C541E6-B892-4E3A-8C2A-E858BC0048DE}"/>
              </a:ext>
            </a:extLst>
          </p:cNvPr>
          <p:cNvSpPr>
            <a:spLocks noGrp="1"/>
          </p:cNvSpPr>
          <p:nvPr/>
        </p:nvSpPr>
        <p:spPr>
          <a:xfrm>
            <a:off x="3905250" y="1257300"/>
            <a:ext cx="1657350" cy="647700"/>
          </a:xfrm>
          <a:prstGeom prst="roundRect">
            <a:avLst>
              <a:gd name="adj" fmla="val 29412"/>
            </a:avLst>
          </a:prstGeom>
          <a:solidFill>
            <a:srgbClr val="F2A93B"/>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FC5400CB-9E78-41A2-8CB4-42D5BC183135}"/>
              </a:ext>
            </a:extLst>
          </p:cNvPr>
          <p:cNvSpPr>
            <a:spLocks noGrp="1"/>
          </p:cNvSpPr>
          <p:nvPr/>
        </p:nvSpPr>
        <p:spPr>
          <a:xfrm>
            <a:off x="3905250" y="1476375"/>
            <a:ext cx="1657350" cy="209550"/>
          </a:xfrm>
          <a:prstGeom prst="rect">
            <a:avLst/>
          </a:prstGeom>
          <a:noFill/>
          <a:ln w="0">
            <a:noFill/>
          </a:ln>
        </p:spPr>
        <p:txBody>
          <a:bodyPr wrap="square" lIns="0" tIns="0" rIns="0" bIns="0" anchor="t">
            <a:normAutofit/>
          </a:bodyPr>
          <a:lstStyle/>
          <a:p>
            <a:pPr algn="ctr">
              <a:defRPr sz="1125" b="1" i="0">
                <a:solidFill>
                  <a:srgbClr val="FFFFFF"/>
                </a:solidFill>
                <a:latin typeface="DejaVu Sans"/>
                <a:ea typeface="DejaVu Sans"/>
                <a:cs typeface="DejaVu Sans"/>
              </a:defRPr>
            </a:pPr>
            <a:r>
              <a:rPr sz="1125" b="1" i="0">
                <a:solidFill>
                  <a:srgbClr val="FFFFFF"/>
                </a:solidFill>
                <a:latin typeface="DejaVu Sans"/>
                <a:ea typeface="DejaVu Sans"/>
                <a:cs typeface="DejaVu Sans"/>
              </a:rPr>
              <a:t>DESIGN</a:t>
            </a:r>
          </a:p>
        </p:txBody>
      </p:sp>
      <p:sp>
        <p:nvSpPr>
          <p:cNvPr id="21" name="Rectangle: Rounded Corners 20">
            <a:extLst>
              <a:ext uri="{FF2B5EF4-FFF2-40B4-BE49-F238E27FC236}">
                <a16:creationId xmlns:a16="http://schemas.microsoft.com/office/drawing/2014/main" id="{488C7B8E-325A-45DA-844E-23F11DAF4F14}"/>
              </a:ext>
            </a:extLst>
          </p:cNvPr>
          <p:cNvSpPr>
            <a:spLocks noGrp="1"/>
          </p:cNvSpPr>
          <p:nvPr/>
        </p:nvSpPr>
        <p:spPr>
          <a:xfrm>
            <a:off x="6648450" y="1562100"/>
            <a:ext cx="1657350" cy="647700"/>
          </a:xfrm>
          <a:prstGeom prst="roundRect">
            <a:avLst>
              <a:gd name="adj" fmla="val 29412"/>
            </a:avLst>
          </a:prstGeom>
          <a:solidFill>
            <a:srgbClr val="7457E8"/>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56ED45CE-CCC8-4294-A1C3-78F6DAE137E3}"/>
              </a:ext>
            </a:extLst>
          </p:cNvPr>
          <p:cNvSpPr>
            <a:spLocks noGrp="1"/>
          </p:cNvSpPr>
          <p:nvPr/>
        </p:nvSpPr>
        <p:spPr>
          <a:xfrm>
            <a:off x="6648450" y="1781175"/>
            <a:ext cx="1657350" cy="209550"/>
          </a:xfrm>
          <a:prstGeom prst="rect">
            <a:avLst/>
          </a:prstGeom>
          <a:noFill/>
          <a:ln w="0">
            <a:noFill/>
          </a:ln>
        </p:spPr>
        <p:txBody>
          <a:bodyPr wrap="square" lIns="0" tIns="0" rIns="0" bIns="0" anchor="t">
            <a:normAutofit/>
          </a:bodyPr>
          <a:lstStyle/>
          <a:p>
            <a:pPr algn="ctr">
              <a:defRPr sz="1125" b="1" i="0">
                <a:solidFill>
                  <a:srgbClr val="FFFFFF"/>
                </a:solidFill>
                <a:latin typeface="DejaVu Sans"/>
                <a:ea typeface="DejaVu Sans"/>
                <a:cs typeface="DejaVu Sans"/>
              </a:defRPr>
            </a:pPr>
            <a:r>
              <a:rPr sz="1125" b="1" i="0">
                <a:solidFill>
                  <a:srgbClr val="FFFFFF"/>
                </a:solidFill>
                <a:latin typeface="DejaVu Sans"/>
                <a:ea typeface="DejaVu Sans"/>
                <a:cs typeface="DejaVu Sans"/>
              </a:rPr>
              <a:t>BUILD</a:t>
            </a:r>
          </a:p>
        </p:txBody>
      </p:sp>
      <p:sp>
        <p:nvSpPr>
          <p:cNvPr id="23" name="Rectangle: Rounded Corners 22">
            <a:extLst>
              <a:ext uri="{FF2B5EF4-FFF2-40B4-BE49-F238E27FC236}">
                <a16:creationId xmlns:a16="http://schemas.microsoft.com/office/drawing/2014/main" id="{5BCE192B-F045-431F-8F0F-376336F4675A}"/>
              </a:ext>
            </a:extLst>
          </p:cNvPr>
          <p:cNvSpPr>
            <a:spLocks noGrp="1"/>
          </p:cNvSpPr>
          <p:nvPr/>
        </p:nvSpPr>
        <p:spPr>
          <a:xfrm>
            <a:off x="8477250" y="3257550"/>
            <a:ext cx="1657350" cy="647700"/>
          </a:xfrm>
          <a:prstGeom prst="roundRect">
            <a:avLst>
              <a:gd name="adj" fmla="val 29412"/>
            </a:avLst>
          </a:prstGeom>
          <a:solidFill>
            <a:srgbClr val="19C3D2"/>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171230A0-CB59-491D-B503-9C8273A858C7}"/>
              </a:ext>
            </a:extLst>
          </p:cNvPr>
          <p:cNvSpPr>
            <a:spLocks noGrp="1"/>
          </p:cNvSpPr>
          <p:nvPr/>
        </p:nvSpPr>
        <p:spPr>
          <a:xfrm>
            <a:off x="8477250" y="3476625"/>
            <a:ext cx="1657350" cy="209550"/>
          </a:xfrm>
          <a:prstGeom prst="rect">
            <a:avLst/>
          </a:prstGeom>
          <a:noFill/>
          <a:ln w="0">
            <a:noFill/>
          </a:ln>
        </p:spPr>
        <p:txBody>
          <a:bodyPr wrap="square" lIns="0" tIns="0" rIns="0" bIns="0" anchor="t">
            <a:normAutofit/>
          </a:bodyPr>
          <a:lstStyle/>
          <a:p>
            <a:pPr algn="ctr">
              <a:defRPr sz="1125" b="1" i="0">
                <a:solidFill>
                  <a:srgbClr val="FFFFFF"/>
                </a:solidFill>
                <a:latin typeface="DejaVu Sans"/>
                <a:ea typeface="DejaVu Sans"/>
                <a:cs typeface="DejaVu Sans"/>
              </a:defRPr>
            </a:pPr>
            <a:r>
              <a:rPr sz="1125" b="1" i="0">
                <a:solidFill>
                  <a:srgbClr val="FFFFFF"/>
                </a:solidFill>
                <a:latin typeface="DejaVu Sans"/>
                <a:ea typeface="DejaVu Sans"/>
                <a:cs typeface="DejaVu Sans"/>
              </a:rPr>
              <a:t>TEST</a:t>
            </a:r>
          </a:p>
        </p:txBody>
      </p:sp>
      <p:sp>
        <p:nvSpPr>
          <p:cNvPr id="25" name="Rectangle: Rounded Corners 24">
            <a:extLst>
              <a:ext uri="{FF2B5EF4-FFF2-40B4-BE49-F238E27FC236}">
                <a16:creationId xmlns:a16="http://schemas.microsoft.com/office/drawing/2014/main" id="{CABCAF7D-7B2E-493B-A786-8531D4DEEF50}"/>
              </a:ext>
            </a:extLst>
          </p:cNvPr>
          <p:cNvSpPr>
            <a:spLocks noGrp="1"/>
          </p:cNvSpPr>
          <p:nvPr/>
        </p:nvSpPr>
        <p:spPr>
          <a:xfrm>
            <a:off x="5619750" y="4476750"/>
            <a:ext cx="1657350" cy="647700"/>
          </a:xfrm>
          <a:prstGeom prst="roundRect">
            <a:avLst>
              <a:gd name="adj" fmla="val 29412"/>
            </a:avLst>
          </a:prstGeom>
          <a:solidFill>
            <a:srgbClr val="3B82F6"/>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8EB682B2-1316-4AEA-888C-FCE8FB00CCDD}"/>
              </a:ext>
            </a:extLst>
          </p:cNvPr>
          <p:cNvSpPr>
            <a:spLocks noGrp="1"/>
          </p:cNvSpPr>
          <p:nvPr/>
        </p:nvSpPr>
        <p:spPr>
          <a:xfrm>
            <a:off x="5619750" y="4695825"/>
            <a:ext cx="1657350" cy="209550"/>
          </a:xfrm>
          <a:prstGeom prst="rect">
            <a:avLst/>
          </a:prstGeom>
          <a:noFill/>
          <a:ln w="0">
            <a:noFill/>
          </a:ln>
        </p:spPr>
        <p:txBody>
          <a:bodyPr wrap="square" lIns="0" tIns="0" rIns="0" bIns="0" anchor="t">
            <a:normAutofit/>
          </a:bodyPr>
          <a:lstStyle/>
          <a:p>
            <a:pPr algn="ctr">
              <a:defRPr sz="1125" b="1" i="0">
                <a:solidFill>
                  <a:srgbClr val="FFFFFF"/>
                </a:solidFill>
                <a:latin typeface="DejaVu Sans"/>
                <a:ea typeface="DejaVu Sans"/>
                <a:cs typeface="DejaVu Sans"/>
              </a:defRPr>
            </a:pPr>
            <a:r>
              <a:rPr sz="1125" b="1" i="0">
                <a:solidFill>
                  <a:srgbClr val="FFFFFF"/>
                </a:solidFill>
                <a:latin typeface="DejaVu Sans"/>
                <a:ea typeface="DejaVu Sans"/>
                <a:cs typeface="DejaVu Sans"/>
              </a:rPr>
              <a:t>DEPLOY</a:t>
            </a:r>
          </a:p>
        </p:txBody>
      </p:sp>
      <p:sp>
        <p:nvSpPr>
          <p:cNvPr id="27" name="Rectangle: Rounded Corners 26">
            <a:extLst>
              <a:ext uri="{FF2B5EF4-FFF2-40B4-BE49-F238E27FC236}">
                <a16:creationId xmlns:a16="http://schemas.microsoft.com/office/drawing/2014/main" id="{7F6D7334-369A-4D35-9645-7295472F67DF}"/>
              </a:ext>
            </a:extLst>
          </p:cNvPr>
          <p:cNvSpPr>
            <a:spLocks noGrp="1"/>
          </p:cNvSpPr>
          <p:nvPr/>
        </p:nvSpPr>
        <p:spPr>
          <a:xfrm>
            <a:off x="2686050" y="3886200"/>
            <a:ext cx="1657350" cy="647700"/>
          </a:xfrm>
          <a:prstGeom prst="roundRect">
            <a:avLst>
              <a:gd name="adj" fmla="val 29412"/>
            </a:avLst>
          </a:prstGeom>
          <a:solidFill>
            <a:srgbClr val="29A36A"/>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F3EBBBF1-3A6B-4360-8C59-3312D02AB046}"/>
              </a:ext>
            </a:extLst>
          </p:cNvPr>
          <p:cNvSpPr>
            <a:spLocks noGrp="1"/>
          </p:cNvSpPr>
          <p:nvPr/>
        </p:nvSpPr>
        <p:spPr>
          <a:xfrm>
            <a:off x="2686050" y="4105275"/>
            <a:ext cx="1657350" cy="209550"/>
          </a:xfrm>
          <a:prstGeom prst="rect">
            <a:avLst/>
          </a:prstGeom>
          <a:noFill/>
          <a:ln w="0">
            <a:noFill/>
          </a:ln>
        </p:spPr>
        <p:txBody>
          <a:bodyPr wrap="square" lIns="0" tIns="0" rIns="0" bIns="0" anchor="t">
            <a:normAutofit/>
          </a:bodyPr>
          <a:lstStyle/>
          <a:p>
            <a:pPr algn="ctr">
              <a:defRPr sz="1125" b="1" i="0">
                <a:solidFill>
                  <a:srgbClr val="FFFFFF"/>
                </a:solidFill>
                <a:latin typeface="DejaVu Sans"/>
                <a:ea typeface="DejaVu Sans"/>
                <a:cs typeface="DejaVu Sans"/>
              </a:defRPr>
            </a:pPr>
            <a:r>
              <a:rPr sz="1125" b="1" i="0">
                <a:solidFill>
                  <a:srgbClr val="FFFFFF"/>
                </a:solidFill>
                <a:latin typeface="DejaVu Sans"/>
                <a:ea typeface="DejaVu Sans"/>
                <a:cs typeface="DejaVu Sans"/>
              </a:rPr>
              <a:t>MAINTAIN</a:t>
            </a:r>
          </a:p>
        </p:txBody>
      </p:sp>
      <p:sp>
        <p:nvSpPr>
          <p:cNvPr id="29" name="Rectangle: Rounded Corners 28">
            <a:extLst>
              <a:ext uri="{FF2B5EF4-FFF2-40B4-BE49-F238E27FC236}">
                <a16:creationId xmlns:a16="http://schemas.microsoft.com/office/drawing/2014/main" id="{9CC42E68-535A-4186-B850-45581DFEAD56}"/>
              </a:ext>
            </a:extLst>
          </p:cNvPr>
          <p:cNvSpPr>
            <a:spLocks noGrp="1"/>
          </p:cNvSpPr>
          <p:nvPr/>
        </p:nvSpPr>
        <p:spPr>
          <a:xfrm>
            <a:off x="4552950" y="2609850"/>
            <a:ext cx="3086100" cy="1028700"/>
          </a:xfrm>
          <a:prstGeom prst="roundRect">
            <a:avLst>
              <a:gd name="adj" fmla="val 20370"/>
            </a:avLst>
          </a:prstGeom>
          <a:solidFill>
            <a:srgbClr val="151E31"/>
          </a:solidFill>
          <a:ln w="9525">
            <a:solidFill>
              <a:srgbClr val="32405A"/>
            </a:solidFill>
            <a:prstDash val="solid"/>
          </a:ln>
        </p:spPr>
        <p:txBody>
          <a:bodyPr/>
          <a:lstStyle/>
          <a:p>
            <a:endParaRPr lang="en-US"/>
          </a:p>
        </p:txBody>
      </p:sp>
      <p:sp>
        <p:nvSpPr>
          <p:cNvPr id="30" name="Rectangle 29">
            <a:extLst>
              <a:ext uri="{FF2B5EF4-FFF2-40B4-BE49-F238E27FC236}">
                <a16:creationId xmlns:a16="http://schemas.microsoft.com/office/drawing/2014/main" id="{D02D3815-EB35-4760-8A7B-D5D7EE82DDC4}"/>
              </a:ext>
            </a:extLst>
          </p:cNvPr>
          <p:cNvSpPr>
            <a:spLocks noGrp="1"/>
          </p:cNvSpPr>
          <p:nvPr/>
        </p:nvSpPr>
        <p:spPr>
          <a:xfrm>
            <a:off x="4552950" y="2819400"/>
            <a:ext cx="3086100" cy="285750"/>
          </a:xfrm>
          <a:prstGeom prst="rect">
            <a:avLst/>
          </a:prstGeom>
          <a:noFill/>
          <a:ln w="0">
            <a:noFill/>
          </a:ln>
        </p:spPr>
        <p:txBody>
          <a:bodyPr wrap="square" lIns="0" tIns="0" rIns="0" bIns="0" anchor="t">
            <a:normAutofit/>
          </a:bodyPr>
          <a:lstStyle/>
          <a:p>
            <a:pPr algn="ctr">
              <a:defRPr sz="1725" b="1" i="0">
                <a:solidFill>
                  <a:srgbClr val="FFFFFF"/>
                </a:solidFill>
                <a:latin typeface="DejaVu Sans"/>
                <a:ea typeface="DejaVu Sans"/>
                <a:cs typeface="DejaVu Sans"/>
              </a:defRPr>
            </a:pPr>
            <a:r>
              <a:rPr sz="1725" b="1" i="0">
                <a:solidFill>
                  <a:srgbClr val="FFFFFF"/>
                </a:solidFill>
                <a:latin typeface="DejaVu Sans"/>
                <a:ea typeface="DejaVu Sans"/>
                <a:cs typeface="DejaVu Sans"/>
              </a:rPr>
              <a:t>AI</a:t>
            </a:r>
          </a:p>
        </p:txBody>
      </p:sp>
      <p:sp>
        <p:nvSpPr>
          <p:cNvPr id="31" name="Rectangle 30">
            <a:extLst>
              <a:ext uri="{FF2B5EF4-FFF2-40B4-BE49-F238E27FC236}">
                <a16:creationId xmlns:a16="http://schemas.microsoft.com/office/drawing/2014/main" id="{CA85B1EA-79ED-40EE-93F1-2A3A865EFFF7}"/>
              </a:ext>
            </a:extLst>
          </p:cNvPr>
          <p:cNvSpPr>
            <a:spLocks noGrp="1"/>
          </p:cNvSpPr>
          <p:nvPr/>
        </p:nvSpPr>
        <p:spPr>
          <a:xfrm>
            <a:off x="4552950" y="3238500"/>
            <a:ext cx="3086100" cy="190500"/>
          </a:xfrm>
          <a:prstGeom prst="rect">
            <a:avLst/>
          </a:prstGeom>
          <a:noFill/>
          <a:ln w="0">
            <a:noFill/>
          </a:ln>
        </p:spPr>
        <p:txBody>
          <a:bodyPr wrap="square" lIns="0" tIns="0" rIns="0" bIns="0" anchor="t">
            <a:normAutofit/>
          </a:bodyPr>
          <a:lstStyle/>
          <a:p>
            <a:pPr algn="ctr">
              <a:defRPr sz="1050" b="0" i="0">
                <a:solidFill>
                  <a:srgbClr val="B9C7D9"/>
                </a:solidFill>
                <a:latin typeface="DejaVu Sans"/>
                <a:ea typeface="DejaVu Sans"/>
                <a:cs typeface="DejaVu Sans"/>
              </a:defRPr>
            </a:pPr>
            <a:r>
              <a:rPr sz="1050" b="0" i="0">
                <a:solidFill>
                  <a:srgbClr val="B9C7D9"/>
                </a:solidFill>
                <a:latin typeface="DejaVu Sans"/>
                <a:ea typeface="DejaVu Sans"/>
                <a:cs typeface="DejaVu Sans"/>
              </a:rPr>
              <a:t>reads and creates artifacts</a:t>
            </a:r>
          </a:p>
        </p:txBody>
      </p:sp>
      <p:sp>
        <p:nvSpPr>
          <p:cNvPr id="32" name="Rectangle: Rounded Corners 31">
            <a:extLst>
              <a:ext uri="{FF2B5EF4-FFF2-40B4-BE49-F238E27FC236}">
                <a16:creationId xmlns:a16="http://schemas.microsoft.com/office/drawing/2014/main" id="{B2EC5887-FD1E-4168-8671-62A433A0A55C}"/>
              </a:ext>
            </a:extLst>
          </p:cNvPr>
          <p:cNvSpPr>
            <a:spLocks noGrp="1"/>
          </p:cNvSpPr>
          <p:nvPr/>
        </p:nvSpPr>
        <p:spPr>
          <a:xfrm>
            <a:off x="685800" y="1676400"/>
            <a:ext cx="76200" cy="2895600"/>
          </a:xfrm>
          <a:prstGeom prst="roundRect">
            <a:avLst>
              <a:gd name="adj" fmla="val 50000"/>
            </a:avLst>
          </a:prstGeom>
          <a:solidFill>
            <a:srgbClr val="19C3D2"/>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972D9B6B-5AF4-4540-94C2-142AE07191CC}"/>
              </a:ext>
            </a:extLst>
          </p:cNvPr>
          <p:cNvSpPr>
            <a:spLocks noGrp="1"/>
          </p:cNvSpPr>
          <p:nvPr/>
        </p:nvSpPr>
        <p:spPr>
          <a:xfrm>
            <a:off x="914400" y="1714500"/>
            <a:ext cx="1428750" cy="285750"/>
          </a:xfrm>
          <a:prstGeom prst="rect">
            <a:avLst/>
          </a:prstGeom>
          <a:noFill/>
          <a:ln w="0">
            <a:noFill/>
          </a:ln>
        </p:spPr>
        <p:txBody>
          <a:bodyPr wrap="square" lIns="0" tIns="0" rIns="0" bIns="0" anchor="t">
            <a:normAutofit/>
          </a:bodyPr>
          <a:lstStyle/>
          <a:p>
            <a:pPr algn="l">
              <a:defRPr sz="1725" b="1" i="0">
                <a:solidFill>
                  <a:srgbClr val="FFFFFF"/>
                </a:solidFill>
                <a:latin typeface="DejaVu Sans"/>
                <a:ea typeface="DejaVu Sans"/>
                <a:cs typeface="DejaVu Sans"/>
              </a:defRPr>
            </a:pPr>
            <a:r>
              <a:rPr sz="1725" b="1" i="0">
                <a:solidFill>
                  <a:srgbClr val="FFFFFF"/>
                </a:solidFill>
                <a:latin typeface="DejaVu Sans"/>
                <a:ea typeface="DejaVu Sans"/>
                <a:cs typeface="DejaVu Sans"/>
              </a:rPr>
              <a:t>Humans</a:t>
            </a:r>
          </a:p>
        </p:txBody>
      </p:sp>
      <p:sp>
        <p:nvSpPr>
          <p:cNvPr id="34" name="Rectangle 33">
            <a:extLst>
              <a:ext uri="{FF2B5EF4-FFF2-40B4-BE49-F238E27FC236}">
                <a16:creationId xmlns:a16="http://schemas.microsoft.com/office/drawing/2014/main" id="{359EB1F7-F3DA-4D59-8862-C597233C392B}"/>
              </a:ext>
            </a:extLst>
          </p:cNvPr>
          <p:cNvSpPr>
            <a:spLocks noGrp="1"/>
          </p:cNvSpPr>
          <p:nvPr/>
        </p:nvSpPr>
        <p:spPr>
          <a:xfrm>
            <a:off x="914400" y="2209800"/>
            <a:ext cx="1714500" cy="1371600"/>
          </a:xfrm>
          <a:prstGeom prst="rect">
            <a:avLst/>
          </a:prstGeom>
          <a:noFill/>
          <a:ln w="0">
            <a:noFill/>
          </a:ln>
        </p:spPr>
        <p:txBody>
          <a:bodyPr wrap="square" lIns="0" tIns="0" rIns="0" bIns="0" anchor="t">
            <a:normAutofit/>
          </a:bodyPr>
          <a:lstStyle/>
          <a:p>
            <a:pPr algn="l">
              <a:defRPr sz="1350" b="0" i="0">
                <a:solidFill>
                  <a:srgbClr val="C4D1E3"/>
                </a:solidFill>
                <a:latin typeface="DejaVu Sans"/>
                <a:ea typeface="DejaVu Sans"/>
                <a:cs typeface="DejaVu Sans"/>
              </a:defRPr>
            </a:pPr>
            <a:r>
              <a:rPr sz="1350" b="0" i="0">
                <a:solidFill>
                  <a:srgbClr val="C4D1E3"/>
                </a:solidFill>
                <a:latin typeface="DejaVu Sans"/>
                <a:ea typeface="DejaVu Sans"/>
                <a:cs typeface="DejaVu Sans"/>
              </a:rPr>
              <a:t>Start the work</a:t>
            </a:r>
          </a:p>
          <a:p>
            <a:pPr algn="l">
              <a:defRPr sz="1350" b="0" i="0">
                <a:solidFill>
                  <a:srgbClr val="C4D1E3"/>
                </a:solidFill>
                <a:latin typeface="DejaVu Sans"/>
                <a:ea typeface="DejaVu Sans"/>
                <a:cs typeface="DejaVu Sans"/>
              </a:defRPr>
            </a:pPr>
            <a:r>
              <a:rPr sz="1350" b="0" i="0">
                <a:solidFill>
                  <a:srgbClr val="C4D1E3"/>
                </a:solidFill>
                <a:latin typeface="DejaVu Sans"/>
                <a:ea typeface="DejaVu Sans"/>
                <a:cs typeface="DejaVu Sans"/>
              </a:rPr>
              <a:t>Give direction</a:t>
            </a:r>
          </a:p>
          <a:p>
            <a:pPr algn="l">
              <a:defRPr sz="1350" b="0" i="0">
                <a:solidFill>
                  <a:srgbClr val="C4D1E3"/>
                </a:solidFill>
                <a:latin typeface="DejaVu Sans"/>
                <a:ea typeface="DejaVu Sans"/>
                <a:cs typeface="DejaVu Sans"/>
              </a:defRPr>
            </a:pPr>
            <a:r>
              <a:rPr sz="1350" b="0" i="0">
                <a:solidFill>
                  <a:srgbClr val="C4D1E3"/>
                </a:solidFill>
                <a:latin typeface="DejaVu Sans"/>
                <a:ea typeface="DejaVu Sans"/>
                <a:cs typeface="DejaVu Sans"/>
              </a:rPr>
              <a:t>Approve risk</a:t>
            </a:r>
          </a:p>
          <a:p>
            <a:pPr algn="l">
              <a:defRPr sz="1350" b="0" i="0">
                <a:solidFill>
                  <a:srgbClr val="C4D1E3"/>
                </a:solidFill>
                <a:latin typeface="DejaVu Sans"/>
                <a:ea typeface="DejaVu Sans"/>
                <a:cs typeface="DejaVu Sans"/>
              </a:defRPr>
            </a:pPr>
            <a:r>
              <a:rPr sz="1350" b="0" i="0">
                <a:solidFill>
                  <a:srgbClr val="C4D1E3"/>
                </a:solidFill>
                <a:latin typeface="DejaVu Sans"/>
                <a:ea typeface="DejaVu Sans"/>
                <a:cs typeface="DejaVu Sans"/>
              </a:rPr>
              <a:t>Own the result</a:t>
            </a:r>
          </a:p>
        </p:txBody>
      </p:sp>
      <p:sp>
        <p:nvSpPr>
          <p:cNvPr id="35" name="Rectangle 34">
            <a:extLst>
              <a:ext uri="{FF2B5EF4-FFF2-40B4-BE49-F238E27FC236}">
                <a16:creationId xmlns:a16="http://schemas.microsoft.com/office/drawing/2014/main" id="{20AFC72B-7C3E-48EE-808E-5DE711FA144C}"/>
              </a:ext>
            </a:extLst>
          </p:cNvPr>
          <p:cNvSpPr>
            <a:spLocks noGrp="1"/>
          </p:cNvSpPr>
          <p:nvPr/>
        </p:nvSpPr>
        <p:spPr>
          <a:xfrm>
            <a:off x="685800" y="5429250"/>
            <a:ext cx="10820400" cy="304800"/>
          </a:xfrm>
          <a:prstGeom prst="rect">
            <a:avLst/>
          </a:prstGeom>
          <a:noFill/>
          <a:ln w="0">
            <a:noFill/>
          </a:ln>
        </p:spPr>
        <p:txBody>
          <a:bodyPr wrap="square" lIns="0" tIns="0" rIns="0" bIns="0" anchor="t">
            <a:normAutofit/>
          </a:bodyPr>
          <a:lstStyle/>
          <a:p>
            <a:pPr algn="ctr">
              <a:defRPr sz="1425" b="1" i="0">
                <a:solidFill>
                  <a:srgbClr val="FFFFFF"/>
                </a:solidFill>
                <a:latin typeface="DejaVu Sans"/>
                <a:ea typeface="DejaVu Sans"/>
                <a:cs typeface="DejaVu Sans"/>
              </a:defRPr>
            </a:pPr>
            <a:r>
              <a:rPr sz="1425" b="1" i="0">
                <a:solidFill>
                  <a:srgbClr val="FFFFFF"/>
                </a:solidFill>
                <a:latin typeface="DejaVu Sans"/>
                <a:ea typeface="DejaVu Sans"/>
                <a:cs typeface="DejaVu Sans"/>
              </a:rPr>
              <a:t>AI can do more work. Humans still make decisions that need judgment.</a:t>
            </a:r>
          </a:p>
        </p:txBody>
      </p:sp>
    </p:spTree>
    <p:extLst>
      <p:ext uri="{BB962C8B-B14F-4D97-AF65-F5344CB8AC3E}">
        <p14:creationId xmlns:p14="http://schemas.microsoft.com/office/powerpoint/2010/main" val="436521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29C372F1-4C82-4A28-BD4D-D06D61441251}"/>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EACH STAGE SAVES ITS RESULT</a:t>
            </a:r>
          </a:p>
        </p:txBody>
      </p:sp>
      <p:sp>
        <p:nvSpPr>
          <p:cNvPr id="2" name="Rectangle 1">
            <a:extLst>
              <a:ext uri="{FF2B5EF4-FFF2-40B4-BE49-F238E27FC236}">
                <a16:creationId xmlns:a16="http://schemas.microsoft.com/office/drawing/2014/main" id="{1D930234-F860-4636-99CA-43946CB712DC}"/>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Artifacts connect the stages</a:t>
            </a:r>
          </a:p>
        </p:txBody>
      </p:sp>
      <p:sp>
        <p:nvSpPr>
          <p:cNvPr id="3" name="Rectangle 2">
            <a:extLst>
              <a:ext uri="{FF2B5EF4-FFF2-40B4-BE49-F238E27FC236}">
                <a16:creationId xmlns:a16="http://schemas.microsoft.com/office/drawing/2014/main" id="{090A96F9-3582-4813-ACF4-F722131E2157}"/>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E079A4A2-BE37-4AC6-9A30-AEC8B5AA5B08}"/>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07</a:t>
            </a:r>
          </a:p>
        </p:txBody>
      </p:sp>
      <p:sp>
        <p:nvSpPr>
          <p:cNvPr id="5" name="Rectangle 4">
            <a:extLst>
              <a:ext uri="{FF2B5EF4-FFF2-40B4-BE49-F238E27FC236}">
                <a16:creationId xmlns:a16="http://schemas.microsoft.com/office/drawing/2014/main" id="{EAD48258-03E5-4A36-921A-837CA846C818}"/>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462A2453-9BC2-4C85-ACA2-88BDA49D8924}"/>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7373664E-7BF9-4CE1-8DD2-ACE77D6139EC}"/>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98B05AEB-2ADD-4CC8-9B0E-8BDD718BF3E1}"/>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A391F566-85C0-451B-9956-6F4F184ABFEE}"/>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23CC7C4-5847-4FF5-B7E3-CE0679F9A73D}"/>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7ED61D12-6229-4665-B243-EABB360CBB3E}"/>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2998DCB8-FAE5-455E-88A0-5D7E0C6D9486}"/>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E733ACFC-BEEF-444B-8713-0B0DF0328CD3}"/>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45464D29-3302-47DF-982D-4F8304CC2380}"/>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0A037A39-0241-4E2A-BDF2-EE4D583FCC21}"/>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83EB727F-FA53-4E88-B7E6-ABE8F406B6D8}"/>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F50AB6A1-7883-46C4-A747-5107626D7B5F}"/>
              </a:ext>
            </a:extLst>
          </p:cNvPr>
          <p:cNvSpPr>
            <a:spLocks noGrp="1"/>
          </p:cNvSpPr>
          <p:nvPr/>
        </p:nvSpPr>
        <p:spPr>
          <a:xfrm>
            <a:off x="685800" y="1714500"/>
            <a:ext cx="1524000" cy="1428750"/>
          </a:xfrm>
          <a:prstGeom prst="roundRect">
            <a:avLst>
              <a:gd name="adj" fmla="val 12000"/>
            </a:avLst>
          </a:prstGeom>
          <a:solidFill>
            <a:srgbClr val="FFFFFF"/>
          </a:solidFill>
          <a:ln w="9525">
            <a:solidFill>
              <a:srgbClr val="D8DEE9"/>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66F8AF8D-563D-421E-9AD2-D4F77A0B9815}"/>
              </a:ext>
            </a:extLst>
          </p:cNvPr>
          <p:cNvSpPr>
            <a:spLocks noGrp="1"/>
          </p:cNvSpPr>
          <p:nvPr/>
        </p:nvSpPr>
        <p:spPr>
          <a:xfrm>
            <a:off x="685800" y="1714500"/>
            <a:ext cx="1524000" cy="95250"/>
          </a:xfrm>
          <a:prstGeom prst="roundRect">
            <a:avLst>
              <a:gd name="adj" fmla="val 50000"/>
            </a:avLst>
          </a:prstGeom>
          <a:solidFill>
            <a:srgbClr val="FF806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9934C04F-0AEF-400B-9BAC-45C8B6EB1E73}"/>
              </a:ext>
            </a:extLst>
          </p:cNvPr>
          <p:cNvSpPr>
            <a:spLocks noGrp="1"/>
          </p:cNvSpPr>
          <p:nvPr/>
        </p:nvSpPr>
        <p:spPr>
          <a:xfrm>
            <a:off x="762000" y="2114550"/>
            <a:ext cx="1371600" cy="247650"/>
          </a:xfrm>
          <a:prstGeom prst="rect">
            <a:avLst/>
          </a:prstGeom>
          <a:noFill/>
          <a:ln w="0">
            <a:noFill/>
          </a:ln>
        </p:spPr>
        <p:txBody>
          <a:bodyPr wrap="square" lIns="0" tIns="0" rIns="0" bIns="0" anchor="t">
            <a:normAutofit/>
          </a:bodyPr>
          <a:lstStyle/>
          <a:p>
            <a:pPr algn="ctr">
              <a:defRPr sz="1200" b="1" i="0">
                <a:solidFill>
                  <a:srgbClr val="111827"/>
                </a:solidFill>
                <a:latin typeface="DejaVu Sans Mono"/>
                <a:ea typeface="DejaVu Sans Mono"/>
                <a:cs typeface="DejaVu Sans Mono"/>
              </a:defRPr>
            </a:pPr>
            <a:r>
              <a:rPr sz="1200" b="1" i="0">
                <a:solidFill>
                  <a:srgbClr val="111827"/>
                </a:solidFill>
                <a:latin typeface="DejaVu Sans Mono"/>
                <a:ea typeface="DejaVu Sans Mono"/>
                <a:cs typeface="DejaVu Sans Mono"/>
              </a:rPr>
              <a:t>intent.md</a:t>
            </a:r>
          </a:p>
        </p:txBody>
      </p:sp>
      <p:sp>
        <p:nvSpPr>
          <p:cNvPr id="20" name="Rectangle 19">
            <a:extLst>
              <a:ext uri="{FF2B5EF4-FFF2-40B4-BE49-F238E27FC236}">
                <a16:creationId xmlns:a16="http://schemas.microsoft.com/office/drawing/2014/main" id="{8E44A202-DEDA-4E78-8E19-F493FDE8A970}"/>
              </a:ext>
            </a:extLst>
          </p:cNvPr>
          <p:cNvSpPr>
            <a:spLocks noGrp="1"/>
          </p:cNvSpPr>
          <p:nvPr/>
        </p:nvSpPr>
        <p:spPr>
          <a:xfrm>
            <a:off x="800100" y="2609850"/>
            <a:ext cx="1295400" cy="228600"/>
          </a:xfrm>
          <a:prstGeom prst="rect">
            <a:avLst/>
          </a:prstGeom>
          <a:noFill/>
          <a:ln w="0">
            <a:noFill/>
          </a:ln>
        </p:spPr>
        <p:txBody>
          <a:bodyPr wrap="square" lIns="0" tIns="0" rIns="0" bIns="0" anchor="t">
            <a:normAutofit/>
          </a:bodyPr>
          <a:lstStyle/>
          <a:p>
            <a:pPr algn="ctr">
              <a:defRPr sz="975" b="0" i="0">
                <a:solidFill>
                  <a:srgbClr val="475569"/>
                </a:solidFill>
                <a:latin typeface="DejaVu Sans"/>
                <a:ea typeface="DejaVu Sans"/>
                <a:cs typeface="DejaVu Sans"/>
              </a:defRPr>
            </a:pPr>
            <a:r>
              <a:rPr sz="975" b="0" i="0">
                <a:solidFill>
                  <a:srgbClr val="475569"/>
                </a:solidFill>
                <a:latin typeface="DejaVu Sans"/>
                <a:ea typeface="DejaVu Sans"/>
                <a:cs typeface="DejaVu Sans"/>
              </a:rPr>
              <a:t>What we want</a:t>
            </a:r>
          </a:p>
        </p:txBody>
      </p:sp>
      <p:sp>
        <p:nvSpPr>
          <p:cNvPr id="21" name="Arrow: Right 20">
            <a:extLst>
              <a:ext uri="{FF2B5EF4-FFF2-40B4-BE49-F238E27FC236}">
                <a16:creationId xmlns:a16="http://schemas.microsoft.com/office/drawing/2014/main" id="{2721BA6C-C034-4D9A-BDB7-7C5E15D00092}"/>
              </a:ext>
            </a:extLst>
          </p:cNvPr>
          <p:cNvSpPr>
            <a:spLocks noGrp="1"/>
          </p:cNvSpPr>
          <p:nvPr/>
        </p:nvSpPr>
        <p:spPr>
          <a:xfrm>
            <a:off x="2247900" y="2305050"/>
            <a:ext cx="190500" cy="247650"/>
          </a:xfrm>
          <a:prstGeom prst="rightArrow">
            <a:avLst/>
          </a:prstGeom>
          <a:solidFill>
            <a:srgbClr val="A5AFC0"/>
          </a:solidFill>
          <a:ln w="0">
            <a:noFill/>
          </a:ln>
        </p:spPr>
        <p:txBody>
          <a:bodyPr/>
          <a:lstStyle/>
          <a:p>
            <a:endParaRPr lang="en-US"/>
          </a:p>
        </p:txBody>
      </p:sp>
      <p:sp>
        <p:nvSpPr>
          <p:cNvPr id="22" name="Rectangle: Rounded Corners 21">
            <a:extLst>
              <a:ext uri="{FF2B5EF4-FFF2-40B4-BE49-F238E27FC236}">
                <a16:creationId xmlns:a16="http://schemas.microsoft.com/office/drawing/2014/main" id="{5FD550FC-9B87-4FC7-9C69-6F42647BF160}"/>
              </a:ext>
            </a:extLst>
          </p:cNvPr>
          <p:cNvSpPr>
            <a:spLocks noGrp="1"/>
          </p:cNvSpPr>
          <p:nvPr/>
        </p:nvSpPr>
        <p:spPr>
          <a:xfrm>
            <a:off x="2486025" y="1714500"/>
            <a:ext cx="1524000" cy="1428750"/>
          </a:xfrm>
          <a:prstGeom prst="roundRect">
            <a:avLst>
              <a:gd name="adj" fmla="val 12000"/>
            </a:avLst>
          </a:prstGeom>
          <a:solidFill>
            <a:srgbClr val="FFFFFF"/>
          </a:solidFill>
          <a:ln w="9525">
            <a:solidFill>
              <a:srgbClr val="D8DEE9"/>
            </a:solidFill>
            <a:prstDash val="solid"/>
          </a:ln>
        </p:spPr>
        <p:txBody>
          <a:bodyPr/>
          <a:lstStyle/>
          <a:p>
            <a:endParaRPr lang="en-US"/>
          </a:p>
        </p:txBody>
      </p:sp>
      <p:sp>
        <p:nvSpPr>
          <p:cNvPr id="23" name="Rectangle: Rounded Corners 22">
            <a:extLst>
              <a:ext uri="{FF2B5EF4-FFF2-40B4-BE49-F238E27FC236}">
                <a16:creationId xmlns:a16="http://schemas.microsoft.com/office/drawing/2014/main" id="{64569762-8ADC-4F4F-B2D8-D325A02FA74D}"/>
              </a:ext>
            </a:extLst>
          </p:cNvPr>
          <p:cNvSpPr>
            <a:spLocks noGrp="1"/>
          </p:cNvSpPr>
          <p:nvPr/>
        </p:nvSpPr>
        <p:spPr>
          <a:xfrm>
            <a:off x="2486025" y="1714500"/>
            <a:ext cx="1524000" cy="95250"/>
          </a:xfrm>
          <a:prstGeom prst="roundRect">
            <a:avLst>
              <a:gd name="adj" fmla="val 50000"/>
            </a:avLst>
          </a:prstGeom>
          <a:solidFill>
            <a:srgbClr val="F2A93B"/>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E906706A-E4F0-4559-AC9F-2ED657A2660D}"/>
              </a:ext>
            </a:extLst>
          </p:cNvPr>
          <p:cNvSpPr>
            <a:spLocks noGrp="1"/>
          </p:cNvSpPr>
          <p:nvPr/>
        </p:nvSpPr>
        <p:spPr>
          <a:xfrm>
            <a:off x="2562225" y="2114550"/>
            <a:ext cx="1371600" cy="247650"/>
          </a:xfrm>
          <a:prstGeom prst="rect">
            <a:avLst/>
          </a:prstGeom>
          <a:noFill/>
          <a:ln w="0">
            <a:noFill/>
          </a:ln>
        </p:spPr>
        <p:txBody>
          <a:bodyPr wrap="square" lIns="0" tIns="0" rIns="0" bIns="0" anchor="t">
            <a:normAutofit/>
          </a:bodyPr>
          <a:lstStyle/>
          <a:p>
            <a:pPr algn="ctr">
              <a:defRPr sz="1200" b="1" i="0">
                <a:solidFill>
                  <a:srgbClr val="111827"/>
                </a:solidFill>
                <a:latin typeface="DejaVu Sans Mono"/>
                <a:ea typeface="DejaVu Sans Mono"/>
                <a:cs typeface="DejaVu Sans Mono"/>
              </a:defRPr>
            </a:pPr>
            <a:r>
              <a:rPr sz="1200" b="1" i="0">
                <a:solidFill>
                  <a:srgbClr val="111827"/>
                </a:solidFill>
                <a:latin typeface="DejaVu Sans Mono"/>
                <a:ea typeface="DejaVu Sans Mono"/>
                <a:cs typeface="DejaVu Sans Mono"/>
              </a:rPr>
              <a:t>spec.md</a:t>
            </a:r>
          </a:p>
        </p:txBody>
      </p:sp>
      <p:sp>
        <p:nvSpPr>
          <p:cNvPr id="25" name="Rectangle 24">
            <a:extLst>
              <a:ext uri="{FF2B5EF4-FFF2-40B4-BE49-F238E27FC236}">
                <a16:creationId xmlns:a16="http://schemas.microsoft.com/office/drawing/2014/main" id="{D1156D44-FAA4-462E-B3FE-A99B620CB75D}"/>
              </a:ext>
            </a:extLst>
          </p:cNvPr>
          <p:cNvSpPr>
            <a:spLocks noGrp="1"/>
          </p:cNvSpPr>
          <p:nvPr/>
        </p:nvSpPr>
        <p:spPr>
          <a:xfrm>
            <a:off x="2600325" y="2609850"/>
            <a:ext cx="1295400" cy="228600"/>
          </a:xfrm>
          <a:prstGeom prst="rect">
            <a:avLst/>
          </a:prstGeom>
          <a:noFill/>
          <a:ln w="0">
            <a:noFill/>
          </a:ln>
        </p:spPr>
        <p:txBody>
          <a:bodyPr wrap="square" lIns="0" tIns="0" rIns="0" bIns="0" anchor="t">
            <a:normAutofit/>
          </a:bodyPr>
          <a:lstStyle/>
          <a:p>
            <a:pPr algn="ctr">
              <a:defRPr sz="975" b="0" i="0">
                <a:solidFill>
                  <a:srgbClr val="475569"/>
                </a:solidFill>
                <a:latin typeface="DejaVu Sans"/>
                <a:ea typeface="DejaVu Sans"/>
                <a:cs typeface="DejaVu Sans"/>
              </a:defRPr>
            </a:pPr>
            <a:r>
              <a:rPr sz="975" b="0" i="0">
                <a:solidFill>
                  <a:srgbClr val="475569"/>
                </a:solidFill>
                <a:latin typeface="DejaVu Sans"/>
                <a:ea typeface="DejaVu Sans"/>
                <a:cs typeface="DejaVu Sans"/>
              </a:rPr>
              <a:t>What to design</a:t>
            </a:r>
          </a:p>
        </p:txBody>
      </p:sp>
      <p:sp>
        <p:nvSpPr>
          <p:cNvPr id="26" name="Arrow: Right 25">
            <a:extLst>
              <a:ext uri="{FF2B5EF4-FFF2-40B4-BE49-F238E27FC236}">
                <a16:creationId xmlns:a16="http://schemas.microsoft.com/office/drawing/2014/main" id="{FE5E091B-B16D-40E9-8104-714F79FE35D6}"/>
              </a:ext>
            </a:extLst>
          </p:cNvPr>
          <p:cNvSpPr>
            <a:spLocks noGrp="1"/>
          </p:cNvSpPr>
          <p:nvPr/>
        </p:nvSpPr>
        <p:spPr>
          <a:xfrm>
            <a:off x="4048125" y="2305050"/>
            <a:ext cx="190500" cy="247650"/>
          </a:xfrm>
          <a:prstGeom prst="rightArrow">
            <a:avLst/>
          </a:prstGeom>
          <a:solidFill>
            <a:srgbClr val="A5AFC0"/>
          </a:solidFill>
          <a:ln w="0">
            <a:noFill/>
          </a:ln>
        </p:spPr>
        <p:txBody>
          <a:bodyPr/>
          <a:lstStyle/>
          <a:p>
            <a:endParaRPr lang="en-US"/>
          </a:p>
        </p:txBody>
      </p:sp>
      <p:sp>
        <p:nvSpPr>
          <p:cNvPr id="27" name="Rectangle: Rounded Corners 26">
            <a:extLst>
              <a:ext uri="{FF2B5EF4-FFF2-40B4-BE49-F238E27FC236}">
                <a16:creationId xmlns:a16="http://schemas.microsoft.com/office/drawing/2014/main" id="{E868195E-76B2-4F13-80FD-0E998AA47345}"/>
              </a:ext>
            </a:extLst>
          </p:cNvPr>
          <p:cNvSpPr>
            <a:spLocks noGrp="1"/>
          </p:cNvSpPr>
          <p:nvPr/>
        </p:nvSpPr>
        <p:spPr>
          <a:xfrm>
            <a:off x="4286250" y="1714500"/>
            <a:ext cx="1524000" cy="1428750"/>
          </a:xfrm>
          <a:prstGeom prst="roundRect">
            <a:avLst>
              <a:gd name="adj" fmla="val 12000"/>
            </a:avLst>
          </a:prstGeom>
          <a:solidFill>
            <a:srgbClr val="FFFFFF"/>
          </a:solidFill>
          <a:ln w="9525">
            <a:solidFill>
              <a:srgbClr val="D8DEE9"/>
            </a:solidFill>
            <a:prstDash val="solid"/>
          </a:ln>
        </p:spPr>
        <p:txBody>
          <a:bodyPr/>
          <a:lstStyle/>
          <a:p>
            <a:endParaRPr lang="en-US"/>
          </a:p>
        </p:txBody>
      </p:sp>
      <p:sp>
        <p:nvSpPr>
          <p:cNvPr id="28" name="Rectangle: Rounded Corners 27">
            <a:extLst>
              <a:ext uri="{FF2B5EF4-FFF2-40B4-BE49-F238E27FC236}">
                <a16:creationId xmlns:a16="http://schemas.microsoft.com/office/drawing/2014/main" id="{BB170A56-D245-4076-8653-FB28DE957FC9}"/>
              </a:ext>
            </a:extLst>
          </p:cNvPr>
          <p:cNvSpPr>
            <a:spLocks noGrp="1"/>
          </p:cNvSpPr>
          <p:nvPr/>
        </p:nvSpPr>
        <p:spPr>
          <a:xfrm>
            <a:off x="4286250" y="1714500"/>
            <a:ext cx="1524000" cy="95250"/>
          </a:xfrm>
          <a:prstGeom prst="roundRect">
            <a:avLst>
              <a:gd name="adj" fmla="val 50000"/>
            </a:avLst>
          </a:prstGeom>
          <a:solidFill>
            <a:srgbClr val="7457E8"/>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0D6EA9ED-78A2-4AFC-B550-C585CEF71646}"/>
              </a:ext>
            </a:extLst>
          </p:cNvPr>
          <p:cNvSpPr>
            <a:spLocks noGrp="1"/>
          </p:cNvSpPr>
          <p:nvPr/>
        </p:nvSpPr>
        <p:spPr>
          <a:xfrm>
            <a:off x="4362450" y="2114550"/>
            <a:ext cx="1371600" cy="247650"/>
          </a:xfrm>
          <a:prstGeom prst="rect">
            <a:avLst/>
          </a:prstGeom>
          <a:noFill/>
          <a:ln w="0">
            <a:noFill/>
          </a:ln>
        </p:spPr>
        <p:txBody>
          <a:bodyPr wrap="square" lIns="0" tIns="0" rIns="0" bIns="0" anchor="t">
            <a:normAutofit/>
          </a:bodyPr>
          <a:lstStyle/>
          <a:p>
            <a:pPr algn="ctr">
              <a:defRPr sz="1200" b="1" i="0">
                <a:solidFill>
                  <a:srgbClr val="111827"/>
                </a:solidFill>
                <a:latin typeface="DejaVu Sans Mono"/>
                <a:ea typeface="DejaVu Sans Mono"/>
                <a:cs typeface="DejaVu Sans Mono"/>
              </a:defRPr>
            </a:pPr>
            <a:r>
              <a:rPr sz="1200" b="1" i="0">
                <a:solidFill>
                  <a:srgbClr val="111827"/>
                </a:solidFill>
                <a:latin typeface="DejaVu Sans Mono"/>
                <a:ea typeface="DejaVu Sans Mono"/>
                <a:cs typeface="DejaVu Sans Mono"/>
              </a:rPr>
              <a:t>plan.md</a:t>
            </a:r>
          </a:p>
        </p:txBody>
      </p:sp>
      <p:sp>
        <p:nvSpPr>
          <p:cNvPr id="30" name="Rectangle 29">
            <a:extLst>
              <a:ext uri="{FF2B5EF4-FFF2-40B4-BE49-F238E27FC236}">
                <a16:creationId xmlns:a16="http://schemas.microsoft.com/office/drawing/2014/main" id="{F79F6347-C4D4-4E89-A7DC-85563500CFB8}"/>
              </a:ext>
            </a:extLst>
          </p:cNvPr>
          <p:cNvSpPr>
            <a:spLocks noGrp="1"/>
          </p:cNvSpPr>
          <p:nvPr/>
        </p:nvSpPr>
        <p:spPr>
          <a:xfrm>
            <a:off x="4400550" y="2609850"/>
            <a:ext cx="1295400" cy="228600"/>
          </a:xfrm>
          <a:prstGeom prst="rect">
            <a:avLst/>
          </a:prstGeom>
          <a:noFill/>
          <a:ln w="0">
            <a:noFill/>
          </a:ln>
        </p:spPr>
        <p:txBody>
          <a:bodyPr wrap="square" lIns="0" tIns="0" rIns="0" bIns="0" anchor="t">
            <a:normAutofit/>
          </a:bodyPr>
          <a:lstStyle/>
          <a:p>
            <a:pPr algn="ctr">
              <a:defRPr sz="975" b="0" i="0">
                <a:solidFill>
                  <a:srgbClr val="475569"/>
                </a:solidFill>
                <a:latin typeface="DejaVu Sans"/>
                <a:ea typeface="DejaVu Sans"/>
                <a:cs typeface="DejaVu Sans"/>
              </a:defRPr>
            </a:pPr>
            <a:r>
              <a:rPr sz="975" b="0" i="0">
                <a:solidFill>
                  <a:srgbClr val="475569"/>
                </a:solidFill>
                <a:latin typeface="DejaVu Sans"/>
                <a:ea typeface="DejaVu Sans"/>
                <a:cs typeface="DejaVu Sans"/>
              </a:rPr>
              <a:t>How to build</a:t>
            </a:r>
          </a:p>
        </p:txBody>
      </p:sp>
      <p:sp>
        <p:nvSpPr>
          <p:cNvPr id="31" name="Arrow: Right 30">
            <a:extLst>
              <a:ext uri="{FF2B5EF4-FFF2-40B4-BE49-F238E27FC236}">
                <a16:creationId xmlns:a16="http://schemas.microsoft.com/office/drawing/2014/main" id="{8C30273A-A53C-4E43-9C1F-E5BD54C4951D}"/>
              </a:ext>
            </a:extLst>
          </p:cNvPr>
          <p:cNvSpPr>
            <a:spLocks noGrp="1"/>
          </p:cNvSpPr>
          <p:nvPr/>
        </p:nvSpPr>
        <p:spPr>
          <a:xfrm>
            <a:off x="5848350" y="2305050"/>
            <a:ext cx="190500" cy="247650"/>
          </a:xfrm>
          <a:prstGeom prst="rightArrow">
            <a:avLst/>
          </a:prstGeom>
          <a:solidFill>
            <a:srgbClr val="A5AFC0"/>
          </a:solidFill>
          <a:ln w="0">
            <a:noFill/>
          </a:ln>
        </p:spPr>
        <p:txBody>
          <a:bodyPr/>
          <a:lstStyle/>
          <a:p>
            <a:endParaRPr lang="en-US"/>
          </a:p>
        </p:txBody>
      </p:sp>
      <p:sp>
        <p:nvSpPr>
          <p:cNvPr id="32" name="Rectangle: Rounded Corners 31">
            <a:extLst>
              <a:ext uri="{FF2B5EF4-FFF2-40B4-BE49-F238E27FC236}">
                <a16:creationId xmlns:a16="http://schemas.microsoft.com/office/drawing/2014/main" id="{000B9BDA-82F2-470F-A73A-86D174CBA273}"/>
              </a:ext>
            </a:extLst>
          </p:cNvPr>
          <p:cNvSpPr>
            <a:spLocks noGrp="1"/>
          </p:cNvSpPr>
          <p:nvPr/>
        </p:nvSpPr>
        <p:spPr>
          <a:xfrm>
            <a:off x="6086475" y="1714500"/>
            <a:ext cx="1524000" cy="1428750"/>
          </a:xfrm>
          <a:prstGeom prst="roundRect">
            <a:avLst>
              <a:gd name="adj" fmla="val 12000"/>
            </a:avLst>
          </a:prstGeom>
          <a:solidFill>
            <a:srgbClr val="FFFFFF"/>
          </a:solidFill>
          <a:ln w="9525">
            <a:solidFill>
              <a:srgbClr val="D8DEE9"/>
            </a:solidFill>
            <a:prstDash val="solid"/>
          </a:ln>
        </p:spPr>
        <p:txBody>
          <a:bodyPr/>
          <a:lstStyle/>
          <a:p>
            <a:endParaRPr lang="en-US"/>
          </a:p>
        </p:txBody>
      </p:sp>
      <p:sp>
        <p:nvSpPr>
          <p:cNvPr id="33" name="Rectangle: Rounded Corners 32">
            <a:extLst>
              <a:ext uri="{FF2B5EF4-FFF2-40B4-BE49-F238E27FC236}">
                <a16:creationId xmlns:a16="http://schemas.microsoft.com/office/drawing/2014/main" id="{A22C46A3-9FBB-47CA-B40A-CFF5255A5627}"/>
              </a:ext>
            </a:extLst>
          </p:cNvPr>
          <p:cNvSpPr>
            <a:spLocks noGrp="1"/>
          </p:cNvSpPr>
          <p:nvPr/>
        </p:nvSpPr>
        <p:spPr>
          <a:xfrm>
            <a:off x="6086475" y="1714500"/>
            <a:ext cx="1524000" cy="95250"/>
          </a:xfrm>
          <a:prstGeom prst="roundRect">
            <a:avLst>
              <a:gd name="adj" fmla="val 50000"/>
            </a:avLst>
          </a:prstGeom>
          <a:solidFill>
            <a:srgbClr val="19C3D2"/>
          </a:solidFill>
          <a:ln w="0">
            <a:noFill/>
            <a:prstDash val="solid"/>
          </a:ln>
        </p:spPr>
        <p:txBody>
          <a:bodyPr/>
          <a:lstStyle/>
          <a:p>
            <a:endParaRPr lang="en-US"/>
          </a:p>
        </p:txBody>
      </p:sp>
      <p:sp>
        <p:nvSpPr>
          <p:cNvPr id="34" name="Rectangle 33">
            <a:extLst>
              <a:ext uri="{FF2B5EF4-FFF2-40B4-BE49-F238E27FC236}">
                <a16:creationId xmlns:a16="http://schemas.microsoft.com/office/drawing/2014/main" id="{2AAC187C-A067-46BF-8B62-CBB9280B05C9}"/>
              </a:ext>
            </a:extLst>
          </p:cNvPr>
          <p:cNvSpPr>
            <a:spLocks noGrp="1"/>
          </p:cNvSpPr>
          <p:nvPr/>
        </p:nvSpPr>
        <p:spPr>
          <a:xfrm>
            <a:off x="6162675" y="2114550"/>
            <a:ext cx="1371600" cy="247650"/>
          </a:xfrm>
          <a:prstGeom prst="rect">
            <a:avLst/>
          </a:prstGeom>
          <a:noFill/>
          <a:ln w="0">
            <a:noFill/>
          </a:ln>
        </p:spPr>
        <p:txBody>
          <a:bodyPr wrap="square" lIns="0" tIns="0" rIns="0" bIns="0" anchor="t">
            <a:normAutofit/>
          </a:bodyPr>
          <a:lstStyle/>
          <a:p>
            <a:pPr algn="ctr">
              <a:defRPr sz="1200" b="1" i="0">
                <a:solidFill>
                  <a:srgbClr val="111827"/>
                </a:solidFill>
                <a:latin typeface="DejaVu Sans Mono"/>
                <a:ea typeface="DejaVu Sans Mono"/>
                <a:cs typeface="DejaVu Sans Mono"/>
              </a:defRPr>
            </a:pPr>
            <a:r>
              <a:rPr sz="1200" b="1" i="0">
                <a:solidFill>
                  <a:srgbClr val="111827"/>
                </a:solidFill>
                <a:latin typeface="DejaVu Sans Mono"/>
                <a:ea typeface="DejaVu Sans Mono"/>
                <a:cs typeface="DejaVu Sans Mono"/>
              </a:rPr>
              <a:t>code + tests</a:t>
            </a:r>
          </a:p>
        </p:txBody>
      </p:sp>
      <p:sp>
        <p:nvSpPr>
          <p:cNvPr id="35" name="Rectangle 34">
            <a:extLst>
              <a:ext uri="{FF2B5EF4-FFF2-40B4-BE49-F238E27FC236}">
                <a16:creationId xmlns:a16="http://schemas.microsoft.com/office/drawing/2014/main" id="{C5C872AD-265D-406F-8744-EF1CBC9AFDF1}"/>
              </a:ext>
            </a:extLst>
          </p:cNvPr>
          <p:cNvSpPr>
            <a:spLocks noGrp="1"/>
          </p:cNvSpPr>
          <p:nvPr/>
        </p:nvSpPr>
        <p:spPr>
          <a:xfrm>
            <a:off x="6200775" y="2609850"/>
            <a:ext cx="1295400" cy="228600"/>
          </a:xfrm>
          <a:prstGeom prst="rect">
            <a:avLst/>
          </a:prstGeom>
          <a:noFill/>
          <a:ln w="0">
            <a:noFill/>
          </a:ln>
        </p:spPr>
        <p:txBody>
          <a:bodyPr wrap="square" lIns="0" tIns="0" rIns="0" bIns="0" anchor="t">
            <a:normAutofit/>
          </a:bodyPr>
          <a:lstStyle/>
          <a:p>
            <a:pPr algn="ctr">
              <a:defRPr sz="975" b="0" i="0">
                <a:solidFill>
                  <a:srgbClr val="475569"/>
                </a:solidFill>
                <a:latin typeface="DejaVu Sans"/>
                <a:ea typeface="DejaVu Sans"/>
                <a:cs typeface="DejaVu Sans"/>
              </a:defRPr>
            </a:pPr>
            <a:r>
              <a:rPr sz="975" b="0" i="0">
                <a:solidFill>
                  <a:srgbClr val="475569"/>
                </a:solidFill>
                <a:latin typeface="DejaVu Sans"/>
                <a:ea typeface="DejaVu Sans"/>
                <a:cs typeface="DejaVu Sans"/>
              </a:rPr>
              <a:t>Proof it works</a:t>
            </a:r>
          </a:p>
        </p:txBody>
      </p:sp>
      <p:sp>
        <p:nvSpPr>
          <p:cNvPr id="36" name="Arrow: Right 35">
            <a:extLst>
              <a:ext uri="{FF2B5EF4-FFF2-40B4-BE49-F238E27FC236}">
                <a16:creationId xmlns:a16="http://schemas.microsoft.com/office/drawing/2014/main" id="{D854CB4A-F774-4C34-82DE-D1CC1098D37F}"/>
              </a:ext>
            </a:extLst>
          </p:cNvPr>
          <p:cNvSpPr>
            <a:spLocks noGrp="1"/>
          </p:cNvSpPr>
          <p:nvPr/>
        </p:nvSpPr>
        <p:spPr>
          <a:xfrm>
            <a:off x="7648575" y="2305050"/>
            <a:ext cx="190500" cy="247650"/>
          </a:xfrm>
          <a:prstGeom prst="rightArrow">
            <a:avLst/>
          </a:prstGeom>
          <a:solidFill>
            <a:srgbClr val="A5AFC0"/>
          </a:solidFill>
          <a:ln w="0">
            <a:noFill/>
          </a:ln>
        </p:spPr>
        <p:txBody>
          <a:bodyPr/>
          <a:lstStyle/>
          <a:p>
            <a:endParaRPr lang="en-US"/>
          </a:p>
        </p:txBody>
      </p:sp>
      <p:sp>
        <p:nvSpPr>
          <p:cNvPr id="37" name="Rectangle: Rounded Corners 36">
            <a:extLst>
              <a:ext uri="{FF2B5EF4-FFF2-40B4-BE49-F238E27FC236}">
                <a16:creationId xmlns:a16="http://schemas.microsoft.com/office/drawing/2014/main" id="{645F1198-8080-43DF-93F3-20F1EA9064FB}"/>
              </a:ext>
            </a:extLst>
          </p:cNvPr>
          <p:cNvSpPr>
            <a:spLocks noGrp="1"/>
          </p:cNvSpPr>
          <p:nvPr/>
        </p:nvSpPr>
        <p:spPr>
          <a:xfrm>
            <a:off x="7886700" y="1714500"/>
            <a:ext cx="1524000" cy="1428750"/>
          </a:xfrm>
          <a:prstGeom prst="roundRect">
            <a:avLst>
              <a:gd name="adj" fmla="val 12000"/>
            </a:avLst>
          </a:prstGeom>
          <a:solidFill>
            <a:srgbClr val="FFFFFF"/>
          </a:solidFill>
          <a:ln w="9525">
            <a:solidFill>
              <a:srgbClr val="D8DEE9"/>
            </a:solidFill>
            <a:prstDash val="solid"/>
          </a:ln>
        </p:spPr>
        <p:txBody>
          <a:bodyPr/>
          <a:lstStyle/>
          <a:p>
            <a:endParaRPr lang="en-US"/>
          </a:p>
        </p:txBody>
      </p:sp>
      <p:sp>
        <p:nvSpPr>
          <p:cNvPr id="38" name="Rectangle: Rounded Corners 37">
            <a:extLst>
              <a:ext uri="{FF2B5EF4-FFF2-40B4-BE49-F238E27FC236}">
                <a16:creationId xmlns:a16="http://schemas.microsoft.com/office/drawing/2014/main" id="{87C20427-4D96-4634-9C8D-EC67CF447201}"/>
              </a:ext>
            </a:extLst>
          </p:cNvPr>
          <p:cNvSpPr>
            <a:spLocks noGrp="1"/>
          </p:cNvSpPr>
          <p:nvPr/>
        </p:nvSpPr>
        <p:spPr>
          <a:xfrm>
            <a:off x="7886700" y="1714500"/>
            <a:ext cx="1524000" cy="95250"/>
          </a:xfrm>
          <a:prstGeom prst="roundRect">
            <a:avLst>
              <a:gd name="adj" fmla="val 50000"/>
            </a:avLst>
          </a:prstGeom>
          <a:solidFill>
            <a:srgbClr val="3B82F6"/>
          </a:solidFill>
          <a:ln w="0">
            <a:noFill/>
            <a:prstDash val="solid"/>
          </a:ln>
        </p:spPr>
        <p:txBody>
          <a:bodyPr/>
          <a:lstStyle/>
          <a:p>
            <a:endParaRPr lang="en-US"/>
          </a:p>
        </p:txBody>
      </p:sp>
      <p:sp>
        <p:nvSpPr>
          <p:cNvPr id="39" name="Rectangle 38">
            <a:extLst>
              <a:ext uri="{FF2B5EF4-FFF2-40B4-BE49-F238E27FC236}">
                <a16:creationId xmlns:a16="http://schemas.microsoft.com/office/drawing/2014/main" id="{EAB014C9-9EED-4D4B-A6B6-56B25DCEC7C9}"/>
              </a:ext>
            </a:extLst>
          </p:cNvPr>
          <p:cNvSpPr>
            <a:spLocks noGrp="1"/>
          </p:cNvSpPr>
          <p:nvPr/>
        </p:nvSpPr>
        <p:spPr>
          <a:xfrm>
            <a:off x="7962900" y="2114550"/>
            <a:ext cx="1371600" cy="247650"/>
          </a:xfrm>
          <a:prstGeom prst="rect">
            <a:avLst/>
          </a:prstGeom>
          <a:noFill/>
          <a:ln w="0">
            <a:noFill/>
          </a:ln>
        </p:spPr>
        <p:txBody>
          <a:bodyPr wrap="square" lIns="0" tIns="0" rIns="0" bIns="0" anchor="t">
            <a:normAutofit/>
          </a:bodyPr>
          <a:lstStyle/>
          <a:p>
            <a:pPr algn="ctr">
              <a:defRPr sz="1200" b="1" i="0">
                <a:solidFill>
                  <a:srgbClr val="111827"/>
                </a:solidFill>
                <a:latin typeface="DejaVu Sans Mono"/>
                <a:ea typeface="DejaVu Sans Mono"/>
                <a:cs typeface="DejaVu Sans Mono"/>
              </a:defRPr>
            </a:pPr>
            <a:r>
              <a:rPr sz="1200" b="1" i="0">
                <a:solidFill>
                  <a:srgbClr val="111827"/>
                </a:solidFill>
                <a:latin typeface="DejaVu Sans Mono"/>
                <a:ea typeface="DejaVu Sans Mono"/>
                <a:cs typeface="DejaVu Sans Mono"/>
              </a:rPr>
              <a:t>PR</a:t>
            </a:r>
          </a:p>
        </p:txBody>
      </p:sp>
      <p:sp>
        <p:nvSpPr>
          <p:cNvPr id="40" name="Rectangle 39">
            <a:extLst>
              <a:ext uri="{FF2B5EF4-FFF2-40B4-BE49-F238E27FC236}">
                <a16:creationId xmlns:a16="http://schemas.microsoft.com/office/drawing/2014/main" id="{9E40BCF5-0EED-4C3A-85D1-202F5768E914}"/>
              </a:ext>
            </a:extLst>
          </p:cNvPr>
          <p:cNvSpPr>
            <a:spLocks noGrp="1"/>
          </p:cNvSpPr>
          <p:nvPr/>
        </p:nvSpPr>
        <p:spPr>
          <a:xfrm>
            <a:off x="8001000" y="2609850"/>
            <a:ext cx="1295400" cy="228600"/>
          </a:xfrm>
          <a:prstGeom prst="rect">
            <a:avLst/>
          </a:prstGeom>
          <a:noFill/>
          <a:ln w="0">
            <a:noFill/>
          </a:ln>
        </p:spPr>
        <p:txBody>
          <a:bodyPr wrap="square" lIns="0" tIns="0" rIns="0" bIns="0" anchor="t">
            <a:normAutofit/>
          </a:bodyPr>
          <a:lstStyle/>
          <a:p>
            <a:pPr algn="ctr">
              <a:defRPr sz="975" b="0" i="0">
                <a:solidFill>
                  <a:srgbClr val="475569"/>
                </a:solidFill>
                <a:latin typeface="DejaVu Sans"/>
                <a:ea typeface="DejaVu Sans"/>
                <a:cs typeface="DejaVu Sans"/>
              </a:defRPr>
            </a:pPr>
            <a:r>
              <a:rPr sz="975" b="0" i="0">
                <a:solidFill>
                  <a:srgbClr val="475569"/>
                </a:solidFill>
                <a:latin typeface="DejaVu Sans"/>
                <a:ea typeface="DejaVu Sans"/>
                <a:cs typeface="DejaVu Sans"/>
              </a:rPr>
              <a:t>Review record</a:t>
            </a:r>
          </a:p>
        </p:txBody>
      </p:sp>
      <p:sp>
        <p:nvSpPr>
          <p:cNvPr id="41" name="Arrow: Right 40">
            <a:extLst>
              <a:ext uri="{FF2B5EF4-FFF2-40B4-BE49-F238E27FC236}">
                <a16:creationId xmlns:a16="http://schemas.microsoft.com/office/drawing/2014/main" id="{883BFC39-0E02-431B-95C0-1517BC75160A}"/>
              </a:ext>
            </a:extLst>
          </p:cNvPr>
          <p:cNvSpPr>
            <a:spLocks noGrp="1"/>
          </p:cNvSpPr>
          <p:nvPr/>
        </p:nvSpPr>
        <p:spPr>
          <a:xfrm>
            <a:off x="9448800" y="2305050"/>
            <a:ext cx="190500" cy="247650"/>
          </a:xfrm>
          <a:prstGeom prst="rightArrow">
            <a:avLst/>
          </a:prstGeom>
          <a:solidFill>
            <a:srgbClr val="A5AFC0"/>
          </a:solidFill>
          <a:ln w="0">
            <a:noFill/>
          </a:ln>
        </p:spPr>
        <p:txBody>
          <a:bodyPr/>
          <a:lstStyle/>
          <a:p>
            <a:endParaRPr lang="en-US"/>
          </a:p>
        </p:txBody>
      </p:sp>
      <p:sp>
        <p:nvSpPr>
          <p:cNvPr id="42" name="Rectangle: Rounded Corners 41">
            <a:extLst>
              <a:ext uri="{FF2B5EF4-FFF2-40B4-BE49-F238E27FC236}">
                <a16:creationId xmlns:a16="http://schemas.microsoft.com/office/drawing/2014/main" id="{C0345CF9-C737-4EF7-9723-FC8A3E27A7C7}"/>
              </a:ext>
            </a:extLst>
          </p:cNvPr>
          <p:cNvSpPr>
            <a:spLocks noGrp="1"/>
          </p:cNvSpPr>
          <p:nvPr/>
        </p:nvSpPr>
        <p:spPr>
          <a:xfrm>
            <a:off x="9686925" y="1714500"/>
            <a:ext cx="1524000" cy="1428750"/>
          </a:xfrm>
          <a:prstGeom prst="roundRect">
            <a:avLst>
              <a:gd name="adj" fmla="val 12000"/>
            </a:avLst>
          </a:prstGeom>
          <a:solidFill>
            <a:srgbClr val="FFFFFF"/>
          </a:solidFill>
          <a:ln w="9525">
            <a:solidFill>
              <a:srgbClr val="D8DEE9"/>
            </a:solidFill>
            <a:prstDash val="solid"/>
          </a:ln>
        </p:spPr>
        <p:txBody>
          <a:bodyPr/>
          <a:lstStyle/>
          <a:p>
            <a:endParaRPr lang="en-US"/>
          </a:p>
        </p:txBody>
      </p:sp>
      <p:sp>
        <p:nvSpPr>
          <p:cNvPr id="43" name="Rectangle: Rounded Corners 42">
            <a:extLst>
              <a:ext uri="{FF2B5EF4-FFF2-40B4-BE49-F238E27FC236}">
                <a16:creationId xmlns:a16="http://schemas.microsoft.com/office/drawing/2014/main" id="{248E1467-9419-4374-95BC-DEE55E23E7C8}"/>
              </a:ext>
            </a:extLst>
          </p:cNvPr>
          <p:cNvSpPr>
            <a:spLocks noGrp="1"/>
          </p:cNvSpPr>
          <p:nvPr/>
        </p:nvSpPr>
        <p:spPr>
          <a:xfrm>
            <a:off x="9686925" y="1714500"/>
            <a:ext cx="1524000" cy="95250"/>
          </a:xfrm>
          <a:prstGeom prst="roundRect">
            <a:avLst>
              <a:gd name="adj" fmla="val 50000"/>
            </a:avLst>
          </a:prstGeom>
          <a:solidFill>
            <a:srgbClr val="29A36A"/>
          </a:solidFill>
          <a:ln w="0">
            <a:noFill/>
            <a:prstDash val="solid"/>
          </a:ln>
        </p:spPr>
        <p:txBody>
          <a:bodyPr/>
          <a:lstStyle/>
          <a:p>
            <a:endParaRPr lang="en-US"/>
          </a:p>
        </p:txBody>
      </p:sp>
      <p:sp>
        <p:nvSpPr>
          <p:cNvPr id="44" name="Rectangle 43">
            <a:extLst>
              <a:ext uri="{FF2B5EF4-FFF2-40B4-BE49-F238E27FC236}">
                <a16:creationId xmlns:a16="http://schemas.microsoft.com/office/drawing/2014/main" id="{31CC438E-0F32-4E7E-8957-3587D8B53ECF}"/>
              </a:ext>
            </a:extLst>
          </p:cNvPr>
          <p:cNvSpPr>
            <a:spLocks noGrp="1"/>
          </p:cNvSpPr>
          <p:nvPr/>
        </p:nvSpPr>
        <p:spPr>
          <a:xfrm>
            <a:off x="9763125" y="2114550"/>
            <a:ext cx="1371600" cy="247650"/>
          </a:xfrm>
          <a:prstGeom prst="rect">
            <a:avLst/>
          </a:prstGeom>
          <a:noFill/>
          <a:ln w="0">
            <a:noFill/>
          </a:ln>
        </p:spPr>
        <p:txBody>
          <a:bodyPr wrap="square" lIns="0" tIns="0" rIns="0" bIns="0" anchor="t">
            <a:normAutofit/>
          </a:bodyPr>
          <a:lstStyle/>
          <a:p>
            <a:pPr algn="ctr">
              <a:defRPr sz="1200" b="1" i="0">
                <a:solidFill>
                  <a:srgbClr val="111827"/>
                </a:solidFill>
                <a:latin typeface="DejaVu Sans Mono"/>
                <a:ea typeface="DejaVu Sans Mono"/>
                <a:cs typeface="DejaVu Sans Mono"/>
              </a:defRPr>
            </a:pPr>
            <a:r>
              <a:rPr sz="1200" b="1" i="0">
                <a:solidFill>
                  <a:srgbClr val="111827"/>
                </a:solidFill>
                <a:latin typeface="DejaVu Sans Mono"/>
                <a:ea typeface="DejaVu Sans Mono"/>
                <a:cs typeface="DejaVu Sans Mono"/>
              </a:rPr>
              <a:t>incident</a:t>
            </a:r>
          </a:p>
        </p:txBody>
      </p:sp>
      <p:sp>
        <p:nvSpPr>
          <p:cNvPr id="45" name="Rectangle 44">
            <a:extLst>
              <a:ext uri="{FF2B5EF4-FFF2-40B4-BE49-F238E27FC236}">
                <a16:creationId xmlns:a16="http://schemas.microsoft.com/office/drawing/2014/main" id="{DD164CDE-4C78-4F5C-877B-CF5FB90FDCB9}"/>
              </a:ext>
            </a:extLst>
          </p:cNvPr>
          <p:cNvSpPr>
            <a:spLocks noGrp="1"/>
          </p:cNvSpPr>
          <p:nvPr/>
        </p:nvSpPr>
        <p:spPr>
          <a:xfrm>
            <a:off x="9801225" y="2609850"/>
            <a:ext cx="1295400" cy="228600"/>
          </a:xfrm>
          <a:prstGeom prst="rect">
            <a:avLst/>
          </a:prstGeom>
          <a:noFill/>
          <a:ln w="0">
            <a:noFill/>
          </a:ln>
        </p:spPr>
        <p:txBody>
          <a:bodyPr wrap="square" lIns="0" tIns="0" rIns="0" bIns="0" anchor="t">
            <a:normAutofit/>
          </a:bodyPr>
          <a:lstStyle/>
          <a:p>
            <a:pPr algn="ctr">
              <a:defRPr sz="975" b="0" i="0">
                <a:solidFill>
                  <a:srgbClr val="475569"/>
                </a:solidFill>
                <a:latin typeface="DejaVu Sans"/>
                <a:ea typeface="DejaVu Sans"/>
                <a:cs typeface="DejaVu Sans"/>
              </a:defRPr>
            </a:pPr>
            <a:r>
              <a:rPr sz="975" b="0" i="0">
                <a:solidFill>
                  <a:srgbClr val="475569"/>
                </a:solidFill>
                <a:latin typeface="DejaVu Sans"/>
                <a:ea typeface="DejaVu Sans"/>
                <a:cs typeface="DejaVu Sans"/>
              </a:rPr>
              <a:t>Next improvement</a:t>
            </a:r>
          </a:p>
        </p:txBody>
      </p:sp>
      <p:sp>
        <p:nvSpPr>
          <p:cNvPr id="46" name="Rectangle: Rounded Corners 45">
            <a:extLst>
              <a:ext uri="{FF2B5EF4-FFF2-40B4-BE49-F238E27FC236}">
                <a16:creationId xmlns:a16="http://schemas.microsoft.com/office/drawing/2014/main" id="{29A71370-8F35-44FE-BDA4-064702307DE8}"/>
              </a:ext>
            </a:extLst>
          </p:cNvPr>
          <p:cNvSpPr>
            <a:spLocks noGrp="1"/>
          </p:cNvSpPr>
          <p:nvPr/>
        </p:nvSpPr>
        <p:spPr>
          <a:xfrm>
            <a:off x="1619250" y="3695700"/>
            <a:ext cx="8953500" cy="1143000"/>
          </a:xfrm>
          <a:prstGeom prst="roundRect">
            <a:avLst>
              <a:gd name="adj" fmla="val 15000"/>
            </a:avLst>
          </a:prstGeom>
          <a:solidFill>
            <a:srgbClr val="FFFFFF"/>
          </a:solidFill>
          <a:ln w="9525">
            <a:solidFill>
              <a:srgbClr val="D8DEE9"/>
            </a:solidFill>
            <a:prstDash val="solid"/>
          </a:ln>
        </p:spPr>
        <p:txBody>
          <a:bodyPr/>
          <a:lstStyle/>
          <a:p>
            <a:endParaRPr lang="en-US"/>
          </a:p>
        </p:txBody>
      </p:sp>
      <p:sp>
        <p:nvSpPr>
          <p:cNvPr id="47" name="Rectangle: Rounded Corners 46">
            <a:extLst>
              <a:ext uri="{FF2B5EF4-FFF2-40B4-BE49-F238E27FC236}">
                <a16:creationId xmlns:a16="http://schemas.microsoft.com/office/drawing/2014/main" id="{711D44F9-F033-45B9-9B75-21A6734D1379}"/>
              </a:ext>
            </a:extLst>
          </p:cNvPr>
          <p:cNvSpPr>
            <a:spLocks noGrp="1"/>
          </p:cNvSpPr>
          <p:nvPr/>
        </p:nvSpPr>
        <p:spPr>
          <a:xfrm>
            <a:off x="1619250" y="3695700"/>
            <a:ext cx="95250" cy="1143000"/>
          </a:xfrm>
          <a:prstGeom prst="roundRect">
            <a:avLst>
              <a:gd name="adj" fmla="val 50000"/>
            </a:avLst>
          </a:prstGeom>
          <a:solidFill>
            <a:srgbClr val="7457E8"/>
          </a:solidFill>
          <a:ln w="0">
            <a:noFill/>
            <a:prstDash val="solid"/>
          </a:ln>
        </p:spPr>
        <p:txBody>
          <a:bodyPr/>
          <a:lstStyle/>
          <a:p>
            <a:endParaRPr lang="en-US"/>
          </a:p>
        </p:txBody>
      </p:sp>
      <p:sp>
        <p:nvSpPr>
          <p:cNvPr id="48" name="Rectangle 47">
            <a:extLst>
              <a:ext uri="{FF2B5EF4-FFF2-40B4-BE49-F238E27FC236}">
                <a16:creationId xmlns:a16="http://schemas.microsoft.com/office/drawing/2014/main" id="{5CBBACDB-95A1-495F-B61B-A8A4E98E8193}"/>
              </a:ext>
            </a:extLst>
          </p:cNvPr>
          <p:cNvSpPr>
            <a:spLocks noGrp="1"/>
          </p:cNvSpPr>
          <p:nvPr/>
        </p:nvSpPr>
        <p:spPr>
          <a:xfrm>
            <a:off x="1866900" y="3905250"/>
            <a:ext cx="849630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Why this matters</a:t>
            </a:r>
          </a:p>
        </p:txBody>
      </p:sp>
      <p:sp>
        <p:nvSpPr>
          <p:cNvPr id="49" name="Rectangle 48">
            <a:extLst>
              <a:ext uri="{FF2B5EF4-FFF2-40B4-BE49-F238E27FC236}">
                <a16:creationId xmlns:a16="http://schemas.microsoft.com/office/drawing/2014/main" id="{7B4F244F-587D-4B5D-A1F2-55E0E800659E}"/>
              </a:ext>
            </a:extLst>
          </p:cNvPr>
          <p:cNvSpPr>
            <a:spLocks noGrp="1"/>
          </p:cNvSpPr>
          <p:nvPr/>
        </p:nvSpPr>
        <p:spPr>
          <a:xfrm>
            <a:off x="1866900" y="4343400"/>
            <a:ext cx="8496300" cy="30480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The next stage reads the saved artifact. Git records who changed it and who approved it.</a:t>
            </a:r>
          </a:p>
        </p:txBody>
      </p:sp>
      <p:sp>
        <p:nvSpPr>
          <p:cNvPr id="50" name="Rectangle 49">
            <a:extLst>
              <a:ext uri="{FF2B5EF4-FFF2-40B4-BE49-F238E27FC236}">
                <a16:creationId xmlns:a16="http://schemas.microsoft.com/office/drawing/2014/main" id="{24541AA1-2C84-4DAD-874D-9E5039A94FF3}"/>
              </a:ext>
            </a:extLst>
          </p:cNvPr>
          <p:cNvSpPr>
            <a:spLocks noGrp="1"/>
          </p:cNvSpPr>
          <p:nvPr/>
        </p:nvSpPr>
        <p:spPr>
          <a:xfrm>
            <a:off x="685800" y="5295900"/>
            <a:ext cx="10820400" cy="266700"/>
          </a:xfrm>
          <a:prstGeom prst="rect">
            <a:avLst/>
          </a:prstGeom>
          <a:noFill/>
          <a:ln w="0">
            <a:noFill/>
          </a:ln>
        </p:spPr>
        <p:txBody>
          <a:bodyPr wrap="square" lIns="0" tIns="0" rIns="0" bIns="0" anchor="t">
            <a:normAutofit/>
          </a:bodyPr>
          <a:lstStyle/>
          <a:p>
            <a:pPr algn="ctr">
              <a:defRPr sz="1350" b="1" i="0">
                <a:solidFill>
                  <a:srgbClr val="7457E8"/>
                </a:solidFill>
                <a:latin typeface="DejaVu Sans"/>
                <a:ea typeface="DejaVu Sans"/>
                <a:cs typeface="DejaVu Sans"/>
              </a:defRPr>
            </a:pPr>
            <a:r>
              <a:rPr sz="1350" b="1" i="0">
                <a:solidFill>
                  <a:srgbClr val="7457E8"/>
                </a:solidFill>
                <a:latin typeface="DejaVu Sans"/>
                <a:ea typeface="DejaVu Sans"/>
                <a:cs typeface="DejaVu Sans"/>
              </a:rPr>
              <a:t>The artifact is both a handoff and an audit record.</a:t>
            </a:r>
          </a:p>
        </p:txBody>
      </p:sp>
    </p:spTree>
    <p:extLst>
      <p:ext uri="{BB962C8B-B14F-4D97-AF65-F5344CB8AC3E}">
        <p14:creationId xmlns:p14="http://schemas.microsoft.com/office/powerpoint/2010/main" val="1244318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A45DE45E-3370-44E6-AC2F-AF580E2D5EE3}"/>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CAPTURE THE IDEA AS INTENT.MD</a:t>
            </a:r>
          </a:p>
        </p:txBody>
      </p:sp>
      <p:sp>
        <p:nvSpPr>
          <p:cNvPr id="2" name="Rectangle 1">
            <a:extLst>
              <a:ext uri="{FF2B5EF4-FFF2-40B4-BE49-F238E27FC236}">
                <a16:creationId xmlns:a16="http://schemas.microsoft.com/office/drawing/2014/main" id="{D2AFDFCD-9ACB-4A70-8CF3-18A4CA7EA858}"/>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Stage 1: Plan</a:t>
            </a:r>
          </a:p>
        </p:txBody>
      </p:sp>
      <p:sp>
        <p:nvSpPr>
          <p:cNvPr id="3" name="Rectangle 2">
            <a:extLst>
              <a:ext uri="{FF2B5EF4-FFF2-40B4-BE49-F238E27FC236}">
                <a16:creationId xmlns:a16="http://schemas.microsoft.com/office/drawing/2014/main" id="{DFC6409F-7E9D-4DFE-99E0-1DE2315E326B}"/>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14C13893-15A5-4C82-BBCE-276AAE5C86E9}"/>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08</a:t>
            </a:r>
          </a:p>
        </p:txBody>
      </p:sp>
      <p:sp>
        <p:nvSpPr>
          <p:cNvPr id="5" name="Rectangle 4">
            <a:extLst>
              <a:ext uri="{FF2B5EF4-FFF2-40B4-BE49-F238E27FC236}">
                <a16:creationId xmlns:a16="http://schemas.microsoft.com/office/drawing/2014/main" id="{C315248A-7CF3-4F74-8C9C-A0161454244D}"/>
              </a:ext>
            </a:extLst>
          </p:cNvPr>
          <p:cNvSpPr>
            <a:spLocks noGrp="1"/>
          </p:cNvSpPr>
          <p:nvPr/>
        </p:nvSpPr>
        <p:spPr>
          <a:xfrm>
            <a:off x="685800" y="6419850"/>
            <a:ext cx="1755775" cy="47625"/>
          </a:xfrm>
          <a:prstGeom prst="rect">
            <a:avLst/>
          </a:prstGeom>
          <a:solidFill>
            <a:srgbClr val="FF8066"/>
          </a:solidFill>
          <a:ln w="0">
            <a:noFill/>
            <a:prstDash val="solid"/>
          </a:ln>
        </p:spPr>
        <p:txBody>
          <a:bodyPr/>
          <a:lstStyle/>
          <a:p>
            <a:endParaRPr lang="en-US"/>
          </a:p>
        </p:txBody>
      </p:sp>
      <p:sp>
        <p:nvSpPr>
          <p:cNvPr id="6" name="Rectangle 5">
            <a:extLst>
              <a:ext uri="{FF2B5EF4-FFF2-40B4-BE49-F238E27FC236}">
                <a16:creationId xmlns:a16="http://schemas.microsoft.com/office/drawing/2014/main" id="{6B6D34C2-9FC8-492E-AD28-08B1A485B75F}"/>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1" i="0">
                <a:solidFill>
                  <a:srgbClr val="FF8066"/>
                </a:solidFill>
                <a:latin typeface="DejaVu Sans"/>
                <a:ea typeface="DejaVu Sans"/>
                <a:cs typeface="DejaVu Sans"/>
              </a:defRPr>
            </a:pPr>
            <a:r>
              <a:rPr sz="675" b="1" i="0">
                <a:solidFill>
                  <a:srgbClr val="FF8066"/>
                </a:solidFill>
                <a:latin typeface="DejaVu Sans"/>
                <a:ea typeface="DejaVu Sans"/>
                <a:cs typeface="DejaVu Sans"/>
              </a:rPr>
              <a:t>PLAN</a:t>
            </a:r>
          </a:p>
        </p:txBody>
      </p:sp>
      <p:sp>
        <p:nvSpPr>
          <p:cNvPr id="7" name="Rectangle 6">
            <a:extLst>
              <a:ext uri="{FF2B5EF4-FFF2-40B4-BE49-F238E27FC236}">
                <a16:creationId xmlns:a16="http://schemas.microsoft.com/office/drawing/2014/main" id="{513204B6-F336-4DE2-A38F-845DC26A4A36}"/>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5718513A-4797-4CD5-B9CE-18517505A52F}"/>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2C66C60D-C270-4183-94DB-BC27D114AC97}"/>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1635DB0E-CC95-47BF-94B3-A7FF33717914}"/>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C4A45E34-8D85-4C42-BE86-E62961D0AE9B}"/>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B081BCD-9A35-4EA0-99DF-DEE5C0421234}"/>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594E2380-4747-4D2C-9B56-8FD3CCE609F7}"/>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0392C02D-F48A-422E-A36B-A63B9EB49604}"/>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9B58EDC7-AC85-40AD-B6FD-77CBA439802B}"/>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99081B51-7743-4B7E-8A2D-70C79BE38765}"/>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81902A71-6812-4D2D-AD15-DFDFBC34BEB1}"/>
              </a:ext>
            </a:extLst>
          </p:cNvPr>
          <p:cNvSpPr>
            <a:spLocks noGrp="1"/>
          </p:cNvSpPr>
          <p:nvPr/>
        </p:nvSpPr>
        <p:spPr>
          <a:xfrm>
            <a:off x="685800" y="1428750"/>
            <a:ext cx="5219700" cy="1619250"/>
          </a:xfrm>
          <a:prstGeom prst="roundRect">
            <a:avLst>
              <a:gd name="adj" fmla="val 10588"/>
            </a:avLst>
          </a:prstGeom>
          <a:solidFill>
            <a:srgbClr val="FFFFFF"/>
          </a:solidFill>
          <a:ln w="9525">
            <a:solidFill>
              <a:srgbClr val="D8DEE9"/>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B7E1EC3C-73EF-4105-AC07-D1C387F3CDFA}"/>
              </a:ext>
            </a:extLst>
          </p:cNvPr>
          <p:cNvSpPr>
            <a:spLocks noGrp="1"/>
          </p:cNvSpPr>
          <p:nvPr/>
        </p:nvSpPr>
        <p:spPr>
          <a:xfrm>
            <a:off x="685800" y="1428750"/>
            <a:ext cx="95250" cy="1619250"/>
          </a:xfrm>
          <a:prstGeom prst="roundRect">
            <a:avLst>
              <a:gd name="adj" fmla="val 50000"/>
            </a:avLst>
          </a:prstGeom>
          <a:solidFill>
            <a:srgbClr val="64748B"/>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D98D15F8-006B-4449-95EB-98525572B16D}"/>
              </a:ext>
            </a:extLst>
          </p:cNvPr>
          <p:cNvSpPr>
            <a:spLocks noGrp="1"/>
          </p:cNvSpPr>
          <p:nvPr/>
        </p:nvSpPr>
        <p:spPr>
          <a:xfrm>
            <a:off x="933450" y="1638300"/>
            <a:ext cx="476250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Old way</a:t>
            </a:r>
          </a:p>
        </p:txBody>
      </p:sp>
      <p:sp>
        <p:nvSpPr>
          <p:cNvPr id="20" name="Rectangle 19">
            <a:extLst>
              <a:ext uri="{FF2B5EF4-FFF2-40B4-BE49-F238E27FC236}">
                <a16:creationId xmlns:a16="http://schemas.microsoft.com/office/drawing/2014/main" id="{414C2F8C-6DA9-44A9-8D93-4E01BBF80767}"/>
              </a:ext>
            </a:extLst>
          </p:cNvPr>
          <p:cNvSpPr>
            <a:spLocks noGrp="1"/>
          </p:cNvSpPr>
          <p:nvPr/>
        </p:nvSpPr>
        <p:spPr>
          <a:xfrm>
            <a:off x="933450" y="2076450"/>
            <a:ext cx="4762500" cy="78105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The idea moves through backlog items, workshops, and refinement meetings.</a:t>
            </a:r>
          </a:p>
        </p:txBody>
      </p:sp>
      <p:sp>
        <p:nvSpPr>
          <p:cNvPr id="21" name="Rectangle: Rounded Corners 20">
            <a:extLst>
              <a:ext uri="{FF2B5EF4-FFF2-40B4-BE49-F238E27FC236}">
                <a16:creationId xmlns:a16="http://schemas.microsoft.com/office/drawing/2014/main" id="{8D06D90F-4C58-4C5F-A88E-F9930A4BD222}"/>
              </a:ext>
            </a:extLst>
          </p:cNvPr>
          <p:cNvSpPr>
            <a:spLocks noGrp="1"/>
          </p:cNvSpPr>
          <p:nvPr/>
        </p:nvSpPr>
        <p:spPr>
          <a:xfrm>
            <a:off x="6286500" y="1428750"/>
            <a:ext cx="5219700" cy="1619250"/>
          </a:xfrm>
          <a:prstGeom prst="roundRect">
            <a:avLst>
              <a:gd name="adj" fmla="val 10588"/>
            </a:avLst>
          </a:prstGeom>
          <a:solidFill>
            <a:srgbClr val="FFFFFF"/>
          </a:solidFill>
          <a:ln w="9525">
            <a:solidFill>
              <a:srgbClr val="D8DEE9"/>
            </a:solidFill>
            <a:prstDash val="solid"/>
          </a:ln>
        </p:spPr>
        <p:txBody>
          <a:bodyPr/>
          <a:lstStyle/>
          <a:p>
            <a:endParaRPr lang="en-US"/>
          </a:p>
        </p:txBody>
      </p:sp>
      <p:sp>
        <p:nvSpPr>
          <p:cNvPr id="22" name="Rectangle: Rounded Corners 21">
            <a:extLst>
              <a:ext uri="{FF2B5EF4-FFF2-40B4-BE49-F238E27FC236}">
                <a16:creationId xmlns:a16="http://schemas.microsoft.com/office/drawing/2014/main" id="{8FA55252-25B7-4EB5-8EED-6CD8E216F6BA}"/>
              </a:ext>
            </a:extLst>
          </p:cNvPr>
          <p:cNvSpPr>
            <a:spLocks noGrp="1"/>
          </p:cNvSpPr>
          <p:nvPr/>
        </p:nvSpPr>
        <p:spPr>
          <a:xfrm>
            <a:off x="6286500" y="1428750"/>
            <a:ext cx="95250" cy="1619250"/>
          </a:xfrm>
          <a:prstGeom prst="roundRect">
            <a:avLst>
              <a:gd name="adj" fmla="val 50000"/>
            </a:avLst>
          </a:prstGeom>
          <a:solidFill>
            <a:srgbClr val="FF8066"/>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40E857A9-5DDC-4E51-BD6C-AAC190C784E4}"/>
              </a:ext>
            </a:extLst>
          </p:cNvPr>
          <p:cNvSpPr>
            <a:spLocks noGrp="1"/>
          </p:cNvSpPr>
          <p:nvPr/>
        </p:nvSpPr>
        <p:spPr>
          <a:xfrm>
            <a:off x="6534150" y="1638300"/>
            <a:ext cx="476250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AI-native way</a:t>
            </a:r>
          </a:p>
        </p:txBody>
      </p:sp>
      <p:sp>
        <p:nvSpPr>
          <p:cNvPr id="24" name="Rectangle 23">
            <a:extLst>
              <a:ext uri="{FF2B5EF4-FFF2-40B4-BE49-F238E27FC236}">
                <a16:creationId xmlns:a16="http://schemas.microsoft.com/office/drawing/2014/main" id="{D8B6496C-AC49-41A1-84C3-EB6DD37B17EE}"/>
              </a:ext>
            </a:extLst>
          </p:cNvPr>
          <p:cNvSpPr>
            <a:spLocks noGrp="1"/>
          </p:cNvSpPr>
          <p:nvPr/>
        </p:nvSpPr>
        <p:spPr>
          <a:xfrm>
            <a:off x="6534150" y="2076450"/>
            <a:ext cx="4762500" cy="78105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The person with the idea explains it to Claude and creates intent.md.</a:t>
            </a:r>
          </a:p>
        </p:txBody>
      </p:sp>
      <p:sp>
        <p:nvSpPr>
          <p:cNvPr id="25" name="Rectangle: Rounded Corners 24">
            <a:extLst>
              <a:ext uri="{FF2B5EF4-FFF2-40B4-BE49-F238E27FC236}">
                <a16:creationId xmlns:a16="http://schemas.microsoft.com/office/drawing/2014/main" id="{67546F4C-7D58-4F1A-908B-099698E87E80}"/>
              </a:ext>
            </a:extLst>
          </p:cNvPr>
          <p:cNvSpPr>
            <a:spLocks noGrp="1"/>
          </p:cNvSpPr>
          <p:nvPr/>
        </p:nvSpPr>
        <p:spPr>
          <a:xfrm>
            <a:off x="685800" y="3581400"/>
            <a:ext cx="2381250" cy="857250"/>
          </a:xfrm>
          <a:prstGeom prst="roundRect">
            <a:avLst>
              <a:gd name="adj" fmla="val 17778"/>
            </a:avLst>
          </a:prstGeom>
          <a:solidFill>
            <a:srgbClr val="FFFFFF"/>
          </a:solidFill>
          <a:ln w="9525">
            <a:solidFill>
              <a:srgbClr val="D8DEE9"/>
            </a:solidFill>
            <a:prstDash val="solid"/>
          </a:ln>
        </p:spPr>
        <p:txBody>
          <a:bodyPr/>
          <a:lstStyle/>
          <a:p>
            <a:endParaRPr lang="en-US"/>
          </a:p>
        </p:txBody>
      </p:sp>
      <p:sp>
        <p:nvSpPr>
          <p:cNvPr id="26" name="Rectangle 25">
            <a:extLst>
              <a:ext uri="{FF2B5EF4-FFF2-40B4-BE49-F238E27FC236}">
                <a16:creationId xmlns:a16="http://schemas.microsoft.com/office/drawing/2014/main" id="{653960C5-1795-4CA5-BF52-E12D43E2EC3B}"/>
              </a:ext>
            </a:extLst>
          </p:cNvPr>
          <p:cNvSpPr>
            <a:spLocks noGrp="1"/>
          </p:cNvSpPr>
          <p:nvPr/>
        </p:nvSpPr>
        <p:spPr>
          <a:xfrm>
            <a:off x="838200" y="3752850"/>
            <a:ext cx="2076450" cy="171450"/>
          </a:xfrm>
          <a:prstGeom prst="rect">
            <a:avLst/>
          </a:prstGeom>
          <a:noFill/>
          <a:ln w="0">
            <a:noFill/>
          </a:ln>
        </p:spPr>
        <p:txBody>
          <a:bodyPr wrap="square" lIns="0" tIns="0" rIns="0" bIns="0" anchor="t">
            <a:normAutofit/>
          </a:bodyPr>
          <a:lstStyle/>
          <a:p>
            <a:pPr algn="ctr">
              <a:defRPr sz="825" b="1" i="0">
                <a:solidFill>
                  <a:srgbClr val="FF8066"/>
                </a:solidFill>
                <a:latin typeface="DejaVu Sans Mono"/>
                <a:ea typeface="DejaVu Sans Mono"/>
                <a:cs typeface="DejaVu Sans Mono"/>
              </a:defRPr>
            </a:pPr>
            <a:r>
              <a:rPr sz="825" b="1" i="0">
                <a:solidFill>
                  <a:srgbClr val="FF8066"/>
                </a:solidFill>
                <a:latin typeface="DejaVu Sans Mono"/>
                <a:ea typeface="DejaVu Sans Mono"/>
                <a:cs typeface="DejaVu Sans Mono"/>
              </a:rPr>
              <a:t>PROBLEM</a:t>
            </a:r>
          </a:p>
        </p:txBody>
      </p:sp>
      <p:sp>
        <p:nvSpPr>
          <p:cNvPr id="27" name="Rectangle 26">
            <a:extLst>
              <a:ext uri="{FF2B5EF4-FFF2-40B4-BE49-F238E27FC236}">
                <a16:creationId xmlns:a16="http://schemas.microsoft.com/office/drawing/2014/main" id="{F5602F6F-B5E2-478E-BB84-F16845BC7053}"/>
              </a:ext>
            </a:extLst>
          </p:cNvPr>
          <p:cNvSpPr>
            <a:spLocks noGrp="1"/>
          </p:cNvSpPr>
          <p:nvPr/>
        </p:nvSpPr>
        <p:spPr>
          <a:xfrm>
            <a:off x="838200" y="4057650"/>
            <a:ext cx="2076450" cy="26670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What cannot be done today?</a:t>
            </a:r>
          </a:p>
        </p:txBody>
      </p:sp>
      <p:sp>
        <p:nvSpPr>
          <p:cNvPr id="28" name="Rectangle: Rounded Corners 27">
            <a:extLst>
              <a:ext uri="{FF2B5EF4-FFF2-40B4-BE49-F238E27FC236}">
                <a16:creationId xmlns:a16="http://schemas.microsoft.com/office/drawing/2014/main" id="{3A6786E1-AF4A-4CA7-A080-85BD476A41B5}"/>
              </a:ext>
            </a:extLst>
          </p:cNvPr>
          <p:cNvSpPr>
            <a:spLocks noGrp="1"/>
          </p:cNvSpPr>
          <p:nvPr/>
        </p:nvSpPr>
        <p:spPr>
          <a:xfrm>
            <a:off x="3486150" y="3581400"/>
            <a:ext cx="2381250" cy="857250"/>
          </a:xfrm>
          <a:prstGeom prst="roundRect">
            <a:avLst>
              <a:gd name="adj" fmla="val 17778"/>
            </a:avLst>
          </a:prstGeom>
          <a:solidFill>
            <a:srgbClr val="FFFFFF"/>
          </a:solidFill>
          <a:ln w="9525">
            <a:solidFill>
              <a:srgbClr val="D8DEE9"/>
            </a:solidFill>
            <a:prstDash val="solid"/>
          </a:ln>
        </p:spPr>
        <p:txBody>
          <a:bodyPr/>
          <a:lstStyle/>
          <a:p>
            <a:endParaRPr lang="en-US"/>
          </a:p>
        </p:txBody>
      </p:sp>
      <p:sp>
        <p:nvSpPr>
          <p:cNvPr id="29" name="Rectangle 28">
            <a:extLst>
              <a:ext uri="{FF2B5EF4-FFF2-40B4-BE49-F238E27FC236}">
                <a16:creationId xmlns:a16="http://schemas.microsoft.com/office/drawing/2014/main" id="{5E2DC5DB-908B-4528-9E40-1AC33E54125D}"/>
              </a:ext>
            </a:extLst>
          </p:cNvPr>
          <p:cNvSpPr>
            <a:spLocks noGrp="1"/>
          </p:cNvSpPr>
          <p:nvPr/>
        </p:nvSpPr>
        <p:spPr>
          <a:xfrm>
            <a:off x="3638550" y="3752850"/>
            <a:ext cx="2076450" cy="171450"/>
          </a:xfrm>
          <a:prstGeom prst="rect">
            <a:avLst/>
          </a:prstGeom>
          <a:noFill/>
          <a:ln w="0">
            <a:noFill/>
          </a:ln>
        </p:spPr>
        <p:txBody>
          <a:bodyPr wrap="square" lIns="0" tIns="0" rIns="0" bIns="0" anchor="t">
            <a:normAutofit/>
          </a:bodyPr>
          <a:lstStyle/>
          <a:p>
            <a:pPr algn="ctr">
              <a:defRPr sz="825" b="1" i="0">
                <a:solidFill>
                  <a:srgbClr val="FF8066"/>
                </a:solidFill>
                <a:latin typeface="DejaVu Sans Mono"/>
                <a:ea typeface="DejaVu Sans Mono"/>
                <a:cs typeface="DejaVu Sans Mono"/>
              </a:defRPr>
            </a:pPr>
            <a:r>
              <a:rPr sz="825" b="1" i="0">
                <a:solidFill>
                  <a:srgbClr val="FF8066"/>
                </a:solidFill>
                <a:latin typeface="DejaVu Sans Mono"/>
                <a:ea typeface="DejaVu Sans Mono"/>
                <a:cs typeface="DejaVu Sans Mono"/>
              </a:rPr>
              <a:t>OUTCOME</a:t>
            </a:r>
          </a:p>
        </p:txBody>
      </p:sp>
      <p:sp>
        <p:nvSpPr>
          <p:cNvPr id="30" name="Rectangle 29">
            <a:extLst>
              <a:ext uri="{FF2B5EF4-FFF2-40B4-BE49-F238E27FC236}">
                <a16:creationId xmlns:a16="http://schemas.microsoft.com/office/drawing/2014/main" id="{1165AB2D-879C-4B0A-9B25-E07E16306D29}"/>
              </a:ext>
            </a:extLst>
          </p:cNvPr>
          <p:cNvSpPr>
            <a:spLocks noGrp="1"/>
          </p:cNvSpPr>
          <p:nvPr/>
        </p:nvSpPr>
        <p:spPr>
          <a:xfrm>
            <a:off x="3638550" y="4057650"/>
            <a:ext cx="2076450" cy="26670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What should become better?</a:t>
            </a:r>
          </a:p>
        </p:txBody>
      </p:sp>
      <p:sp>
        <p:nvSpPr>
          <p:cNvPr id="31" name="Rectangle: Rounded Corners 30">
            <a:extLst>
              <a:ext uri="{FF2B5EF4-FFF2-40B4-BE49-F238E27FC236}">
                <a16:creationId xmlns:a16="http://schemas.microsoft.com/office/drawing/2014/main" id="{60843D49-FEDC-4BC0-83AB-8553293385E5}"/>
              </a:ext>
            </a:extLst>
          </p:cNvPr>
          <p:cNvSpPr>
            <a:spLocks noGrp="1"/>
          </p:cNvSpPr>
          <p:nvPr/>
        </p:nvSpPr>
        <p:spPr>
          <a:xfrm>
            <a:off x="6286500" y="3581400"/>
            <a:ext cx="2381250" cy="857250"/>
          </a:xfrm>
          <a:prstGeom prst="roundRect">
            <a:avLst>
              <a:gd name="adj" fmla="val 17778"/>
            </a:avLst>
          </a:prstGeom>
          <a:solidFill>
            <a:srgbClr val="FFFFFF"/>
          </a:solidFill>
          <a:ln w="9525">
            <a:solidFill>
              <a:srgbClr val="D8DEE9"/>
            </a:solidFill>
            <a:prstDash val="solid"/>
          </a:ln>
        </p:spPr>
        <p:txBody>
          <a:bodyPr/>
          <a:lstStyle/>
          <a:p>
            <a:endParaRPr lang="en-US"/>
          </a:p>
        </p:txBody>
      </p:sp>
      <p:sp>
        <p:nvSpPr>
          <p:cNvPr id="32" name="Rectangle 31">
            <a:extLst>
              <a:ext uri="{FF2B5EF4-FFF2-40B4-BE49-F238E27FC236}">
                <a16:creationId xmlns:a16="http://schemas.microsoft.com/office/drawing/2014/main" id="{EA17AD26-94AC-4ADE-89B1-88591595650A}"/>
              </a:ext>
            </a:extLst>
          </p:cNvPr>
          <p:cNvSpPr>
            <a:spLocks noGrp="1"/>
          </p:cNvSpPr>
          <p:nvPr/>
        </p:nvSpPr>
        <p:spPr>
          <a:xfrm>
            <a:off x="6438900" y="3752850"/>
            <a:ext cx="2076450" cy="171450"/>
          </a:xfrm>
          <a:prstGeom prst="rect">
            <a:avLst/>
          </a:prstGeom>
          <a:noFill/>
          <a:ln w="0">
            <a:noFill/>
          </a:ln>
        </p:spPr>
        <p:txBody>
          <a:bodyPr wrap="square" lIns="0" tIns="0" rIns="0" bIns="0" anchor="t">
            <a:normAutofit/>
          </a:bodyPr>
          <a:lstStyle/>
          <a:p>
            <a:pPr algn="ctr">
              <a:defRPr sz="825" b="1" i="0">
                <a:solidFill>
                  <a:srgbClr val="FF8066"/>
                </a:solidFill>
                <a:latin typeface="DejaVu Sans Mono"/>
                <a:ea typeface="DejaVu Sans Mono"/>
                <a:cs typeface="DejaVu Sans Mono"/>
              </a:defRPr>
            </a:pPr>
            <a:r>
              <a:rPr sz="825" b="1" i="0">
                <a:solidFill>
                  <a:srgbClr val="FF8066"/>
                </a:solidFill>
                <a:latin typeface="DejaVu Sans Mono"/>
                <a:ea typeface="DejaVu Sans Mono"/>
                <a:cs typeface="DejaVu Sans Mono"/>
              </a:rPr>
              <a:t>CONSTRAINTS</a:t>
            </a:r>
          </a:p>
        </p:txBody>
      </p:sp>
      <p:sp>
        <p:nvSpPr>
          <p:cNvPr id="33" name="Rectangle 32">
            <a:extLst>
              <a:ext uri="{FF2B5EF4-FFF2-40B4-BE49-F238E27FC236}">
                <a16:creationId xmlns:a16="http://schemas.microsoft.com/office/drawing/2014/main" id="{0F5D7C51-CBA7-4C1C-99B7-244BD5B2A437}"/>
              </a:ext>
            </a:extLst>
          </p:cNvPr>
          <p:cNvSpPr>
            <a:spLocks noGrp="1"/>
          </p:cNvSpPr>
          <p:nvPr/>
        </p:nvSpPr>
        <p:spPr>
          <a:xfrm>
            <a:off x="6438900" y="4057650"/>
            <a:ext cx="2076450" cy="26670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What rules must we follow?</a:t>
            </a:r>
          </a:p>
        </p:txBody>
      </p:sp>
      <p:sp>
        <p:nvSpPr>
          <p:cNvPr id="34" name="Rectangle: Rounded Corners 33">
            <a:extLst>
              <a:ext uri="{FF2B5EF4-FFF2-40B4-BE49-F238E27FC236}">
                <a16:creationId xmlns:a16="http://schemas.microsoft.com/office/drawing/2014/main" id="{C808FE37-85CA-4ABE-AA55-19CB64AB2D58}"/>
              </a:ext>
            </a:extLst>
          </p:cNvPr>
          <p:cNvSpPr>
            <a:spLocks noGrp="1"/>
          </p:cNvSpPr>
          <p:nvPr/>
        </p:nvSpPr>
        <p:spPr>
          <a:xfrm>
            <a:off x="9086850" y="3581400"/>
            <a:ext cx="2381250" cy="857250"/>
          </a:xfrm>
          <a:prstGeom prst="roundRect">
            <a:avLst>
              <a:gd name="adj" fmla="val 17778"/>
            </a:avLst>
          </a:prstGeom>
          <a:solidFill>
            <a:srgbClr val="FFFFFF"/>
          </a:solidFill>
          <a:ln w="9525">
            <a:solidFill>
              <a:srgbClr val="D8DEE9"/>
            </a:solidFill>
            <a:prstDash val="solid"/>
          </a:ln>
        </p:spPr>
        <p:txBody>
          <a:bodyPr/>
          <a:lstStyle/>
          <a:p>
            <a:endParaRPr lang="en-US"/>
          </a:p>
        </p:txBody>
      </p:sp>
      <p:sp>
        <p:nvSpPr>
          <p:cNvPr id="35" name="Rectangle 34">
            <a:extLst>
              <a:ext uri="{FF2B5EF4-FFF2-40B4-BE49-F238E27FC236}">
                <a16:creationId xmlns:a16="http://schemas.microsoft.com/office/drawing/2014/main" id="{F24DEAEC-D6CB-4E85-86A4-E691B165FAE2}"/>
              </a:ext>
            </a:extLst>
          </p:cNvPr>
          <p:cNvSpPr>
            <a:spLocks noGrp="1"/>
          </p:cNvSpPr>
          <p:nvPr/>
        </p:nvSpPr>
        <p:spPr>
          <a:xfrm>
            <a:off x="9239250" y="3752850"/>
            <a:ext cx="2076450" cy="171450"/>
          </a:xfrm>
          <a:prstGeom prst="rect">
            <a:avLst/>
          </a:prstGeom>
          <a:noFill/>
          <a:ln w="0">
            <a:noFill/>
          </a:ln>
        </p:spPr>
        <p:txBody>
          <a:bodyPr wrap="square" lIns="0" tIns="0" rIns="0" bIns="0" anchor="t">
            <a:normAutofit/>
          </a:bodyPr>
          <a:lstStyle/>
          <a:p>
            <a:pPr algn="ctr">
              <a:defRPr sz="825" b="1" i="0">
                <a:solidFill>
                  <a:srgbClr val="FF8066"/>
                </a:solidFill>
                <a:latin typeface="DejaVu Sans Mono"/>
                <a:ea typeface="DejaVu Sans Mono"/>
                <a:cs typeface="DejaVu Sans Mono"/>
              </a:defRPr>
            </a:pPr>
            <a:r>
              <a:rPr sz="825" b="1" i="0">
                <a:solidFill>
                  <a:srgbClr val="FF8066"/>
                </a:solidFill>
                <a:latin typeface="DejaVu Sans Mono"/>
                <a:ea typeface="DejaVu Sans Mono"/>
                <a:cs typeface="DejaVu Sans Mono"/>
              </a:rPr>
              <a:t>QUESTIONS</a:t>
            </a:r>
          </a:p>
        </p:txBody>
      </p:sp>
      <p:sp>
        <p:nvSpPr>
          <p:cNvPr id="36" name="Rectangle 35">
            <a:extLst>
              <a:ext uri="{FF2B5EF4-FFF2-40B4-BE49-F238E27FC236}">
                <a16:creationId xmlns:a16="http://schemas.microsoft.com/office/drawing/2014/main" id="{5A51FEB9-7561-4A07-96B4-AFAF44C041BD}"/>
              </a:ext>
            </a:extLst>
          </p:cNvPr>
          <p:cNvSpPr>
            <a:spLocks noGrp="1"/>
          </p:cNvSpPr>
          <p:nvPr/>
        </p:nvSpPr>
        <p:spPr>
          <a:xfrm>
            <a:off x="9239250" y="4057650"/>
            <a:ext cx="2076450" cy="26670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What is still unknown?</a:t>
            </a:r>
          </a:p>
        </p:txBody>
      </p:sp>
      <p:sp>
        <p:nvSpPr>
          <p:cNvPr id="37" name="Rectangle: Rounded Corners 36">
            <a:extLst>
              <a:ext uri="{FF2B5EF4-FFF2-40B4-BE49-F238E27FC236}">
                <a16:creationId xmlns:a16="http://schemas.microsoft.com/office/drawing/2014/main" id="{474DF88E-9F2F-4AC4-B0BB-A73FE426FC90}"/>
              </a:ext>
            </a:extLst>
          </p:cNvPr>
          <p:cNvSpPr>
            <a:spLocks noGrp="1"/>
          </p:cNvSpPr>
          <p:nvPr/>
        </p:nvSpPr>
        <p:spPr>
          <a:xfrm>
            <a:off x="1619250" y="4686300"/>
            <a:ext cx="8953500" cy="876300"/>
          </a:xfrm>
          <a:prstGeom prst="roundRect">
            <a:avLst>
              <a:gd name="adj" fmla="val 21739"/>
            </a:avLst>
          </a:prstGeom>
          <a:solidFill>
            <a:srgbClr val="0A1020"/>
          </a:solidFill>
          <a:ln w="9525">
            <a:solidFill>
              <a:srgbClr val="0A1020"/>
            </a:solidFill>
            <a:prstDash val="solid"/>
          </a:ln>
        </p:spPr>
        <p:txBody>
          <a:bodyPr/>
          <a:lstStyle/>
          <a:p>
            <a:endParaRPr lang="en-US"/>
          </a:p>
        </p:txBody>
      </p:sp>
      <p:sp>
        <p:nvSpPr>
          <p:cNvPr id="38" name="Rectangle 37">
            <a:extLst>
              <a:ext uri="{FF2B5EF4-FFF2-40B4-BE49-F238E27FC236}">
                <a16:creationId xmlns:a16="http://schemas.microsoft.com/office/drawing/2014/main" id="{7056929D-6358-406C-963E-AE071D226074}"/>
              </a:ext>
            </a:extLst>
          </p:cNvPr>
          <p:cNvSpPr>
            <a:spLocks noGrp="1"/>
          </p:cNvSpPr>
          <p:nvPr/>
        </p:nvSpPr>
        <p:spPr>
          <a:xfrm>
            <a:off x="1905000" y="4876800"/>
            <a:ext cx="8382000" cy="266700"/>
          </a:xfrm>
          <a:prstGeom prst="rect">
            <a:avLst/>
          </a:prstGeom>
          <a:noFill/>
          <a:ln w="0">
            <a:noFill/>
          </a:ln>
        </p:spPr>
        <p:txBody>
          <a:bodyPr wrap="square" lIns="0" tIns="0" rIns="0" bIns="0" anchor="t">
            <a:normAutofit/>
          </a:bodyPr>
          <a:lstStyle/>
          <a:p>
            <a:pPr algn="ctr">
              <a:defRPr sz="1575" b="1" i="0">
                <a:solidFill>
                  <a:srgbClr val="FFFFFF"/>
                </a:solidFill>
                <a:latin typeface="DejaVu Sans"/>
                <a:ea typeface="DejaVu Sans"/>
                <a:cs typeface="DejaVu Sans"/>
              </a:defRPr>
            </a:pPr>
            <a:r>
              <a:rPr sz="1575" b="1" i="0">
                <a:solidFill>
                  <a:srgbClr val="FFFFFF"/>
                </a:solidFill>
                <a:latin typeface="DejaVu Sans"/>
                <a:ea typeface="DejaVu Sans"/>
                <a:cs typeface="DejaVu Sans"/>
              </a:rPr>
              <a:t>A product owner reviews intent.md before the next stage</a:t>
            </a:r>
          </a:p>
        </p:txBody>
      </p:sp>
      <p:sp>
        <p:nvSpPr>
          <p:cNvPr id="39" name="Rectangle 38">
            <a:extLst>
              <a:ext uri="{FF2B5EF4-FFF2-40B4-BE49-F238E27FC236}">
                <a16:creationId xmlns:a16="http://schemas.microsoft.com/office/drawing/2014/main" id="{58B7360C-D879-43F7-B214-7937CA66BE08}"/>
              </a:ext>
            </a:extLst>
          </p:cNvPr>
          <p:cNvSpPr>
            <a:spLocks noGrp="1"/>
          </p:cNvSpPr>
          <p:nvPr/>
        </p:nvSpPr>
        <p:spPr>
          <a:xfrm>
            <a:off x="1905000" y="5219700"/>
            <a:ext cx="8382000" cy="190500"/>
          </a:xfrm>
          <a:prstGeom prst="rect">
            <a:avLst/>
          </a:prstGeom>
          <a:noFill/>
          <a:ln w="0">
            <a:noFill/>
          </a:ln>
        </p:spPr>
        <p:txBody>
          <a:bodyPr wrap="square" lIns="0" tIns="0" rIns="0" bIns="0" anchor="t">
            <a:normAutofit/>
          </a:bodyPr>
          <a:lstStyle/>
          <a:p>
            <a:pPr algn="ctr">
              <a:defRPr sz="975" b="0" i="0">
                <a:solidFill>
                  <a:srgbClr val="D6E1F3"/>
                </a:solidFill>
                <a:latin typeface="DejaVu Sans"/>
                <a:ea typeface="DejaVu Sans"/>
                <a:cs typeface="DejaVu Sans"/>
              </a:defRPr>
            </a:pPr>
            <a:r>
              <a:rPr sz="975" b="0" i="0">
                <a:solidFill>
                  <a:srgbClr val="D6E1F3"/>
                </a:solidFill>
                <a:latin typeface="DejaVu Sans"/>
                <a:ea typeface="DejaVu Sans"/>
                <a:cs typeface="DejaVu Sans"/>
              </a:rPr>
              <a:t>The first version can take hours instead of weeks</a:t>
            </a:r>
          </a:p>
        </p:txBody>
      </p:sp>
    </p:spTree>
    <p:extLst>
      <p:ext uri="{BB962C8B-B14F-4D97-AF65-F5344CB8AC3E}">
        <p14:creationId xmlns:p14="http://schemas.microsoft.com/office/powerpoint/2010/main" val="1285206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7103E2B1-B4D8-4353-AA43-F67C4459D1AA}"/>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CREATE SPEC.MD WITH CURRENT POLICIES</a:t>
            </a:r>
          </a:p>
        </p:txBody>
      </p:sp>
      <p:sp>
        <p:nvSpPr>
          <p:cNvPr id="2" name="Rectangle 1">
            <a:extLst>
              <a:ext uri="{FF2B5EF4-FFF2-40B4-BE49-F238E27FC236}">
                <a16:creationId xmlns:a16="http://schemas.microsoft.com/office/drawing/2014/main" id="{A008AACB-F5DB-4A29-8C7C-4CFD578024C4}"/>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Stage 2: Design</a:t>
            </a:r>
          </a:p>
        </p:txBody>
      </p:sp>
      <p:sp>
        <p:nvSpPr>
          <p:cNvPr id="3" name="Rectangle 2">
            <a:extLst>
              <a:ext uri="{FF2B5EF4-FFF2-40B4-BE49-F238E27FC236}">
                <a16:creationId xmlns:a16="http://schemas.microsoft.com/office/drawing/2014/main" id="{5C8CD215-B42D-43B7-AE99-38CEF891E856}"/>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A1C12084-0BA0-445A-8BB5-8EC14C42A4FB}"/>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09</a:t>
            </a:r>
          </a:p>
        </p:txBody>
      </p:sp>
      <p:sp>
        <p:nvSpPr>
          <p:cNvPr id="5" name="Rectangle 4">
            <a:extLst>
              <a:ext uri="{FF2B5EF4-FFF2-40B4-BE49-F238E27FC236}">
                <a16:creationId xmlns:a16="http://schemas.microsoft.com/office/drawing/2014/main" id="{A2FBB333-064E-47DB-AE59-515E96C2192D}"/>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67FEB69E-0847-4261-95E4-C32568BA8475}"/>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18A01EB4-5FF5-4C37-8AB0-23EF5CB12D35}"/>
              </a:ext>
            </a:extLst>
          </p:cNvPr>
          <p:cNvSpPr>
            <a:spLocks noGrp="1"/>
          </p:cNvSpPr>
          <p:nvPr/>
        </p:nvSpPr>
        <p:spPr>
          <a:xfrm>
            <a:off x="2498725" y="6419850"/>
            <a:ext cx="1755775" cy="47625"/>
          </a:xfrm>
          <a:prstGeom prst="rect">
            <a:avLst/>
          </a:prstGeom>
          <a:solidFill>
            <a:srgbClr val="F2A93B"/>
          </a:solidFill>
          <a:ln w="0">
            <a:noFill/>
            <a:prstDash val="solid"/>
          </a:ln>
        </p:spPr>
        <p:txBody>
          <a:bodyPr/>
          <a:lstStyle/>
          <a:p>
            <a:endParaRPr lang="en-US"/>
          </a:p>
        </p:txBody>
      </p:sp>
      <p:sp>
        <p:nvSpPr>
          <p:cNvPr id="8" name="Rectangle 7">
            <a:extLst>
              <a:ext uri="{FF2B5EF4-FFF2-40B4-BE49-F238E27FC236}">
                <a16:creationId xmlns:a16="http://schemas.microsoft.com/office/drawing/2014/main" id="{FAFD4BD2-E1AF-4145-BA4D-BA1180AAA9F2}"/>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1" i="0">
                <a:solidFill>
                  <a:srgbClr val="F2A93B"/>
                </a:solidFill>
                <a:latin typeface="DejaVu Sans"/>
                <a:ea typeface="DejaVu Sans"/>
                <a:cs typeface="DejaVu Sans"/>
              </a:defRPr>
            </a:pPr>
            <a:r>
              <a:rPr sz="675" b="1" i="0">
                <a:solidFill>
                  <a:srgbClr val="F2A93B"/>
                </a:solidFill>
                <a:latin typeface="DejaVu Sans"/>
                <a:ea typeface="DejaVu Sans"/>
                <a:cs typeface="DejaVu Sans"/>
              </a:rPr>
              <a:t>DESIGN</a:t>
            </a:r>
          </a:p>
        </p:txBody>
      </p:sp>
      <p:sp>
        <p:nvSpPr>
          <p:cNvPr id="9" name="Rectangle 8">
            <a:extLst>
              <a:ext uri="{FF2B5EF4-FFF2-40B4-BE49-F238E27FC236}">
                <a16:creationId xmlns:a16="http://schemas.microsoft.com/office/drawing/2014/main" id="{1086FCC7-E7AB-4FE1-96F4-961AEC2FB906}"/>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130B06F4-B025-47D4-AA6F-D2D1E177204D}"/>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DBAF0E17-63D3-4DA8-8E76-F37CFB724297}"/>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CF60D87B-C3FE-429B-B71E-AD935899B30E}"/>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26D2AB39-23CF-483A-8255-965AC2967217}"/>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8F8D6C4D-8D20-40AE-9BC2-38B1ADF05E56}"/>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EAFDBB38-CF29-4508-BF65-28C56766BF55}"/>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CABBDD88-92D5-4DC7-BDB3-28E79034BFF5}"/>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988E854E-FE53-42D0-80B7-D409E196956D}"/>
              </a:ext>
            </a:extLst>
          </p:cNvPr>
          <p:cNvSpPr>
            <a:spLocks noGrp="1"/>
          </p:cNvSpPr>
          <p:nvPr/>
        </p:nvSpPr>
        <p:spPr>
          <a:xfrm>
            <a:off x="685800" y="1485900"/>
            <a:ext cx="2952750" cy="1466850"/>
          </a:xfrm>
          <a:prstGeom prst="roundRect">
            <a:avLst>
              <a:gd name="adj" fmla="val 12987"/>
            </a:avLst>
          </a:prstGeom>
          <a:solidFill>
            <a:srgbClr val="FFF0EB"/>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3EFD5C7-3E05-438E-8C50-4BF01E563006}"/>
              </a:ext>
            </a:extLst>
          </p:cNvPr>
          <p:cNvSpPr>
            <a:spLocks noGrp="1"/>
          </p:cNvSpPr>
          <p:nvPr/>
        </p:nvSpPr>
        <p:spPr>
          <a:xfrm>
            <a:off x="685800" y="1847850"/>
            <a:ext cx="2952750" cy="285750"/>
          </a:xfrm>
          <a:prstGeom prst="rect">
            <a:avLst/>
          </a:prstGeom>
          <a:noFill/>
          <a:ln w="0">
            <a:noFill/>
          </a:ln>
        </p:spPr>
        <p:txBody>
          <a:bodyPr wrap="square" lIns="0" tIns="0" rIns="0" bIns="0" anchor="t">
            <a:normAutofit/>
          </a:bodyPr>
          <a:lstStyle/>
          <a:p>
            <a:pPr algn="ctr">
              <a:defRPr sz="1800" b="1" i="0">
                <a:solidFill>
                  <a:srgbClr val="FF8066"/>
                </a:solidFill>
                <a:latin typeface="DejaVu Sans Mono"/>
                <a:ea typeface="DejaVu Sans Mono"/>
                <a:cs typeface="DejaVu Sans Mono"/>
              </a:defRPr>
            </a:pPr>
            <a:r>
              <a:rPr sz="1800" b="1" i="0">
                <a:solidFill>
                  <a:srgbClr val="FF8066"/>
                </a:solidFill>
                <a:latin typeface="DejaVu Sans Mono"/>
                <a:ea typeface="DejaVu Sans Mono"/>
                <a:cs typeface="DejaVu Sans Mono"/>
              </a:rPr>
              <a:t>intent.md</a:t>
            </a:r>
          </a:p>
        </p:txBody>
      </p:sp>
      <p:sp>
        <p:nvSpPr>
          <p:cNvPr id="19" name="Rectangle 18">
            <a:extLst>
              <a:ext uri="{FF2B5EF4-FFF2-40B4-BE49-F238E27FC236}">
                <a16:creationId xmlns:a16="http://schemas.microsoft.com/office/drawing/2014/main" id="{2EF64993-F165-4FF7-92D6-1AC14D62D4B4}"/>
              </a:ext>
            </a:extLst>
          </p:cNvPr>
          <p:cNvSpPr>
            <a:spLocks noGrp="1"/>
          </p:cNvSpPr>
          <p:nvPr/>
        </p:nvSpPr>
        <p:spPr>
          <a:xfrm>
            <a:off x="685800" y="2343150"/>
            <a:ext cx="2952750" cy="19050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problem and constraints</a:t>
            </a:r>
          </a:p>
        </p:txBody>
      </p:sp>
      <p:sp>
        <p:nvSpPr>
          <p:cNvPr id="20" name="Arrow: Right 19">
            <a:extLst>
              <a:ext uri="{FF2B5EF4-FFF2-40B4-BE49-F238E27FC236}">
                <a16:creationId xmlns:a16="http://schemas.microsoft.com/office/drawing/2014/main" id="{A6F8D4F3-CF28-4E1D-BC10-C9F1E19C8F33}"/>
              </a:ext>
            </a:extLst>
          </p:cNvPr>
          <p:cNvSpPr>
            <a:spLocks noGrp="1"/>
          </p:cNvSpPr>
          <p:nvPr/>
        </p:nvSpPr>
        <p:spPr>
          <a:xfrm>
            <a:off x="3848100" y="2076450"/>
            <a:ext cx="666750" cy="247650"/>
          </a:xfrm>
          <a:prstGeom prst="rightArrow">
            <a:avLst/>
          </a:prstGeom>
          <a:solidFill>
            <a:srgbClr val="A5AFC0"/>
          </a:solidFill>
          <a:ln w="0">
            <a:noFill/>
          </a:ln>
        </p:spPr>
        <p:txBody>
          <a:bodyPr/>
          <a:lstStyle/>
          <a:p>
            <a:endParaRPr lang="en-US"/>
          </a:p>
        </p:txBody>
      </p:sp>
      <p:sp>
        <p:nvSpPr>
          <p:cNvPr id="21" name="Rectangle: Rounded Corners 20">
            <a:extLst>
              <a:ext uri="{FF2B5EF4-FFF2-40B4-BE49-F238E27FC236}">
                <a16:creationId xmlns:a16="http://schemas.microsoft.com/office/drawing/2014/main" id="{DE1F9AF4-FDD4-417D-BBE4-0435F8199E1A}"/>
              </a:ext>
            </a:extLst>
          </p:cNvPr>
          <p:cNvSpPr>
            <a:spLocks noGrp="1"/>
          </p:cNvSpPr>
          <p:nvPr/>
        </p:nvSpPr>
        <p:spPr>
          <a:xfrm>
            <a:off x="4724400" y="1314450"/>
            <a:ext cx="2952750" cy="1809750"/>
          </a:xfrm>
          <a:prstGeom prst="roundRect">
            <a:avLst>
              <a:gd name="adj" fmla="val 10526"/>
            </a:avLst>
          </a:prstGeom>
          <a:solidFill>
            <a:srgbClr val="F0ECFF"/>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523424AA-A444-49D2-A008-604F73EB8FF2}"/>
              </a:ext>
            </a:extLst>
          </p:cNvPr>
          <p:cNvSpPr>
            <a:spLocks noGrp="1"/>
          </p:cNvSpPr>
          <p:nvPr/>
        </p:nvSpPr>
        <p:spPr>
          <a:xfrm>
            <a:off x="4724400" y="1676400"/>
            <a:ext cx="2952750" cy="285750"/>
          </a:xfrm>
          <a:prstGeom prst="rect">
            <a:avLst/>
          </a:prstGeom>
          <a:noFill/>
          <a:ln w="0">
            <a:noFill/>
          </a:ln>
        </p:spPr>
        <p:txBody>
          <a:bodyPr wrap="square" lIns="0" tIns="0" rIns="0" bIns="0" anchor="t">
            <a:normAutofit/>
          </a:bodyPr>
          <a:lstStyle/>
          <a:p>
            <a:pPr algn="ctr">
              <a:defRPr sz="1650" b="1" i="0">
                <a:solidFill>
                  <a:srgbClr val="7457E8"/>
                </a:solidFill>
                <a:latin typeface="DejaVu Sans"/>
                <a:ea typeface="DejaVu Sans"/>
                <a:cs typeface="DejaVu Sans"/>
              </a:defRPr>
            </a:pPr>
            <a:r>
              <a:rPr lang="en-US" sz="1650" b="1" i="0" dirty="0">
                <a:solidFill>
                  <a:srgbClr val="7457E8"/>
                </a:solidFill>
                <a:latin typeface="DejaVu Sans"/>
                <a:ea typeface="DejaVu Sans"/>
                <a:cs typeface="DejaVu Sans"/>
              </a:rPr>
              <a:t>AI</a:t>
            </a:r>
            <a:r>
              <a:rPr sz="1650" b="1" i="0" dirty="0">
                <a:solidFill>
                  <a:srgbClr val="7457E8"/>
                </a:solidFill>
                <a:latin typeface="DejaVu Sans"/>
                <a:ea typeface="DejaVu Sans"/>
                <a:cs typeface="DejaVu Sans"/>
              </a:rPr>
              <a:t> + skills</a:t>
            </a:r>
          </a:p>
        </p:txBody>
      </p:sp>
      <p:sp>
        <p:nvSpPr>
          <p:cNvPr id="23" name="Rectangle 22">
            <a:extLst>
              <a:ext uri="{FF2B5EF4-FFF2-40B4-BE49-F238E27FC236}">
                <a16:creationId xmlns:a16="http://schemas.microsoft.com/office/drawing/2014/main" id="{E3D0C527-7D22-4A5F-A84F-E469910B3843}"/>
              </a:ext>
            </a:extLst>
          </p:cNvPr>
          <p:cNvSpPr>
            <a:spLocks noGrp="1"/>
          </p:cNvSpPr>
          <p:nvPr/>
        </p:nvSpPr>
        <p:spPr>
          <a:xfrm>
            <a:off x="4724400" y="2114550"/>
            <a:ext cx="2952750" cy="857250"/>
          </a:xfrm>
          <a:prstGeom prst="rect">
            <a:avLst/>
          </a:prstGeom>
          <a:noFill/>
          <a:ln w="0">
            <a:noFill/>
          </a:ln>
        </p:spPr>
        <p:txBody>
          <a:bodyPr wrap="square" lIns="0" tIns="0" rIns="0" bIns="0" anchor="t">
            <a:normAutofit/>
          </a:bodyPr>
          <a:lstStyle/>
          <a:p>
            <a:pPr algn="ctr">
              <a:defRPr sz="1125" b="0" i="0">
                <a:solidFill>
                  <a:srgbClr val="475569"/>
                </a:solidFill>
                <a:latin typeface="DejaVu Sans"/>
                <a:ea typeface="DejaVu Sans"/>
                <a:cs typeface="DejaVu Sans"/>
              </a:defRPr>
            </a:pPr>
            <a:r>
              <a:rPr sz="1125" b="0" i="0">
                <a:solidFill>
                  <a:srgbClr val="475569"/>
                </a:solidFill>
                <a:latin typeface="DejaVu Sans"/>
                <a:ea typeface="DejaVu Sans"/>
                <a:cs typeface="DejaVu Sans"/>
              </a:rPr>
              <a:t>brand</a:t>
            </a:r>
          </a:p>
          <a:p>
            <a:pPr algn="ctr">
              <a:defRPr sz="1125" b="0" i="0">
                <a:solidFill>
                  <a:srgbClr val="475569"/>
                </a:solidFill>
                <a:latin typeface="DejaVu Sans"/>
                <a:ea typeface="DejaVu Sans"/>
                <a:cs typeface="DejaVu Sans"/>
              </a:defRPr>
            </a:pPr>
            <a:r>
              <a:rPr sz="1125" b="0" i="0">
                <a:solidFill>
                  <a:srgbClr val="475569"/>
                </a:solidFill>
                <a:latin typeface="DejaVu Sans"/>
                <a:ea typeface="DejaVu Sans"/>
                <a:cs typeface="DejaVu Sans"/>
              </a:rPr>
              <a:t>security</a:t>
            </a:r>
          </a:p>
          <a:p>
            <a:pPr algn="ctr">
              <a:defRPr sz="1125" b="0" i="0">
                <a:solidFill>
                  <a:srgbClr val="475569"/>
                </a:solidFill>
                <a:latin typeface="DejaVu Sans"/>
                <a:ea typeface="DejaVu Sans"/>
                <a:cs typeface="DejaVu Sans"/>
              </a:defRPr>
            </a:pPr>
            <a:r>
              <a:rPr sz="1125" b="0" i="0">
                <a:solidFill>
                  <a:srgbClr val="475569"/>
                </a:solidFill>
                <a:latin typeface="DejaVu Sans"/>
                <a:ea typeface="DejaVu Sans"/>
                <a:cs typeface="DejaVu Sans"/>
              </a:rPr>
              <a:t>compliance</a:t>
            </a:r>
          </a:p>
          <a:p>
            <a:pPr algn="ctr">
              <a:defRPr sz="1125" b="0" i="0">
                <a:solidFill>
                  <a:srgbClr val="475569"/>
                </a:solidFill>
                <a:latin typeface="DejaVu Sans"/>
                <a:ea typeface="DejaVu Sans"/>
                <a:cs typeface="DejaVu Sans"/>
              </a:defRPr>
            </a:pPr>
            <a:r>
              <a:rPr sz="1125" b="0" i="0">
                <a:solidFill>
                  <a:srgbClr val="475569"/>
                </a:solidFill>
                <a:latin typeface="DejaVu Sans"/>
                <a:ea typeface="DejaVu Sans"/>
                <a:cs typeface="DejaVu Sans"/>
              </a:rPr>
              <a:t>UX</a:t>
            </a:r>
          </a:p>
        </p:txBody>
      </p:sp>
      <p:sp>
        <p:nvSpPr>
          <p:cNvPr id="24" name="Arrow: Right 23">
            <a:extLst>
              <a:ext uri="{FF2B5EF4-FFF2-40B4-BE49-F238E27FC236}">
                <a16:creationId xmlns:a16="http://schemas.microsoft.com/office/drawing/2014/main" id="{B8DB8EB5-A92E-4F33-BA7B-0C100DB55028}"/>
              </a:ext>
            </a:extLst>
          </p:cNvPr>
          <p:cNvSpPr>
            <a:spLocks noGrp="1"/>
          </p:cNvSpPr>
          <p:nvPr/>
        </p:nvSpPr>
        <p:spPr>
          <a:xfrm>
            <a:off x="7886700" y="2076450"/>
            <a:ext cx="666750" cy="247650"/>
          </a:xfrm>
          <a:prstGeom prst="rightArrow">
            <a:avLst/>
          </a:prstGeom>
          <a:solidFill>
            <a:srgbClr val="A5AFC0"/>
          </a:solidFill>
          <a:ln w="0">
            <a:noFill/>
          </a:ln>
        </p:spPr>
        <p:txBody>
          <a:bodyPr/>
          <a:lstStyle/>
          <a:p>
            <a:endParaRPr lang="en-US"/>
          </a:p>
        </p:txBody>
      </p:sp>
      <p:sp>
        <p:nvSpPr>
          <p:cNvPr id="25" name="Rectangle: Rounded Corners 24">
            <a:extLst>
              <a:ext uri="{FF2B5EF4-FFF2-40B4-BE49-F238E27FC236}">
                <a16:creationId xmlns:a16="http://schemas.microsoft.com/office/drawing/2014/main" id="{4E2D80DA-85D4-4B45-AE35-B7D097C1078A}"/>
              </a:ext>
            </a:extLst>
          </p:cNvPr>
          <p:cNvSpPr>
            <a:spLocks noGrp="1"/>
          </p:cNvSpPr>
          <p:nvPr/>
        </p:nvSpPr>
        <p:spPr>
          <a:xfrm>
            <a:off x="8763000" y="1485900"/>
            <a:ext cx="2743200" cy="1466850"/>
          </a:xfrm>
          <a:prstGeom prst="roundRect">
            <a:avLst>
              <a:gd name="adj" fmla="val 12987"/>
            </a:avLst>
          </a:prstGeom>
          <a:solidFill>
            <a:srgbClr val="FFF7E8"/>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26760107-393C-4E58-BED7-44B4E7EB36CE}"/>
              </a:ext>
            </a:extLst>
          </p:cNvPr>
          <p:cNvSpPr>
            <a:spLocks noGrp="1"/>
          </p:cNvSpPr>
          <p:nvPr/>
        </p:nvSpPr>
        <p:spPr>
          <a:xfrm>
            <a:off x="8763000" y="1847850"/>
            <a:ext cx="2743200" cy="285750"/>
          </a:xfrm>
          <a:prstGeom prst="rect">
            <a:avLst/>
          </a:prstGeom>
          <a:noFill/>
          <a:ln w="0">
            <a:noFill/>
          </a:ln>
        </p:spPr>
        <p:txBody>
          <a:bodyPr wrap="square" lIns="0" tIns="0" rIns="0" bIns="0" anchor="t">
            <a:normAutofit/>
          </a:bodyPr>
          <a:lstStyle/>
          <a:p>
            <a:pPr algn="ctr">
              <a:defRPr sz="1800" b="1" i="0">
                <a:solidFill>
                  <a:srgbClr val="F2A93B"/>
                </a:solidFill>
                <a:latin typeface="DejaVu Sans Mono"/>
                <a:ea typeface="DejaVu Sans Mono"/>
                <a:cs typeface="DejaVu Sans Mono"/>
              </a:defRPr>
            </a:pPr>
            <a:r>
              <a:rPr sz="1800" b="1" i="0">
                <a:solidFill>
                  <a:srgbClr val="F2A93B"/>
                </a:solidFill>
                <a:latin typeface="DejaVu Sans Mono"/>
                <a:ea typeface="DejaVu Sans Mono"/>
                <a:cs typeface="DejaVu Sans Mono"/>
              </a:rPr>
              <a:t>spec.md</a:t>
            </a:r>
          </a:p>
        </p:txBody>
      </p:sp>
      <p:sp>
        <p:nvSpPr>
          <p:cNvPr id="27" name="Rectangle 26">
            <a:extLst>
              <a:ext uri="{FF2B5EF4-FFF2-40B4-BE49-F238E27FC236}">
                <a16:creationId xmlns:a16="http://schemas.microsoft.com/office/drawing/2014/main" id="{FD5B50AA-646D-4E53-8978-E5F15276ABDA}"/>
              </a:ext>
            </a:extLst>
          </p:cNvPr>
          <p:cNvSpPr>
            <a:spLocks noGrp="1"/>
          </p:cNvSpPr>
          <p:nvPr/>
        </p:nvSpPr>
        <p:spPr>
          <a:xfrm>
            <a:off x="8763000" y="2343150"/>
            <a:ext cx="2743200" cy="190500"/>
          </a:xfrm>
          <a:prstGeom prst="rect">
            <a:avLst/>
          </a:prstGeom>
          <a:noFill/>
          <a:ln w="0">
            <a:noFill/>
          </a:ln>
        </p:spPr>
        <p:txBody>
          <a:bodyPr wrap="square" lIns="0" tIns="0" rIns="0" bIns="0" anchor="t">
            <a:normAutofit/>
          </a:bodyPr>
          <a:lstStyle/>
          <a:p>
            <a:pPr algn="ctr">
              <a:defRPr sz="1050" b="0" i="0">
                <a:solidFill>
                  <a:srgbClr val="475569"/>
                </a:solidFill>
                <a:latin typeface="DejaVu Sans"/>
                <a:ea typeface="DejaVu Sans"/>
                <a:cs typeface="DejaVu Sans"/>
              </a:defRPr>
            </a:pPr>
            <a:r>
              <a:rPr sz="1050" b="0" i="0">
                <a:solidFill>
                  <a:srgbClr val="475569"/>
                </a:solidFill>
                <a:latin typeface="DejaVu Sans"/>
                <a:ea typeface="DejaVu Sans"/>
                <a:cs typeface="DejaVu Sans"/>
              </a:rPr>
              <a:t>requirements and design</a:t>
            </a:r>
          </a:p>
        </p:txBody>
      </p:sp>
      <p:sp>
        <p:nvSpPr>
          <p:cNvPr id="28" name="Rectangle: Rounded Corners 27">
            <a:extLst>
              <a:ext uri="{FF2B5EF4-FFF2-40B4-BE49-F238E27FC236}">
                <a16:creationId xmlns:a16="http://schemas.microsoft.com/office/drawing/2014/main" id="{92318669-E3CB-45A4-98C9-6CD6609630B8}"/>
              </a:ext>
            </a:extLst>
          </p:cNvPr>
          <p:cNvSpPr>
            <a:spLocks noGrp="1"/>
          </p:cNvSpPr>
          <p:nvPr/>
        </p:nvSpPr>
        <p:spPr>
          <a:xfrm>
            <a:off x="1619250" y="3619500"/>
            <a:ext cx="8953500" cy="1104900"/>
          </a:xfrm>
          <a:prstGeom prst="roundRect">
            <a:avLst>
              <a:gd name="adj" fmla="val 15517"/>
            </a:avLst>
          </a:prstGeom>
          <a:solidFill>
            <a:srgbClr val="FFFFFF"/>
          </a:solidFill>
          <a:ln w="9525">
            <a:solidFill>
              <a:srgbClr val="D8DEE9"/>
            </a:solidFill>
            <a:prstDash val="solid"/>
          </a:ln>
        </p:spPr>
        <p:txBody>
          <a:bodyPr/>
          <a:lstStyle/>
          <a:p>
            <a:endParaRPr lang="en-US"/>
          </a:p>
        </p:txBody>
      </p:sp>
      <p:sp>
        <p:nvSpPr>
          <p:cNvPr id="29" name="Rectangle: Rounded Corners 28">
            <a:extLst>
              <a:ext uri="{FF2B5EF4-FFF2-40B4-BE49-F238E27FC236}">
                <a16:creationId xmlns:a16="http://schemas.microsoft.com/office/drawing/2014/main" id="{3E5E4517-1964-4C93-8E38-25FA30448A62}"/>
              </a:ext>
            </a:extLst>
          </p:cNvPr>
          <p:cNvSpPr>
            <a:spLocks noGrp="1"/>
          </p:cNvSpPr>
          <p:nvPr/>
        </p:nvSpPr>
        <p:spPr>
          <a:xfrm>
            <a:off x="1619250" y="3619500"/>
            <a:ext cx="95250" cy="1104900"/>
          </a:xfrm>
          <a:prstGeom prst="roundRect">
            <a:avLst>
              <a:gd name="adj" fmla="val 50000"/>
            </a:avLst>
          </a:prstGeom>
          <a:solidFill>
            <a:srgbClr val="29A36A"/>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EF49708F-862D-4C0C-855B-BB0A9D73088A}"/>
              </a:ext>
            </a:extLst>
          </p:cNvPr>
          <p:cNvSpPr>
            <a:spLocks noGrp="1"/>
          </p:cNvSpPr>
          <p:nvPr/>
        </p:nvSpPr>
        <p:spPr>
          <a:xfrm>
            <a:off x="1866900" y="3829050"/>
            <a:ext cx="849630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Human review</a:t>
            </a:r>
          </a:p>
        </p:txBody>
      </p:sp>
      <p:sp>
        <p:nvSpPr>
          <p:cNvPr id="31" name="Rectangle 30">
            <a:extLst>
              <a:ext uri="{FF2B5EF4-FFF2-40B4-BE49-F238E27FC236}">
                <a16:creationId xmlns:a16="http://schemas.microsoft.com/office/drawing/2014/main" id="{3C8AAA32-64A6-4505-9943-C933B1488707}"/>
              </a:ext>
            </a:extLst>
          </p:cNvPr>
          <p:cNvSpPr>
            <a:spLocks noGrp="1"/>
          </p:cNvSpPr>
          <p:nvPr/>
        </p:nvSpPr>
        <p:spPr>
          <a:xfrm>
            <a:off x="1866900" y="4267200"/>
            <a:ext cx="8496300" cy="26670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The product owner checks that the spec solves the original problem. Policy owners answer flagged questions.</a:t>
            </a:r>
          </a:p>
        </p:txBody>
      </p:sp>
      <p:sp>
        <p:nvSpPr>
          <p:cNvPr id="32" name="Rectangle 31">
            <a:extLst>
              <a:ext uri="{FF2B5EF4-FFF2-40B4-BE49-F238E27FC236}">
                <a16:creationId xmlns:a16="http://schemas.microsoft.com/office/drawing/2014/main" id="{C11682F0-3546-4D21-9B54-08DF09ECB9C2}"/>
              </a:ext>
            </a:extLst>
          </p:cNvPr>
          <p:cNvSpPr>
            <a:spLocks noGrp="1"/>
          </p:cNvSpPr>
          <p:nvPr/>
        </p:nvSpPr>
        <p:spPr>
          <a:xfrm>
            <a:off x="685800" y="5181600"/>
            <a:ext cx="10820400" cy="285750"/>
          </a:xfrm>
          <a:prstGeom prst="rect">
            <a:avLst/>
          </a:prstGeom>
          <a:noFill/>
          <a:ln w="0">
            <a:noFill/>
          </a:ln>
        </p:spPr>
        <p:txBody>
          <a:bodyPr wrap="square" lIns="0" tIns="0" rIns="0" bIns="0" anchor="t">
            <a:normAutofit/>
          </a:bodyPr>
          <a:lstStyle/>
          <a:p>
            <a:pPr algn="ctr">
              <a:defRPr sz="1350" b="1" i="0">
                <a:solidFill>
                  <a:srgbClr val="7457E8"/>
                </a:solidFill>
                <a:latin typeface="DejaVu Sans"/>
                <a:ea typeface="DejaVu Sans"/>
                <a:cs typeface="DejaVu Sans"/>
              </a:defRPr>
            </a:pPr>
            <a:r>
              <a:rPr sz="1350" b="1" i="0" dirty="0">
                <a:solidFill>
                  <a:srgbClr val="7457E8"/>
                </a:solidFill>
                <a:latin typeface="DejaVu Sans"/>
                <a:ea typeface="DejaVu Sans"/>
                <a:cs typeface="DejaVu Sans"/>
              </a:rPr>
              <a:t>Policy problems appear before coding starts, when changes are cheaper.</a:t>
            </a:r>
          </a:p>
        </p:txBody>
      </p:sp>
    </p:spTree>
    <p:extLst>
      <p:ext uri="{BB962C8B-B14F-4D97-AF65-F5344CB8AC3E}">
        <p14:creationId xmlns:p14="http://schemas.microsoft.com/office/powerpoint/2010/main" val="317775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87A2F3E6-7B0E-4B46-880F-3E56F1F9F66F}"/>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PLAN MODE COMES BEFORE CODE</a:t>
            </a:r>
          </a:p>
        </p:txBody>
      </p:sp>
      <p:sp>
        <p:nvSpPr>
          <p:cNvPr id="2" name="Rectangle 1">
            <a:extLst>
              <a:ext uri="{FF2B5EF4-FFF2-40B4-BE49-F238E27FC236}">
                <a16:creationId xmlns:a16="http://schemas.microsoft.com/office/drawing/2014/main" id="{AB78A8E9-42B9-480A-A621-FC2E25C066B9}"/>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Stage 3: Build</a:t>
            </a:r>
          </a:p>
        </p:txBody>
      </p:sp>
      <p:sp>
        <p:nvSpPr>
          <p:cNvPr id="3" name="Rectangle 2">
            <a:extLst>
              <a:ext uri="{FF2B5EF4-FFF2-40B4-BE49-F238E27FC236}">
                <a16:creationId xmlns:a16="http://schemas.microsoft.com/office/drawing/2014/main" id="{FA0725CC-49BE-4054-A104-541D857379C0}"/>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F378CFD0-10D4-40A5-936B-0A2C214F4D8F}"/>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10</a:t>
            </a:r>
          </a:p>
        </p:txBody>
      </p:sp>
      <p:sp>
        <p:nvSpPr>
          <p:cNvPr id="5" name="Rectangle 4">
            <a:extLst>
              <a:ext uri="{FF2B5EF4-FFF2-40B4-BE49-F238E27FC236}">
                <a16:creationId xmlns:a16="http://schemas.microsoft.com/office/drawing/2014/main" id="{9576E683-1753-4403-BA1C-25CEBA19EBC0}"/>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7EED918E-2798-4DF1-9013-F46A95CBDE00}"/>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3C893D7B-F576-43EC-AB19-073103DBE6CD}"/>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55E3EA6F-E061-430C-8272-37094D3CD4F3}"/>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69D4D393-D92F-451F-AB96-307D233F153D}"/>
              </a:ext>
            </a:extLst>
          </p:cNvPr>
          <p:cNvSpPr>
            <a:spLocks noGrp="1"/>
          </p:cNvSpPr>
          <p:nvPr/>
        </p:nvSpPr>
        <p:spPr>
          <a:xfrm>
            <a:off x="4311650" y="6419850"/>
            <a:ext cx="1755775" cy="47625"/>
          </a:xfrm>
          <a:prstGeom prst="rect">
            <a:avLst/>
          </a:prstGeom>
          <a:solidFill>
            <a:srgbClr val="7457E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D56F71FA-15AE-4628-BE44-C82838ECA54B}"/>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1" i="0">
                <a:solidFill>
                  <a:srgbClr val="7457E8"/>
                </a:solidFill>
                <a:latin typeface="DejaVu Sans"/>
                <a:ea typeface="DejaVu Sans"/>
                <a:cs typeface="DejaVu Sans"/>
              </a:defRPr>
            </a:pPr>
            <a:r>
              <a:rPr sz="675" b="1" i="0">
                <a:solidFill>
                  <a:srgbClr val="7457E8"/>
                </a:solidFill>
                <a:latin typeface="DejaVu Sans"/>
                <a:ea typeface="DejaVu Sans"/>
                <a:cs typeface="DejaVu Sans"/>
              </a:rPr>
              <a:t>BUILD</a:t>
            </a:r>
          </a:p>
        </p:txBody>
      </p:sp>
      <p:sp>
        <p:nvSpPr>
          <p:cNvPr id="11" name="Rectangle 10">
            <a:extLst>
              <a:ext uri="{FF2B5EF4-FFF2-40B4-BE49-F238E27FC236}">
                <a16:creationId xmlns:a16="http://schemas.microsoft.com/office/drawing/2014/main" id="{4020F5FC-B073-4AF6-9413-117F2EE88D14}"/>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E6A134FC-0B07-409B-B47A-97D94D068139}"/>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E4A4A6CE-5111-4F1F-B91B-7D70A4205687}"/>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16DBC752-8F7D-4119-B68F-B4A3D70E6B2C}"/>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D7DA82FA-BDF5-43BA-87C3-AB0E45E917D0}"/>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911CCEEF-49A3-4E2D-AAF2-37D0EDA2B827}"/>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graphicFrame>
        <p:nvGraphicFramePr>
          <p:cNvPr id="39" name="Table 38">
            <a:extLst>
              <a:ext uri="{FF2B5EF4-FFF2-40B4-BE49-F238E27FC236}">
                <a16:creationId xmlns:a16="http://schemas.microsoft.com/office/drawing/2014/main" id="{462CC3A7-B89D-808A-2A5A-6E3E7229A8EB}"/>
              </a:ext>
            </a:extLst>
          </p:cNvPr>
          <p:cNvGraphicFramePr>
            <a:graphicFrameLocks noGrp="1"/>
          </p:cNvGraphicFramePr>
          <p:nvPr>
            <p:extLst>
              <p:ext uri="{D42A27DB-BD31-4B8C-83A1-F6EECF244321}">
                <p14:modId xmlns:p14="http://schemas.microsoft.com/office/powerpoint/2010/main" val="1983015583"/>
              </p:ext>
            </p:extLst>
          </p:nvPr>
        </p:nvGraphicFramePr>
        <p:xfrm>
          <a:off x="371475" y="1074420"/>
          <a:ext cx="7880350" cy="4937760"/>
        </p:xfrm>
        <a:graphic>
          <a:graphicData uri="http://schemas.openxmlformats.org/drawingml/2006/table">
            <a:tbl>
              <a:tblPr>
                <a:tableStyleId>{5C22544A-7EE6-4342-B048-85BDC9FD1C3A}</a:tableStyleId>
              </a:tblPr>
              <a:tblGrid>
                <a:gridCol w="3116926">
                  <a:extLst>
                    <a:ext uri="{9D8B030D-6E8A-4147-A177-3AD203B41FA5}">
                      <a16:colId xmlns:a16="http://schemas.microsoft.com/office/drawing/2014/main" val="1196860023"/>
                    </a:ext>
                  </a:extLst>
                </a:gridCol>
                <a:gridCol w="4763424">
                  <a:extLst>
                    <a:ext uri="{9D8B030D-6E8A-4147-A177-3AD203B41FA5}">
                      <a16:colId xmlns:a16="http://schemas.microsoft.com/office/drawing/2014/main" val="4134907843"/>
                    </a:ext>
                  </a:extLst>
                </a:gridCol>
              </a:tblGrid>
              <a:tr h="0">
                <a:tc>
                  <a:txBody>
                    <a:bodyPr/>
                    <a:lstStyle/>
                    <a:p>
                      <a:pPr>
                        <a:buNone/>
                      </a:pPr>
                      <a:r>
                        <a:rPr lang="en-US" dirty="0">
                          <a:solidFill>
                            <a:srgbClr val="0070C0"/>
                          </a:solidFill>
                        </a:rPr>
                        <a:t>Traditional SE</a:t>
                      </a:r>
                    </a:p>
                  </a:txBody>
                  <a:tcPr anchor="ctr"/>
                </a:tc>
                <a:tc>
                  <a:txBody>
                    <a:bodyPr/>
                    <a:lstStyle/>
                    <a:p>
                      <a:pPr>
                        <a:buNone/>
                      </a:pPr>
                      <a:r>
                        <a:rPr lang="en-US" dirty="0">
                          <a:solidFill>
                            <a:srgbClr val="0070C0"/>
                          </a:solidFill>
                        </a:rPr>
                        <a:t>AI-native SE</a:t>
                      </a:r>
                    </a:p>
                  </a:txBody>
                  <a:tcPr anchor="ctr"/>
                </a:tc>
                <a:extLst>
                  <a:ext uri="{0D108BD9-81ED-4DB2-BD59-A6C34878D82A}">
                    <a16:rowId xmlns:a16="http://schemas.microsoft.com/office/drawing/2014/main" val="2924195650"/>
                  </a:ext>
                </a:extLst>
              </a:tr>
              <a:tr h="0">
                <a:tc>
                  <a:txBody>
                    <a:bodyPr/>
                    <a:lstStyle/>
                    <a:p>
                      <a:pPr>
                        <a:buNone/>
                      </a:pPr>
                      <a:r>
                        <a:rPr lang="en-US"/>
                        <a:t>Reads requirements and starts coding</a:t>
                      </a:r>
                    </a:p>
                  </a:txBody>
                  <a:tcPr anchor="ctr"/>
                </a:tc>
                <a:tc>
                  <a:txBody>
                    <a:bodyPr/>
                    <a:lstStyle/>
                    <a:p>
                      <a:pPr>
                        <a:buNone/>
                      </a:pPr>
                      <a:r>
                        <a:rPr lang="en-US"/>
                        <a:t>Reviews requirements and creates an explicit implementation plan</a:t>
                      </a:r>
                    </a:p>
                  </a:txBody>
                  <a:tcPr anchor="ctr"/>
                </a:tc>
                <a:extLst>
                  <a:ext uri="{0D108BD9-81ED-4DB2-BD59-A6C34878D82A}">
                    <a16:rowId xmlns:a16="http://schemas.microsoft.com/office/drawing/2014/main" val="1817804526"/>
                  </a:ext>
                </a:extLst>
              </a:tr>
              <a:tr h="0">
                <a:tc>
                  <a:txBody>
                    <a:bodyPr/>
                    <a:lstStyle/>
                    <a:p>
                      <a:pPr>
                        <a:buNone/>
                      </a:pPr>
                      <a:r>
                        <a:rPr lang="en-US"/>
                        <a:t>Keeps the implementation plan mentally</a:t>
                      </a:r>
                    </a:p>
                  </a:txBody>
                  <a:tcPr anchor="ctr"/>
                </a:tc>
                <a:tc>
                  <a:txBody>
                    <a:bodyPr/>
                    <a:lstStyle/>
                    <a:p>
                      <a:pPr>
                        <a:buNone/>
                      </a:pPr>
                      <a:r>
                        <a:rPr lang="en-US"/>
                        <a:t>Commits the plan as plan.md</a:t>
                      </a:r>
                    </a:p>
                  </a:txBody>
                  <a:tcPr anchor="ctr"/>
                </a:tc>
                <a:extLst>
                  <a:ext uri="{0D108BD9-81ED-4DB2-BD59-A6C34878D82A}">
                    <a16:rowId xmlns:a16="http://schemas.microsoft.com/office/drawing/2014/main" val="3192050122"/>
                  </a:ext>
                </a:extLst>
              </a:tr>
              <a:tr h="0">
                <a:tc>
                  <a:txBody>
                    <a:bodyPr/>
                    <a:lstStyle/>
                    <a:p>
                      <a:pPr>
                        <a:buNone/>
                      </a:pPr>
                      <a:r>
                        <a:rPr lang="en-US"/>
                        <a:t>Writes most code manually</a:t>
                      </a:r>
                    </a:p>
                  </a:txBody>
                  <a:tcPr anchor="ctr"/>
                </a:tc>
                <a:tc>
                  <a:txBody>
                    <a:bodyPr/>
                    <a:lstStyle/>
                    <a:p>
                      <a:pPr>
                        <a:buNone/>
                      </a:pPr>
                      <a:r>
                        <a:rPr lang="en-US"/>
                        <a:t>Directs AI to generate code and tests</a:t>
                      </a:r>
                    </a:p>
                  </a:txBody>
                  <a:tcPr anchor="ctr"/>
                </a:tc>
                <a:extLst>
                  <a:ext uri="{0D108BD9-81ED-4DB2-BD59-A6C34878D82A}">
                    <a16:rowId xmlns:a16="http://schemas.microsoft.com/office/drawing/2014/main" val="4025442050"/>
                  </a:ext>
                </a:extLst>
              </a:tr>
              <a:tr h="0">
                <a:tc>
                  <a:txBody>
                    <a:bodyPr/>
                    <a:lstStyle/>
                    <a:p>
                      <a:pPr>
                        <a:buNone/>
                      </a:pPr>
                      <a:r>
                        <a:rPr lang="en-US"/>
                        <a:t>Works mainly on one task</a:t>
                      </a:r>
                    </a:p>
                  </a:txBody>
                  <a:tcPr anchor="ctr"/>
                </a:tc>
                <a:tc>
                  <a:txBody>
                    <a:bodyPr/>
                    <a:lstStyle/>
                    <a:p>
                      <a:pPr>
                        <a:buNone/>
                      </a:pPr>
                      <a:r>
                        <a:rPr lang="en-US"/>
                        <a:t>Can supervise multiple isolated tasks</a:t>
                      </a:r>
                    </a:p>
                  </a:txBody>
                  <a:tcPr anchor="ctr"/>
                </a:tc>
                <a:extLst>
                  <a:ext uri="{0D108BD9-81ED-4DB2-BD59-A6C34878D82A}">
                    <a16:rowId xmlns:a16="http://schemas.microsoft.com/office/drawing/2014/main" val="1887166094"/>
                  </a:ext>
                </a:extLst>
              </a:tr>
              <a:tr h="0">
                <a:tc>
                  <a:txBody>
                    <a:bodyPr/>
                    <a:lstStyle/>
                    <a:p>
                      <a:pPr>
                        <a:buNone/>
                      </a:pPr>
                      <a:r>
                        <a:rPr lang="en-US"/>
                        <a:t>Explains repository conventions repeatedly</a:t>
                      </a:r>
                    </a:p>
                  </a:txBody>
                  <a:tcPr anchor="ctr"/>
                </a:tc>
                <a:tc>
                  <a:txBody>
                    <a:bodyPr/>
                    <a:lstStyle/>
                    <a:p>
                      <a:pPr>
                        <a:buNone/>
                      </a:pPr>
                      <a:r>
                        <a:rPr lang="en-US" dirty="0"/>
                        <a:t>Maintains shared instructions in AGENTS.md</a:t>
                      </a:r>
                    </a:p>
                  </a:txBody>
                  <a:tcPr anchor="ctr"/>
                </a:tc>
                <a:extLst>
                  <a:ext uri="{0D108BD9-81ED-4DB2-BD59-A6C34878D82A}">
                    <a16:rowId xmlns:a16="http://schemas.microsoft.com/office/drawing/2014/main" val="426008540"/>
                  </a:ext>
                </a:extLst>
              </a:tr>
              <a:tr h="0">
                <a:tc>
                  <a:txBody>
                    <a:bodyPr/>
                    <a:lstStyle/>
                    <a:p>
                      <a:pPr>
                        <a:buNone/>
                      </a:pPr>
                      <a:r>
                        <a:rPr lang="en-US"/>
                        <a:t>Remembers company standards</a:t>
                      </a:r>
                    </a:p>
                  </a:txBody>
                  <a:tcPr anchor="ctr"/>
                </a:tc>
                <a:tc>
                  <a:txBody>
                    <a:bodyPr/>
                    <a:lstStyle/>
                    <a:p>
                      <a:pPr>
                        <a:buNone/>
                      </a:pPr>
                      <a:r>
                        <a:rPr lang="en-US"/>
                        <a:t>Encodes reusable standards as Skills</a:t>
                      </a:r>
                    </a:p>
                  </a:txBody>
                  <a:tcPr anchor="ctr"/>
                </a:tc>
                <a:extLst>
                  <a:ext uri="{0D108BD9-81ED-4DB2-BD59-A6C34878D82A}">
                    <a16:rowId xmlns:a16="http://schemas.microsoft.com/office/drawing/2014/main" val="2465155959"/>
                  </a:ext>
                </a:extLst>
              </a:tr>
              <a:tr h="0">
                <a:tc>
                  <a:txBody>
                    <a:bodyPr/>
                    <a:lstStyle/>
                    <a:p>
                      <a:pPr>
                        <a:buNone/>
                      </a:pPr>
                      <a:r>
                        <a:rPr lang="en-US"/>
                        <a:t>Finds mistakes during final review</a:t>
                      </a:r>
                    </a:p>
                  </a:txBody>
                  <a:tcPr anchor="ctr"/>
                </a:tc>
                <a:tc>
                  <a:txBody>
                    <a:bodyPr/>
                    <a:lstStyle/>
                    <a:p>
                      <a:pPr>
                        <a:buNone/>
                      </a:pPr>
                      <a:r>
                        <a:rPr lang="en-US"/>
                        <a:t>Gives AI feedback loops to detect mistakes earlier</a:t>
                      </a:r>
                    </a:p>
                  </a:txBody>
                  <a:tcPr anchor="ctr"/>
                </a:tc>
                <a:extLst>
                  <a:ext uri="{0D108BD9-81ED-4DB2-BD59-A6C34878D82A}">
                    <a16:rowId xmlns:a16="http://schemas.microsoft.com/office/drawing/2014/main" val="3102117258"/>
                  </a:ext>
                </a:extLst>
              </a:tr>
              <a:tr h="0">
                <a:tc>
                  <a:txBody>
                    <a:bodyPr/>
                    <a:lstStyle/>
                    <a:p>
                      <a:pPr>
                        <a:buNone/>
                      </a:pPr>
                      <a:r>
                        <a:rPr lang="en-US"/>
                        <a:t>Reviews individual edits</a:t>
                      </a:r>
                    </a:p>
                  </a:txBody>
                  <a:tcPr anchor="ctr"/>
                </a:tc>
                <a:tc>
                  <a:txBody>
                    <a:bodyPr/>
                    <a:lstStyle/>
                    <a:p>
                      <a:pPr>
                        <a:buNone/>
                      </a:pPr>
                      <a:r>
                        <a:rPr lang="en-US" dirty="0"/>
                        <a:t>Reviews plans, evidence, architecture, and final diffs</a:t>
                      </a:r>
                    </a:p>
                  </a:txBody>
                  <a:tcPr anchor="ctr"/>
                </a:tc>
                <a:extLst>
                  <a:ext uri="{0D108BD9-81ED-4DB2-BD59-A6C34878D82A}">
                    <a16:rowId xmlns:a16="http://schemas.microsoft.com/office/drawing/2014/main" val="3041139606"/>
                  </a:ext>
                </a:extLst>
              </a:tr>
            </a:tbl>
          </a:graphicData>
        </a:graphic>
      </p:graphicFrame>
      <p:pic>
        <p:nvPicPr>
          <p:cNvPr id="41" name="Picture 40">
            <a:extLst>
              <a:ext uri="{FF2B5EF4-FFF2-40B4-BE49-F238E27FC236}">
                <a16:creationId xmlns:a16="http://schemas.microsoft.com/office/drawing/2014/main" id="{4AF48A9A-4A66-5795-B5A8-EA8AD71AEB9F}"/>
              </a:ext>
            </a:extLst>
          </p:cNvPr>
          <p:cNvPicPr>
            <a:picLocks noChangeAspect="1"/>
          </p:cNvPicPr>
          <p:nvPr/>
        </p:nvPicPr>
        <p:blipFill>
          <a:blip r:embed="rId3"/>
          <a:stretch>
            <a:fillRect/>
          </a:stretch>
        </p:blipFill>
        <p:spPr>
          <a:xfrm>
            <a:off x="8674083" y="195262"/>
            <a:ext cx="2832117" cy="6467475"/>
          </a:xfrm>
          <a:prstGeom prst="rect">
            <a:avLst/>
          </a:prstGeom>
        </p:spPr>
      </p:pic>
    </p:spTree>
    <p:extLst>
      <p:ext uri="{BB962C8B-B14F-4D97-AF65-F5344CB8AC3E}">
        <p14:creationId xmlns:p14="http://schemas.microsoft.com/office/powerpoint/2010/main" val="257215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708E432-69D4-40E8-A660-33E1056DD400}"/>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CLAUDE.MD AND SKILLS</a:t>
            </a:r>
          </a:p>
        </p:txBody>
      </p:sp>
      <p:sp>
        <p:nvSpPr>
          <p:cNvPr id="2" name="Rectangle 1">
            <a:extLst>
              <a:ext uri="{FF2B5EF4-FFF2-40B4-BE49-F238E27FC236}">
                <a16:creationId xmlns:a16="http://schemas.microsoft.com/office/drawing/2014/main" id="{6E46ED2A-ABA2-4506-87D9-4B922754BDDE}"/>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Context and company knowledge</a:t>
            </a:r>
          </a:p>
        </p:txBody>
      </p:sp>
      <p:sp>
        <p:nvSpPr>
          <p:cNvPr id="3" name="Rectangle 2">
            <a:extLst>
              <a:ext uri="{FF2B5EF4-FFF2-40B4-BE49-F238E27FC236}">
                <a16:creationId xmlns:a16="http://schemas.microsoft.com/office/drawing/2014/main" id="{B5B4663D-C712-4922-B4AD-0407D36DA8AE}"/>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dirty="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028E5D98-8E2B-41CF-9EDB-E846112CC624}"/>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11</a:t>
            </a:r>
          </a:p>
        </p:txBody>
      </p:sp>
      <p:sp>
        <p:nvSpPr>
          <p:cNvPr id="5" name="Rectangle 4">
            <a:extLst>
              <a:ext uri="{FF2B5EF4-FFF2-40B4-BE49-F238E27FC236}">
                <a16:creationId xmlns:a16="http://schemas.microsoft.com/office/drawing/2014/main" id="{4819C9BE-7BC6-4E91-BD5B-F3C07DC0018D}"/>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71F0C6A2-C632-4488-B2B5-0D726DB6D882}"/>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1098696D-5F0D-476D-81EF-152B17D5BAE8}"/>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C7D8184B-3675-43CA-872D-704C7CCD5686}"/>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24C1E85A-204E-4257-A0FB-3FB22C2A2114}"/>
              </a:ext>
            </a:extLst>
          </p:cNvPr>
          <p:cNvSpPr>
            <a:spLocks noGrp="1"/>
          </p:cNvSpPr>
          <p:nvPr/>
        </p:nvSpPr>
        <p:spPr>
          <a:xfrm>
            <a:off x="4311650" y="6419850"/>
            <a:ext cx="1755775" cy="47625"/>
          </a:xfrm>
          <a:prstGeom prst="rect">
            <a:avLst/>
          </a:prstGeom>
          <a:solidFill>
            <a:srgbClr val="7457E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0B204A8E-C128-4FE2-AD5B-BE81A4F96A40}"/>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1" i="0">
                <a:solidFill>
                  <a:srgbClr val="7457E8"/>
                </a:solidFill>
                <a:latin typeface="DejaVu Sans"/>
                <a:ea typeface="DejaVu Sans"/>
                <a:cs typeface="DejaVu Sans"/>
              </a:defRPr>
            </a:pPr>
            <a:r>
              <a:rPr sz="675" b="1" i="0">
                <a:solidFill>
                  <a:srgbClr val="7457E8"/>
                </a:solidFill>
                <a:latin typeface="DejaVu Sans"/>
                <a:ea typeface="DejaVu Sans"/>
                <a:cs typeface="DejaVu Sans"/>
              </a:rPr>
              <a:t>BUILD</a:t>
            </a:r>
          </a:p>
        </p:txBody>
      </p:sp>
      <p:sp>
        <p:nvSpPr>
          <p:cNvPr id="11" name="Rectangle 10">
            <a:extLst>
              <a:ext uri="{FF2B5EF4-FFF2-40B4-BE49-F238E27FC236}">
                <a16:creationId xmlns:a16="http://schemas.microsoft.com/office/drawing/2014/main" id="{4D998B68-BDFD-4610-9248-43866F213F0C}"/>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53B327BC-F953-4015-A603-970F107F9423}"/>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DCEB4BEB-EABE-4738-B973-3C2D0289DC9C}"/>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359B7E4B-3B57-4084-B8D3-B07FA4991D7D}"/>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38CE1487-8BA1-4213-959B-DE71B9E2A659}"/>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4D228E23-AD9C-43E4-BB17-46FA6D9F5742}"/>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0532B951-3FB0-4E59-8C52-DB80DEB24964}"/>
              </a:ext>
            </a:extLst>
          </p:cNvPr>
          <p:cNvSpPr>
            <a:spLocks noGrp="1"/>
          </p:cNvSpPr>
          <p:nvPr/>
        </p:nvSpPr>
        <p:spPr>
          <a:xfrm>
            <a:off x="685800" y="1466850"/>
            <a:ext cx="5219700" cy="2438400"/>
          </a:xfrm>
          <a:prstGeom prst="roundRect">
            <a:avLst>
              <a:gd name="adj" fmla="val 7031"/>
            </a:avLst>
          </a:prstGeom>
          <a:solidFill>
            <a:srgbClr val="FFFFFF"/>
          </a:solidFill>
          <a:ln w="9525">
            <a:solidFill>
              <a:srgbClr val="D8DEE9"/>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2EF76A92-9BF5-470E-A03A-8BCA636B75DE}"/>
              </a:ext>
            </a:extLst>
          </p:cNvPr>
          <p:cNvSpPr>
            <a:spLocks noGrp="1"/>
          </p:cNvSpPr>
          <p:nvPr/>
        </p:nvSpPr>
        <p:spPr>
          <a:xfrm>
            <a:off x="685800" y="1466850"/>
            <a:ext cx="95250" cy="2438400"/>
          </a:xfrm>
          <a:prstGeom prst="roundRect">
            <a:avLst>
              <a:gd name="adj" fmla="val 50000"/>
            </a:avLst>
          </a:prstGeom>
          <a:solidFill>
            <a:srgbClr val="19C3D2"/>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DFBCA2F8-F126-42C3-A786-A8B8F01629E0}"/>
              </a:ext>
            </a:extLst>
          </p:cNvPr>
          <p:cNvSpPr>
            <a:spLocks noGrp="1"/>
          </p:cNvSpPr>
          <p:nvPr/>
        </p:nvSpPr>
        <p:spPr>
          <a:xfrm>
            <a:off x="933450" y="1676400"/>
            <a:ext cx="476250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lang="en-US" sz="1575" b="1" dirty="0">
                <a:solidFill>
                  <a:srgbClr val="111827"/>
                </a:solidFill>
                <a:latin typeface="DejaVu Sans"/>
                <a:ea typeface="DejaVu Sans"/>
                <a:cs typeface="DejaVu Sans"/>
              </a:rPr>
              <a:t>AGENTS</a:t>
            </a:r>
            <a:r>
              <a:rPr sz="1575" b="1" i="0" dirty="0">
                <a:solidFill>
                  <a:srgbClr val="111827"/>
                </a:solidFill>
                <a:latin typeface="DejaVu Sans"/>
                <a:ea typeface="DejaVu Sans"/>
                <a:cs typeface="DejaVu Sans"/>
              </a:rPr>
              <a:t>.md</a:t>
            </a:r>
          </a:p>
        </p:txBody>
      </p:sp>
      <p:sp>
        <p:nvSpPr>
          <p:cNvPr id="20" name="Rectangle 19">
            <a:extLst>
              <a:ext uri="{FF2B5EF4-FFF2-40B4-BE49-F238E27FC236}">
                <a16:creationId xmlns:a16="http://schemas.microsoft.com/office/drawing/2014/main" id="{742B7FC1-3B00-48B4-AEEC-C477DAC424E5}"/>
              </a:ext>
            </a:extLst>
          </p:cNvPr>
          <p:cNvSpPr>
            <a:spLocks noGrp="1"/>
          </p:cNvSpPr>
          <p:nvPr/>
        </p:nvSpPr>
        <p:spPr>
          <a:xfrm>
            <a:off x="933450" y="2114550"/>
            <a:ext cx="4762500" cy="160020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dirty="0">
                <a:solidFill>
                  <a:srgbClr val="475569"/>
                </a:solidFill>
                <a:latin typeface="DejaVu Sans"/>
                <a:ea typeface="DejaVu Sans"/>
                <a:cs typeface="DejaVu Sans"/>
              </a:rPr>
              <a:t>Repo knowledge for every session.</a:t>
            </a:r>
          </a:p>
          <a:p>
            <a:endParaRPr sz="1200" b="0" i="0" dirty="0">
              <a:solidFill>
                <a:srgbClr val="475569"/>
              </a:solidFill>
              <a:latin typeface="DejaVu Sans"/>
              <a:ea typeface="DejaVu Sans"/>
              <a:cs typeface="DejaVu Sans"/>
            </a:endParaRPr>
          </a:p>
          <a:p>
            <a:pPr algn="l">
              <a:defRPr sz="1200" b="0" i="0">
                <a:solidFill>
                  <a:srgbClr val="475569"/>
                </a:solidFill>
                <a:latin typeface="DejaVu Sans"/>
                <a:ea typeface="DejaVu Sans"/>
                <a:cs typeface="DejaVu Sans"/>
              </a:defRPr>
            </a:pPr>
            <a:r>
              <a:rPr sz="1200" b="0" i="0" dirty="0">
                <a:solidFill>
                  <a:srgbClr val="475569"/>
                </a:solidFill>
                <a:latin typeface="DejaVu Sans"/>
                <a:ea typeface="DejaVu Sans"/>
                <a:cs typeface="DejaVu Sans"/>
              </a:rPr>
              <a:t>Build and test commands</a:t>
            </a:r>
          </a:p>
          <a:p>
            <a:pPr algn="l">
              <a:defRPr sz="1200" b="0" i="0">
                <a:solidFill>
                  <a:srgbClr val="475569"/>
                </a:solidFill>
                <a:latin typeface="DejaVu Sans"/>
                <a:ea typeface="DejaVu Sans"/>
                <a:cs typeface="DejaVu Sans"/>
              </a:defRPr>
            </a:pPr>
            <a:r>
              <a:rPr sz="1200" b="0" i="0" dirty="0">
                <a:solidFill>
                  <a:srgbClr val="475569"/>
                </a:solidFill>
                <a:latin typeface="DejaVu Sans"/>
                <a:ea typeface="DejaVu Sans"/>
                <a:cs typeface="DejaVu Sans"/>
              </a:rPr>
              <a:t>Architecture and conventions</a:t>
            </a:r>
          </a:p>
          <a:p>
            <a:pPr algn="l">
              <a:defRPr sz="1200" b="0" i="0">
                <a:solidFill>
                  <a:srgbClr val="475569"/>
                </a:solidFill>
                <a:latin typeface="DejaVu Sans"/>
                <a:ea typeface="DejaVu Sans"/>
                <a:cs typeface="DejaVu Sans"/>
              </a:defRPr>
            </a:pPr>
            <a:r>
              <a:rPr sz="1200" b="0" i="0" dirty="0">
                <a:solidFill>
                  <a:srgbClr val="475569"/>
                </a:solidFill>
                <a:latin typeface="DejaVu Sans"/>
                <a:ea typeface="DejaVu Sans"/>
                <a:cs typeface="DejaVu Sans"/>
              </a:rPr>
              <a:t>Mistakes </a:t>
            </a:r>
            <a:r>
              <a:rPr lang="en-US" sz="1200" b="0" i="0" dirty="0">
                <a:solidFill>
                  <a:srgbClr val="475569"/>
                </a:solidFill>
                <a:latin typeface="DejaVu Sans"/>
                <a:ea typeface="DejaVu Sans"/>
                <a:cs typeface="DejaVu Sans"/>
              </a:rPr>
              <a:t>AI</a:t>
            </a:r>
            <a:r>
              <a:rPr sz="1200" b="0" i="0" dirty="0">
                <a:solidFill>
                  <a:srgbClr val="475569"/>
                </a:solidFill>
                <a:latin typeface="DejaVu Sans"/>
                <a:ea typeface="DejaVu Sans"/>
                <a:cs typeface="DejaVu Sans"/>
              </a:rPr>
              <a:t> often makes</a:t>
            </a:r>
          </a:p>
        </p:txBody>
      </p:sp>
      <p:sp>
        <p:nvSpPr>
          <p:cNvPr id="21" name="Rectangle: Rounded Corners 20">
            <a:extLst>
              <a:ext uri="{FF2B5EF4-FFF2-40B4-BE49-F238E27FC236}">
                <a16:creationId xmlns:a16="http://schemas.microsoft.com/office/drawing/2014/main" id="{A57A42F8-E887-47D5-B99D-FF0AF87D8079}"/>
              </a:ext>
            </a:extLst>
          </p:cNvPr>
          <p:cNvSpPr>
            <a:spLocks noGrp="1"/>
          </p:cNvSpPr>
          <p:nvPr/>
        </p:nvSpPr>
        <p:spPr>
          <a:xfrm>
            <a:off x="6286500" y="1466850"/>
            <a:ext cx="5219700" cy="2438400"/>
          </a:xfrm>
          <a:prstGeom prst="roundRect">
            <a:avLst>
              <a:gd name="adj" fmla="val 7031"/>
            </a:avLst>
          </a:prstGeom>
          <a:solidFill>
            <a:srgbClr val="FFFFFF"/>
          </a:solidFill>
          <a:ln w="9525">
            <a:solidFill>
              <a:srgbClr val="D8DEE9"/>
            </a:solidFill>
            <a:prstDash val="solid"/>
          </a:ln>
        </p:spPr>
        <p:txBody>
          <a:bodyPr/>
          <a:lstStyle/>
          <a:p>
            <a:endParaRPr lang="en-US"/>
          </a:p>
        </p:txBody>
      </p:sp>
      <p:sp>
        <p:nvSpPr>
          <p:cNvPr id="22" name="Rectangle: Rounded Corners 21">
            <a:extLst>
              <a:ext uri="{FF2B5EF4-FFF2-40B4-BE49-F238E27FC236}">
                <a16:creationId xmlns:a16="http://schemas.microsoft.com/office/drawing/2014/main" id="{EEE0E6FE-B115-4BD6-8062-110A267C2507}"/>
              </a:ext>
            </a:extLst>
          </p:cNvPr>
          <p:cNvSpPr>
            <a:spLocks noGrp="1"/>
          </p:cNvSpPr>
          <p:nvPr/>
        </p:nvSpPr>
        <p:spPr>
          <a:xfrm>
            <a:off x="6286500" y="1466850"/>
            <a:ext cx="95250" cy="2438400"/>
          </a:xfrm>
          <a:prstGeom prst="roundRect">
            <a:avLst>
              <a:gd name="adj" fmla="val 50000"/>
            </a:avLst>
          </a:prstGeom>
          <a:solidFill>
            <a:srgbClr val="FF8066"/>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4F4DCAD3-83B6-4DD1-8556-F10DB8C6E853}"/>
              </a:ext>
            </a:extLst>
          </p:cNvPr>
          <p:cNvSpPr>
            <a:spLocks noGrp="1"/>
          </p:cNvSpPr>
          <p:nvPr/>
        </p:nvSpPr>
        <p:spPr>
          <a:xfrm>
            <a:off x="6534150" y="1676400"/>
            <a:ext cx="476250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Skills</a:t>
            </a:r>
          </a:p>
        </p:txBody>
      </p:sp>
      <p:sp>
        <p:nvSpPr>
          <p:cNvPr id="24" name="Rectangle 23">
            <a:extLst>
              <a:ext uri="{FF2B5EF4-FFF2-40B4-BE49-F238E27FC236}">
                <a16:creationId xmlns:a16="http://schemas.microsoft.com/office/drawing/2014/main" id="{F59CD206-AF2C-415F-BED9-1727D5F6A6F5}"/>
              </a:ext>
            </a:extLst>
          </p:cNvPr>
          <p:cNvSpPr>
            <a:spLocks noGrp="1"/>
          </p:cNvSpPr>
          <p:nvPr/>
        </p:nvSpPr>
        <p:spPr>
          <a:xfrm>
            <a:off x="6534150" y="2114550"/>
            <a:ext cx="4762500" cy="160020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Company knowledge used for relevant tasks.</a:t>
            </a:r>
          </a:p>
          <a:p>
            <a:endParaRPr sz="1200" b="0" i="0">
              <a:solidFill>
                <a:srgbClr val="475569"/>
              </a:solidFill>
              <a:latin typeface="DejaVu Sans"/>
              <a:ea typeface="DejaVu Sans"/>
              <a:cs typeface="DejaVu Sans"/>
            </a:endParaRPr>
          </a:p>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Security policy</a:t>
            </a:r>
          </a:p>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API standards</a:t>
            </a:r>
          </a:p>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Brand and UX rules</a:t>
            </a:r>
          </a:p>
        </p:txBody>
      </p:sp>
      <p:sp>
        <p:nvSpPr>
          <p:cNvPr id="25" name="Rectangle: Rounded Corners 24">
            <a:extLst>
              <a:ext uri="{FF2B5EF4-FFF2-40B4-BE49-F238E27FC236}">
                <a16:creationId xmlns:a16="http://schemas.microsoft.com/office/drawing/2014/main" id="{FA8FF9D0-FF72-4DEA-859E-AC1B92E36067}"/>
              </a:ext>
            </a:extLst>
          </p:cNvPr>
          <p:cNvSpPr>
            <a:spLocks noGrp="1"/>
          </p:cNvSpPr>
          <p:nvPr/>
        </p:nvSpPr>
        <p:spPr>
          <a:xfrm>
            <a:off x="685800" y="4362450"/>
            <a:ext cx="10820400" cy="838200"/>
          </a:xfrm>
          <a:prstGeom prst="roundRect">
            <a:avLst>
              <a:gd name="adj" fmla="val 20455"/>
            </a:avLst>
          </a:prstGeom>
          <a:solidFill>
            <a:srgbClr val="0A1020"/>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6CD19622-0716-4A4E-9C95-CEAE241D856D}"/>
              </a:ext>
            </a:extLst>
          </p:cNvPr>
          <p:cNvSpPr>
            <a:spLocks noGrp="1"/>
          </p:cNvSpPr>
          <p:nvPr/>
        </p:nvSpPr>
        <p:spPr>
          <a:xfrm>
            <a:off x="933450" y="4572000"/>
            <a:ext cx="1524000" cy="209550"/>
          </a:xfrm>
          <a:prstGeom prst="rect">
            <a:avLst/>
          </a:prstGeom>
          <a:noFill/>
          <a:ln w="0">
            <a:noFill/>
          </a:ln>
        </p:spPr>
        <p:txBody>
          <a:bodyPr wrap="square" lIns="0" tIns="0" rIns="0" bIns="0" anchor="t">
            <a:normAutofit/>
          </a:bodyPr>
          <a:lstStyle/>
          <a:p>
            <a:pPr algn="l">
              <a:defRPr sz="1125" b="1" i="0">
                <a:solidFill>
                  <a:srgbClr val="19C3D2"/>
                </a:solidFill>
                <a:latin typeface="DejaVu Sans"/>
                <a:ea typeface="DejaVu Sans"/>
                <a:cs typeface="DejaVu Sans"/>
              </a:defRPr>
            </a:pPr>
            <a:r>
              <a:rPr sz="1125" b="1" i="0">
                <a:solidFill>
                  <a:srgbClr val="19C3D2"/>
                </a:solidFill>
                <a:latin typeface="DejaVu Sans"/>
                <a:ea typeface="DejaVu Sans"/>
                <a:cs typeface="DejaVu Sans"/>
              </a:rPr>
              <a:t>Simple rule</a:t>
            </a:r>
          </a:p>
        </p:txBody>
      </p:sp>
      <p:sp>
        <p:nvSpPr>
          <p:cNvPr id="27" name="Rectangle 26">
            <a:extLst>
              <a:ext uri="{FF2B5EF4-FFF2-40B4-BE49-F238E27FC236}">
                <a16:creationId xmlns:a16="http://schemas.microsoft.com/office/drawing/2014/main" id="{8DEF6A32-A66C-4007-AE29-85484A2F2749}"/>
              </a:ext>
            </a:extLst>
          </p:cNvPr>
          <p:cNvSpPr>
            <a:spLocks noGrp="1"/>
          </p:cNvSpPr>
          <p:nvPr/>
        </p:nvSpPr>
        <p:spPr>
          <a:xfrm>
            <a:off x="2571750" y="4543425"/>
            <a:ext cx="8572500" cy="323850"/>
          </a:xfrm>
          <a:prstGeom prst="rect">
            <a:avLst/>
          </a:prstGeom>
          <a:noFill/>
          <a:ln w="0">
            <a:noFill/>
          </a:ln>
        </p:spPr>
        <p:txBody>
          <a:bodyPr wrap="square" lIns="0" tIns="0" rIns="0" bIns="0" anchor="t">
            <a:normAutofit/>
          </a:bodyPr>
          <a:lstStyle/>
          <a:p>
            <a:pPr algn="l">
              <a:defRPr sz="1275" b="1" i="0">
                <a:solidFill>
                  <a:srgbClr val="FFFFFF"/>
                </a:solidFill>
                <a:latin typeface="DejaVu Sans"/>
                <a:ea typeface="DejaVu Sans"/>
                <a:cs typeface="DejaVu Sans"/>
              </a:defRPr>
            </a:pPr>
            <a:r>
              <a:rPr sz="1275" b="1" i="0" dirty="0">
                <a:solidFill>
                  <a:srgbClr val="FFFFFF"/>
                </a:solidFill>
                <a:latin typeface="DejaVu Sans"/>
                <a:ea typeface="DejaVu Sans"/>
                <a:cs typeface="DejaVu Sans"/>
              </a:rPr>
              <a:t>Put repo facts in </a:t>
            </a:r>
            <a:r>
              <a:rPr lang="en-US" sz="1275" b="1" i="0" dirty="0">
                <a:solidFill>
                  <a:srgbClr val="FFFFFF"/>
                </a:solidFill>
                <a:latin typeface="DejaVu Sans"/>
                <a:ea typeface="DejaVu Sans"/>
                <a:cs typeface="DejaVu Sans"/>
              </a:rPr>
              <a:t>AGENTS</a:t>
            </a:r>
            <a:r>
              <a:rPr sz="1275" b="1" i="0" dirty="0">
                <a:solidFill>
                  <a:srgbClr val="FFFFFF"/>
                </a:solidFill>
                <a:latin typeface="DejaVu Sans"/>
                <a:ea typeface="DejaVu Sans"/>
                <a:cs typeface="DejaVu Sans"/>
              </a:rPr>
              <a:t>.md. Put reusable company policy in a Skill.</a:t>
            </a:r>
          </a:p>
        </p:txBody>
      </p:sp>
      <p:sp>
        <p:nvSpPr>
          <p:cNvPr id="28" name="Rectangle 27">
            <a:extLst>
              <a:ext uri="{FF2B5EF4-FFF2-40B4-BE49-F238E27FC236}">
                <a16:creationId xmlns:a16="http://schemas.microsoft.com/office/drawing/2014/main" id="{9DF61B12-25F9-45D9-A3DD-9C3D94F86900}"/>
              </a:ext>
            </a:extLst>
          </p:cNvPr>
          <p:cNvSpPr>
            <a:spLocks noGrp="1"/>
          </p:cNvSpPr>
          <p:nvPr/>
        </p:nvSpPr>
        <p:spPr>
          <a:xfrm>
            <a:off x="685800" y="5467350"/>
            <a:ext cx="10820400" cy="228600"/>
          </a:xfrm>
          <a:prstGeom prst="rect">
            <a:avLst/>
          </a:prstGeom>
          <a:noFill/>
          <a:ln w="0">
            <a:noFill/>
          </a:ln>
        </p:spPr>
        <p:txBody>
          <a:bodyPr wrap="square" lIns="0" tIns="0" rIns="0" bIns="0" anchor="t">
            <a:normAutofit/>
          </a:bodyPr>
          <a:lstStyle/>
          <a:p>
            <a:pPr algn="ctr">
              <a:defRPr sz="1125" b="1" i="0">
                <a:solidFill>
                  <a:srgbClr val="D9534F"/>
                </a:solidFill>
                <a:latin typeface="DejaVu Sans"/>
                <a:ea typeface="DejaVu Sans"/>
                <a:cs typeface="DejaVu Sans"/>
              </a:defRPr>
            </a:pPr>
            <a:r>
              <a:rPr sz="1125" b="1" i="0">
                <a:solidFill>
                  <a:srgbClr val="D9534F"/>
                </a:solidFill>
                <a:latin typeface="DejaVu Sans"/>
                <a:ea typeface="DejaVu Sans"/>
                <a:cs typeface="DejaVu Sans"/>
              </a:rPr>
              <a:t>If a rule must always hold, add a deterministic control such as a hook.</a:t>
            </a:r>
          </a:p>
        </p:txBody>
      </p:sp>
    </p:spTree>
    <p:extLst>
      <p:ext uri="{BB962C8B-B14F-4D97-AF65-F5344CB8AC3E}">
        <p14:creationId xmlns:p14="http://schemas.microsoft.com/office/powerpoint/2010/main" val="1750342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020"/>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1212EB4-563E-4C20-9AFF-27D1A33D4942}"/>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19C3D2"/>
                </a:solidFill>
                <a:latin typeface="DejaVu Sans"/>
                <a:ea typeface="DejaVu Sans"/>
                <a:cs typeface="DejaVu Sans"/>
              </a:defRPr>
            </a:pPr>
            <a:r>
              <a:rPr sz="900" b="1" i="0">
                <a:solidFill>
                  <a:srgbClr val="19C3D2"/>
                </a:solidFill>
                <a:latin typeface="DejaVu Sans"/>
                <a:ea typeface="DejaVu Sans"/>
                <a:cs typeface="DejaVu Sans"/>
              </a:rPr>
              <a:t>ONE ENGINEER CAN GUIDE SEVERAL SESSIONS</a:t>
            </a:r>
          </a:p>
        </p:txBody>
      </p:sp>
      <p:sp>
        <p:nvSpPr>
          <p:cNvPr id="2" name="Rectangle 1">
            <a:extLst>
              <a:ext uri="{FF2B5EF4-FFF2-40B4-BE49-F238E27FC236}">
                <a16:creationId xmlns:a16="http://schemas.microsoft.com/office/drawing/2014/main" id="{49A4F075-D712-48E0-A391-A2BE6D5D5393}"/>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FFFFFF"/>
                </a:solidFill>
                <a:latin typeface="DejaVu Sans"/>
                <a:ea typeface="DejaVu Sans"/>
                <a:cs typeface="DejaVu Sans"/>
              </a:defRPr>
            </a:pPr>
            <a:r>
              <a:rPr sz="2700" b="1" i="0">
                <a:solidFill>
                  <a:srgbClr val="FFFFFF"/>
                </a:solidFill>
                <a:latin typeface="DejaVu Sans"/>
                <a:ea typeface="DejaVu Sans"/>
                <a:cs typeface="DejaVu Sans"/>
              </a:rPr>
              <a:t>Parallel work</a:t>
            </a:r>
          </a:p>
        </p:txBody>
      </p:sp>
      <p:sp>
        <p:nvSpPr>
          <p:cNvPr id="3" name="Rectangle 2">
            <a:extLst>
              <a:ext uri="{FF2B5EF4-FFF2-40B4-BE49-F238E27FC236}">
                <a16:creationId xmlns:a16="http://schemas.microsoft.com/office/drawing/2014/main" id="{F513131F-A15A-4B03-9265-EBF34C5200AC}"/>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8190AA"/>
                </a:solidFill>
                <a:latin typeface="DejaVu Sans"/>
                <a:ea typeface="DejaVu Sans"/>
                <a:cs typeface="DejaVu Sans"/>
              </a:defRPr>
            </a:pPr>
            <a:r>
              <a:rPr sz="750" b="0" i="0">
                <a:solidFill>
                  <a:srgbClr val="8190AA"/>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76FD49AD-836A-4BF4-B217-281BE94A0B48}"/>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8190AA"/>
                </a:solidFill>
                <a:latin typeface="DejaVu Sans Mono"/>
                <a:ea typeface="DejaVu Sans Mono"/>
                <a:cs typeface="DejaVu Sans Mono"/>
              </a:defRPr>
            </a:pPr>
            <a:r>
              <a:rPr sz="750" b="0" i="0">
                <a:solidFill>
                  <a:srgbClr val="8190AA"/>
                </a:solidFill>
                <a:latin typeface="DejaVu Sans Mono"/>
                <a:ea typeface="DejaVu Sans Mono"/>
                <a:cs typeface="DejaVu Sans Mono"/>
              </a:rPr>
              <a:t>12</a:t>
            </a:r>
          </a:p>
        </p:txBody>
      </p:sp>
      <p:sp>
        <p:nvSpPr>
          <p:cNvPr id="5" name="Rectangle 4">
            <a:extLst>
              <a:ext uri="{FF2B5EF4-FFF2-40B4-BE49-F238E27FC236}">
                <a16:creationId xmlns:a16="http://schemas.microsoft.com/office/drawing/2014/main" id="{1F6FA7AD-BD2E-405F-88A9-2E8C41A6EC5B}"/>
              </a:ext>
            </a:extLst>
          </p:cNvPr>
          <p:cNvSpPr>
            <a:spLocks noGrp="1"/>
          </p:cNvSpPr>
          <p:nvPr/>
        </p:nvSpPr>
        <p:spPr>
          <a:xfrm>
            <a:off x="685800" y="6419850"/>
            <a:ext cx="1755775" cy="47625"/>
          </a:xfrm>
          <a:prstGeom prst="rect">
            <a:avLst/>
          </a:prstGeom>
          <a:solidFill>
            <a:srgbClr val="2B3548"/>
          </a:solidFill>
          <a:ln w="0">
            <a:noFill/>
            <a:prstDash val="solid"/>
          </a:ln>
        </p:spPr>
        <p:txBody>
          <a:bodyPr/>
          <a:lstStyle/>
          <a:p>
            <a:endParaRPr lang="en-US"/>
          </a:p>
        </p:txBody>
      </p:sp>
      <p:sp>
        <p:nvSpPr>
          <p:cNvPr id="6" name="Rectangle 5">
            <a:extLst>
              <a:ext uri="{FF2B5EF4-FFF2-40B4-BE49-F238E27FC236}">
                <a16:creationId xmlns:a16="http://schemas.microsoft.com/office/drawing/2014/main" id="{2FB89F83-883D-40AF-BA59-3F01C0F94525}"/>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PLAN</a:t>
            </a:r>
          </a:p>
        </p:txBody>
      </p:sp>
      <p:sp>
        <p:nvSpPr>
          <p:cNvPr id="7" name="Rectangle 6">
            <a:extLst>
              <a:ext uri="{FF2B5EF4-FFF2-40B4-BE49-F238E27FC236}">
                <a16:creationId xmlns:a16="http://schemas.microsoft.com/office/drawing/2014/main" id="{2CCE79F4-A163-4A12-8700-63D306BD0D84}"/>
              </a:ext>
            </a:extLst>
          </p:cNvPr>
          <p:cNvSpPr>
            <a:spLocks noGrp="1"/>
          </p:cNvSpPr>
          <p:nvPr/>
        </p:nvSpPr>
        <p:spPr>
          <a:xfrm>
            <a:off x="2498725" y="6419850"/>
            <a:ext cx="1755775" cy="47625"/>
          </a:xfrm>
          <a:prstGeom prst="rect">
            <a:avLst/>
          </a:prstGeom>
          <a:solidFill>
            <a:srgbClr val="2B3548"/>
          </a:solidFill>
          <a:ln w="0">
            <a:noFill/>
            <a:prstDash val="solid"/>
          </a:ln>
        </p:spPr>
        <p:txBody>
          <a:bodyPr/>
          <a:lstStyle/>
          <a:p>
            <a:endParaRPr lang="en-US"/>
          </a:p>
        </p:txBody>
      </p:sp>
      <p:sp>
        <p:nvSpPr>
          <p:cNvPr id="8" name="Rectangle 7">
            <a:extLst>
              <a:ext uri="{FF2B5EF4-FFF2-40B4-BE49-F238E27FC236}">
                <a16:creationId xmlns:a16="http://schemas.microsoft.com/office/drawing/2014/main" id="{40C95A28-BC3B-4E9E-8C04-9791717CE014}"/>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DESIGN</a:t>
            </a:r>
          </a:p>
        </p:txBody>
      </p:sp>
      <p:sp>
        <p:nvSpPr>
          <p:cNvPr id="9" name="Rectangle 8">
            <a:extLst>
              <a:ext uri="{FF2B5EF4-FFF2-40B4-BE49-F238E27FC236}">
                <a16:creationId xmlns:a16="http://schemas.microsoft.com/office/drawing/2014/main" id="{8450B1DE-0451-4512-8467-201C2B81F817}"/>
              </a:ext>
            </a:extLst>
          </p:cNvPr>
          <p:cNvSpPr>
            <a:spLocks noGrp="1"/>
          </p:cNvSpPr>
          <p:nvPr/>
        </p:nvSpPr>
        <p:spPr>
          <a:xfrm>
            <a:off x="4311650" y="6419850"/>
            <a:ext cx="1755775" cy="47625"/>
          </a:xfrm>
          <a:prstGeom prst="rect">
            <a:avLst/>
          </a:prstGeom>
          <a:solidFill>
            <a:srgbClr val="7457E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DF709FF-04A3-4769-B095-1D9CB170B536}"/>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1" i="0">
                <a:solidFill>
                  <a:srgbClr val="7457E8"/>
                </a:solidFill>
                <a:latin typeface="DejaVu Sans"/>
                <a:ea typeface="DejaVu Sans"/>
                <a:cs typeface="DejaVu Sans"/>
              </a:defRPr>
            </a:pPr>
            <a:r>
              <a:rPr sz="675" b="1" i="0">
                <a:solidFill>
                  <a:srgbClr val="7457E8"/>
                </a:solidFill>
                <a:latin typeface="DejaVu Sans"/>
                <a:ea typeface="DejaVu Sans"/>
                <a:cs typeface="DejaVu Sans"/>
              </a:rPr>
              <a:t>BUILD</a:t>
            </a:r>
          </a:p>
        </p:txBody>
      </p:sp>
      <p:sp>
        <p:nvSpPr>
          <p:cNvPr id="11" name="Rectangle 10">
            <a:extLst>
              <a:ext uri="{FF2B5EF4-FFF2-40B4-BE49-F238E27FC236}">
                <a16:creationId xmlns:a16="http://schemas.microsoft.com/office/drawing/2014/main" id="{1212877F-6484-4AD5-B2B6-91E24651D8B9}"/>
              </a:ext>
            </a:extLst>
          </p:cNvPr>
          <p:cNvSpPr>
            <a:spLocks noGrp="1"/>
          </p:cNvSpPr>
          <p:nvPr/>
        </p:nvSpPr>
        <p:spPr>
          <a:xfrm>
            <a:off x="6124575" y="6419850"/>
            <a:ext cx="1755775" cy="47625"/>
          </a:xfrm>
          <a:prstGeom prst="rect">
            <a:avLst/>
          </a:prstGeom>
          <a:solidFill>
            <a:srgbClr val="2B354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3B75CEA1-54A8-4C26-859B-EF300A58551A}"/>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TEST</a:t>
            </a:r>
          </a:p>
        </p:txBody>
      </p:sp>
      <p:sp>
        <p:nvSpPr>
          <p:cNvPr id="13" name="Rectangle 12">
            <a:extLst>
              <a:ext uri="{FF2B5EF4-FFF2-40B4-BE49-F238E27FC236}">
                <a16:creationId xmlns:a16="http://schemas.microsoft.com/office/drawing/2014/main" id="{3C9E2763-EE70-421D-B26C-0EA5B65F24B9}"/>
              </a:ext>
            </a:extLst>
          </p:cNvPr>
          <p:cNvSpPr>
            <a:spLocks noGrp="1"/>
          </p:cNvSpPr>
          <p:nvPr/>
        </p:nvSpPr>
        <p:spPr>
          <a:xfrm>
            <a:off x="7937500" y="6419850"/>
            <a:ext cx="1755775" cy="47625"/>
          </a:xfrm>
          <a:prstGeom prst="rect">
            <a:avLst/>
          </a:prstGeom>
          <a:solidFill>
            <a:srgbClr val="2B354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470421AE-3F0A-45AE-BEE0-A0D8F22E24EE}"/>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001721E2-9157-4F88-995C-D6064C670484}"/>
              </a:ext>
            </a:extLst>
          </p:cNvPr>
          <p:cNvSpPr>
            <a:spLocks noGrp="1"/>
          </p:cNvSpPr>
          <p:nvPr/>
        </p:nvSpPr>
        <p:spPr>
          <a:xfrm>
            <a:off x="9750425" y="6419850"/>
            <a:ext cx="1755775" cy="47625"/>
          </a:xfrm>
          <a:prstGeom prst="rect">
            <a:avLst/>
          </a:prstGeom>
          <a:solidFill>
            <a:srgbClr val="2B354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BEAB883B-9952-4EB4-8A71-36A1C0825E0B}"/>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E71D96CD-0E11-429D-A06F-7C9FCEB26990}"/>
              </a:ext>
            </a:extLst>
          </p:cNvPr>
          <p:cNvSpPr>
            <a:spLocks noGrp="1"/>
          </p:cNvSpPr>
          <p:nvPr/>
        </p:nvSpPr>
        <p:spPr>
          <a:xfrm>
            <a:off x="685800" y="1962150"/>
            <a:ext cx="2133600" cy="857250"/>
          </a:xfrm>
          <a:prstGeom prst="roundRect">
            <a:avLst>
              <a:gd name="adj" fmla="val 20000"/>
            </a:avLst>
          </a:prstGeom>
          <a:solidFill>
            <a:srgbClr val="172338"/>
          </a:solidFill>
          <a:ln w="9525">
            <a:solidFill>
              <a:srgbClr val="2D3A52"/>
            </a:solidFill>
            <a:prstDash val="solid"/>
          </a:ln>
        </p:spPr>
        <p:txBody>
          <a:bodyPr/>
          <a:lstStyle/>
          <a:p>
            <a:endParaRPr lang="en-US"/>
          </a:p>
        </p:txBody>
      </p:sp>
      <p:sp>
        <p:nvSpPr>
          <p:cNvPr id="18" name="Rectangle 17">
            <a:extLst>
              <a:ext uri="{FF2B5EF4-FFF2-40B4-BE49-F238E27FC236}">
                <a16:creationId xmlns:a16="http://schemas.microsoft.com/office/drawing/2014/main" id="{1E5C6D14-6754-4C7A-BBC9-1077F1E52BF6}"/>
              </a:ext>
            </a:extLst>
          </p:cNvPr>
          <p:cNvSpPr>
            <a:spLocks noGrp="1"/>
          </p:cNvSpPr>
          <p:nvPr/>
        </p:nvSpPr>
        <p:spPr>
          <a:xfrm>
            <a:off x="685800" y="2247900"/>
            <a:ext cx="2133600" cy="228600"/>
          </a:xfrm>
          <a:prstGeom prst="rect">
            <a:avLst/>
          </a:prstGeom>
          <a:noFill/>
          <a:ln w="0">
            <a:noFill/>
          </a:ln>
        </p:spPr>
        <p:txBody>
          <a:bodyPr wrap="square" lIns="0" tIns="0" rIns="0" bIns="0" anchor="t">
            <a:normAutofit/>
          </a:bodyPr>
          <a:lstStyle/>
          <a:p>
            <a:pPr algn="ctr">
              <a:defRPr sz="1200" b="1" i="0">
                <a:solidFill>
                  <a:srgbClr val="FFFFFF"/>
                </a:solidFill>
                <a:latin typeface="DejaVu Sans"/>
                <a:ea typeface="DejaVu Sans"/>
                <a:cs typeface="DejaVu Sans"/>
              </a:defRPr>
            </a:pPr>
            <a:r>
              <a:rPr sz="1200" b="1" i="0">
                <a:solidFill>
                  <a:srgbClr val="FFFFFF"/>
                </a:solidFill>
                <a:latin typeface="DejaVu Sans"/>
                <a:ea typeface="DejaVu Sans"/>
                <a:cs typeface="DejaVu Sans"/>
              </a:rPr>
              <a:t>ENGINEER</a:t>
            </a:r>
          </a:p>
        </p:txBody>
      </p:sp>
      <p:sp>
        <p:nvSpPr>
          <p:cNvPr id="19" name="Rectangle: Rounded Corners 18">
            <a:extLst>
              <a:ext uri="{FF2B5EF4-FFF2-40B4-BE49-F238E27FC236}">
                <a16:creationId xmlns:a16="http://schemas.microsoft.com/office/drawing/2014/main" id="{AEF4F4EE-B9B4-4197-A3E5-EEEFB1F34FF8}"/>
              </a:ext>
            </a:extLst>
          </p:cNvPr>
          <p:cNvSpPr>
            <a:spLocks noGrp="1"/>
          </p:cNvSpPr>
          <p:nvPr/>
        </p:nvSpPr>
        <p:spPr>
          <a:xfrm>
            <a:off x="4095750" y="1428750"/>
            <a:ext cx="3143250" cy="857250"/>
          </a:xfrm>
          <a:prstGeom prst="roundRect">
            <a:avLst>
              <a:gd name="adj" fmla="val 20000"/>
            </a:avLst>
          </a:prstGeom>
          <a:solidFill>
            <a:srgbClr val="151E31"/>
          </a:solidFill>
          <a:ln w="19050">
            <a:solidFill>
              <a:srgbClr val="7457E8"/>
            </a:solidFill>
            <a:prstDash val="solid"/>
          </a:ln>
        </p:spPr>
        <p:txBody>
          <a:bodyPr/>
          <a:lstStyle/>
          <a:p>
            <a:endParaRPr lang="en-US"/>
          </a:p>
        </p:txBody>
      </p:sp>
      <p:sp>
        <p:nvSpPr>
          <p:cNvPr id="20" name="Rectangle 19">
            <a:extLst>
              <a:ext uri="{FF2B5EF4-FFF2-40B4-BE49-F238E27FC236}">
                <a16:creationId xmlns:a16="http://schemas.microsoft.com/office/drawing/2014/main" id="{581C7C9F-0AC1-4923-BF4C-BC0D901A891C}"/>
              </a:ext>
            </a:extLst>
          </p:cNvPr>
          <p:cNvSpPr>
            <a:spLocks noGrp="1"/>
          </p:cNvSpPr>
          <p:nvPr/>
        </p:nvSpPr>
        <p:spPr>
          <a:xfrm>
            <a:off x="4324350" y="1600200"/>
            <a:ext cx="1238250" cy="209550"/>
          </a:xfrm>
          <a:prstGeom prst="rect">
            <a:avLst/>
          </a:prstGeom>
          <a:noFill/>
          <a:ln w="0">
            <a:noFill/>
          </a:ln>
        </p:spPr>
        <p:txBody>
          <a:bodyPr wrap="square" lIns="0" tIns="0" rIns="0" bIns="0" anchor="t">
            <a:normAutofit/>
          </a:bodyPr>
          <a:lstStyle/>
          <a:p>
            <a:pPr algn="l">
              <a:defRPr sz="1125" b="1" i="0">
                <a:solidFill>
                  <a:srgbClr val="7457E8"/>
                </a:solidFill>
                <a:latin typeface="DejaVu Sans"/>
                <a:ea typeface="DejaVu Sans"/>
                <a:cs typeface="DejaVu Sans"/>
              </a:defRPr>
            </a:pPr>
            <a:r>
              <a:rPr sz="1125" b="1" i="0">
                <a:solidFill>
                  <a:srgbClr val="7457E8"/>
                </a:solidFill>
                <a:latin typeface="DejaVu Sans"/>
                <a:ea typeface="DejaVu Sans"/>
                <a:cs typeface="DejaVu Sans"/>
              </a:rPr>
              <a:t>Session A</a:t>
            </a:r>
          </a:p>
        </p:txBody>
      </p:sp>
      <p:sp>
        <p:nvSpPr>
          <p:cNvPr id="21" name="Rectangle 20">
            <a:extLst>
              <a:ext uri="{FF2B5EF4-FFF2-40B4-BE49-F238E27FC236}">
                <a16:creationId xmlns:a16="http://schemas.microsoft.com/office/drawing/2014/main" id="{6AE42230-526D-46B9-BD2F-F2B6A88EE427}"/>
              </a:ext>
            </a:extLst>
          </p:cNvPr>
          <p:cNvSpPr>
            <a:spLocks noGrp="1"/>
          </p:cNvSpPr>
          <p:nvPr/>
        </p:nvSpPr>
        <p:spPr>
          <a:xfrm>
            <a:off x="5638800" y="1600200"/>
            <a:ext cx="1352550" cy="381000"/>
          </a:xfrm>
          <a:prstGeom prst="rect">
            <a:avLst/>
          </a:prstGeom>
          <a:noFill/>
          <a:ln w="0">
            <a:noFill/>
          </a:ln>
        </p:spPr>
        <p:txBody>
          <a:bodyPr wrap="square" lIns="0" tIns="0" rIns="0" bIns="0" anchor="t">
            <a:normAutofit/>
          </a:bodyPr>
          <a:lstStyle/>
          <a:p>
            <a:pPr algn="l">
              <a:defRPr sz="1125" b="0" i="0">
                <a:solidFill>
                  <a:srgbClr val="FFFFFF"/>
                </a:solidFill>
                <a:latin typeface="DejaVu Sans"/>
                <a:ea typeface="DejaVu Sans"/>
                <a:cs typeface="DejaVu Sans"/>
              </a:defRPr>
            </a:pPr>
            <a:r>
              <a:rPr sz="1125" b="0" i="0">
                <a:solidFill>
                  <a:srgbClr val="FFFFFF"/>
                </a:solidFill>
                <a:latin typeface="DejaVu Sans"/>
                <a:ea typeface="DejaVu Sans"/>
                <a:cs typeface="DejaVu Sans"/>
              </a:rPr>
              <a:t>Feature work</a:t>
            </a:r>
          </a:p>
        </p:txBody>
      </p:sp>
      <p:sp>
        <p:nvSpPr>
          <p:cNvPr id="22" name="Straight Connector 21">
            <a:extLst>
              <a:ext uri="{FF2B5EF4-FFF2-40B4-BE49-F238E27FC236}">
                <a16:creationId xmlns:a16="http://schemas.microsoft.com/office/drawing/2014/main" id="{5D7972C8-621F-4003-9A76-2CAB0DC5D667}"/>
              </a:ext>
            </a:extLst>
          </p:cNvPr>
          <p:cNvSpPr>
            <a:spLocks noGrp="1"/>
          </p:cNvSpPr>
          <p:nvPr/>
        </p:nvSpPr>
        <p:spPr>
          <a:xfrm flipV="1">
            <a:off x="2819400" y="1857375"/>
            <a:ext cx="1276350" cy="533400"/>
          </a:xfrm>
          <a:prstGeom prst="line">
            <a:avLst/>
          </a:prstGeom>
          <a:noFill/>
          <a:ln w="19050">
            <a:solidFill>
              <a:srgbClr val="60718C"/>
            </a:solidFill>
            <a:prstDash val="solid"/>
          </a:ln>
        </p:spPr>
        <p:txBody>
          <a:bodyPr/>
          <a:lstStyle/>
          <a:p>
            <a:endParaRPr lang="en-US"/>
          </a:p>
        </p:txBody>
      </p:sp>
      <p:sp>
        <p:nvSpPr>
          <p:cNvPr id="23" name="Rectangle: Rounded Corners 22">
            <a:extLst>
              <a:ext uri="{FF2B5EF4-FFF2-40B4-BE49-F238E27FC236}">
                <a16:creationId xmlns:a16="http://schemas.microsoft.com/office/drawing/2014/main" id="{1C29D29F-CD29-4E2B-8927-DB508E3E0412}"/>
              </a:ext>
            </a:extLst>
          </p:cNvPr>
          <p:cNvSpPr>
            <a:spLocks noGrp="1"/>
          </p:cNvSpPr>
          <p:nvPr/>
        </p:nvSpPr>
        <p:spPr>
          <a:xfrm>
            <a:off x="4095750" y="2628900"/>
            <a:ext cx="3143250" cy="857250"/>
          </a:xfrm>
          <a:prstGeom prst="roundRect">
            <a:avLst>
              <a:gd name="adj" fmla="val 20000"/>
            </a:avLst>
          </a:prstGeom>
          <a:solidFill>
            <a:srgbClr val="151E31"/>
          </a:solidFill>
          <a:ln w="19050">
            <a:solidFill>
              <a:srgbClr val="19C3D2"/>
            </a:solidFill>
            <a:prstDash val="solid"/>
          </a:ln>
        </p:spPr>
        <p:txBody>
          <a:bodyPr/>
          <a:lstStyle/>
          <a:p>
            <a:endParaRPr lang="en-US"/>
          </a:p>
        </p:txBody>
      </p:sp>
      <p:sp>
        <p:nvSpPr>
          <p:cNvPr id="24" name="Rectangle 23">
            <a:extLst>
              <a:ext uri="{FF2B5EF4-FFF2-40B4-BE49-F238E27FC236}">
                <a16:creationId xmlns:a16="http://schemas.microsoft.com/office/drawing/2014/main" id="{F64E9E48-FAF2-4FF0-BB07-4204337C1B9B}"/>
              </a:ext>
            </a:extLst>
          </p:cNvPr>
          <p:cNvSpPr>
            <a:spLocks noGrp="1"/>
          </p:cNvSpPr>
          <p:nvPr/>
        </p:nvSpPr>
        <p:spPr>
          <a:xfrm>
            <a:off x="4324350" y="2800350"/>
            <a:ext cx="1238250" cy="209550"/>
          </a:xfrm>
          <a:prstGeom prst="rect">
            <a:avLst/>
          </a:prstGeom>
          <a:noFill/>
          <a:ln w="0">
            <a:noFill/>
          </a:ln>
        </p:spPr>
        <p:txBody>
          <a:bodyPr wrap="square" lIns="0" tIns="0" rIns="0" bIns="0" anchor="t">
            <a:normAutofit/>
          </a:bodyPr>
          <a:lstStyle/>
          <a:p>
            <a:pPr algn="l">
              <a:defRPr sz="1125" b="1" i="0">
                <a:solidFill>
                  <a:srgbClr val="19C3D2"/>
                </a:solidFill>
                <a:latin typeface="DejaVu Sans"/>
                <a:ea typeface="DejaVu Sans"/>
                <a:cs typeface="DejaVu Sans"/>
              </a:defRPr>
            </a:pPr>
            <a:r>
              <a:rPr sz="1125" b="1" i="0">
                <a:solidFill>
                  <a:srgbClr val="19C3D2"/>
                </a:solidFill>
                <a:latin typeface="DejaVu Sans"/>
                <a:ea typeface="DejaVu Sans"/>
                <a:cs typeface="DejaVu Sans"/>
              </a:rPr>
              <a:t>Session B</a:t>
            </a:r>
          </a:p>
        </p:txBody>
      </p:sp>
      <p:sp>
        <p:nvSpPr>
          <p:cNvPr id="25" name="Rectangle 24">
            <a:extLst>
              <a:ext uri="{FF2B5EF4-FFF2-40B4-BE49-F238E27FC236}">
                <a16:creationId xmlns:a16="http://schemas.microsoft.com/office/drawing/2014/main" id="{57665472-EABC-4955-8C3B-FDB09D3014B0}"/>
              </a:ext>
            </a:extLst>
          </p:cNvPr>
          <p:cNvSpPr>
            <a:spLocks noGrp="1"/>
          </p:cNvSpPr>
          <p:nvPr/>
        </p:nvSpPr>
        <p:spPr>
          <a:xfrm>
            <a:off x="5638800" y="2800350"/>
            <a:ext cx="1352550" cy="381000"/>
          </a:xfrm>
          <a:prstGeom prst="rect">
            <a:avLst/>
          </a:prstGeom>
          <a:noFill/>
          <a:ln w="0">
            <a:noFill/>
          </a:ln>
        </p:spPr>
        <p:txBody>
          <a:bodyPr wrap="square" lIns="0" tIns="0" rIns="0" bIns="0" anchor="t">
            <a:normAutofit/>
          </a:bodyPr>
          <a:lstStyle/>
          <a:p>
            <a:pPr algn="l">
              <a:defRPr sz="1125" b="0" i="0">
                <a:solidFill>
                  <a:srgbClr val="FFFFFF"/>
                </a:solidFill>
                <a:latin typeface="DejaVu Sans"/>
                <a:ea typeface="DejaVu Sans"/>
                <a:cs typeface="DejaVu Sans"/>
              </a:defRPr>
            </a:pPr>
            <a:r>
              <a:rPr sz="1125" b="0" i="0">
                <a:solidFill>
                  <a:srgbClr val="FFFFFF"/>
                </a:solidFill>
                <a:latin typeface="DejaVu Sans"/>
                <a:ea typeface="DejaVu Sans"/>
                <a:cs typeface="DejaVu Sans"/>
              </a:rPr>
              <a:t>Bug fix</a:t>
            </a:r>
          </a:p>
        </p:txBody>
      </p:sp>
      <p:sp>
        <p:nvSpPr>
          <p:cNvPr id="26" name="Straight Connector 25">
            <a:extLst>
              <a:ext uri="{FF2B5EF4-FFF2-40B4-BE49-F238E27FC236}">
                <a16:creationId xmlns:a16="http://schemas.microsoft.com/office/drawing/2014/main" id="{CA662F25-7EA0-4671-B10F-B33B78376F67}"/>
              </a:ext>
            </a:extLst>
          </p:cNvPr>
          <p:cNvSpPr>
            <a:spLocks noGrp="1"/>
          </p:cNvSpPr>
          <p:nvPr/>
        </p:nvSpPr>
        <p:spPr>
          <a:xfrm>
            <a:off x="2819400" y="2390775"/>
            <a:ext cx="1276350" cy="666750"/>
          </a:xfrm>
          <a:prstGeom prst="line">
            <a:avLst/>
          </a:prstGeom>
          <a:noFill/>
          <a:ln w="19050">
            <a:solidFill>
              <a:srgbClr val="60718C"/>
            </a:solidFill>
            <a:prstDash val="solid"/>
          </a:ln>
        </p:spPr>
        <p:txBody>
          <a:bodyPr/>
          <a:lstStyle/>
          <a:p>
            <a:endParaRPr lang="en-US"/>
          </a:p>
        </p:txBody>
      </p:sp>
      <p:sp>
        <p:nvSpPr>
          <p:cNvPr id="27" name="Rectangle: Rounded Corners 26">
            <a:extLst>
              <a:ext uri="{FF2B5EF4-FFF2-40B4-BE49-F238E27FC236}">
                <a16:creationId xmlns:a16="http://schemas.microsoft.com/office/drawing/2014/main" id="{6595C6A0-6BB7-49B6-B2E1-D1BF764BDC93}"/>
              </a:ext>
            </a:extLst>
          </p:cNvPr>
          <p:cNvSpPr>
            <a:spLocks noGrp="1"/>
          </p:cNvSpPr>
          <p:nvPr/>
        </p:nvSpPr>
        <p:spPr>
          <a:xfrm>
            <a:off x="4095750" y="3829050"/>
            <a:ext cx="3143250" cy="857250"/>
          </a:xfrm>
          <a:prstGeom prst="roundRect">
            <a:avLst>
              <a:gd name="adj" fmla="val 20000"/>
            </a:avLst>
          </a:prstGeom>
          <a:solidFill>
            <a:srgbClr val="151E31"/>
          </a:solidFill>
          <a:ln w="19050">
            <a:solidFill>
              <a:srgbClr val="FF8066"/>
            </a:solidFill>
            <a:prstDash val="solid"/>
          </a:ln>
        </p:spPr>
        <p:txBody>
          <a:bodyPr/>
          <a:lstStyle/>
          <a:p>
            <a:endParaRPr lang="en-US"/>
          </a:p>
        </p:txBody>
      </p:sp>
      <p:sp>
        <p:nvSpPr>
          <p:cNvPr id="28" name="Rectangle 27">
            <a:extLst>
              <a:ext uri="{FF2B5EF4-FFF2-40B4-BE49-F238E27FC236}">
                <a16:creationId xmlns:a16="http://schemas.microsoft.com/office/drawing/2014/main" id="{11D93AAA-DC83-4BC8-A7EC-51632504D816}"/>
              </a:ext>
            </a:extLst>
          </p:cNvPr>
          <p:cNvSpPr>
            <a:spLocks noGrp="1"/>
          </p:cNvSpPr>
          <p:nvPr/>
        </p:nvSpPr>
        <p:spPr>
          <a:xfrm>
            <a:off x="4324350" y="4000500"/>
            <a:ext cx="1238250" cy="209550"/>
          </a:xfrm>
          <a:prstGeom prst="rect">
            <a:avLst/>
          </a:prstGeom>
          <a:noFill/>
          <a:ln w="0">
            <a:noFill/>
          </a:ln>
        </p:spPr>
        <p:txBody>
          <a:bodyPr wrap="square" lIns="0" tIns="0" rIns="0" bIns="0" anchor="t">
            <a:normAutofit/>
          </a:bodyPr>
          <a:lstStyle/>
          <a:p>
            <a:pPr algn="l">
              <a:defRPr sz="1125" b="1" i="0">
                <a:solidFill>
                  <a:srgbClr val="FF8066"/>
                </a:solidFill>
                <a:latin typeface="DejaVu Sans"/>
                <a:ea typeface="DejaVu Sans"/>
                <a:cs typeface="DejaVu Sans"/>
              </a:defRPr>
            </a:pPr>
            <a:r>
              <a:rPr sz="1125" b="1" i="0">
                <a:solidFill>
                  <a:srgbClr val="FF8066"/>
                </a:solidFill>
                <a:latin typeface="DejaVu Sans"/>
                <a:ea typeface="DejaVu Sans"/>
                <a:cs typeface="DejaVu Sans"/>
              </a:rPr>
              <a:t>Session C</a:t>
            </a:r>
          </a:p>
        </p:txBody>
      </p:sp>
      <p:sp>
        <p:nvSpPr>
          <p:cNvPr id="29" name="Rectangle 28">
            <a:extLst>
              <a:ext uri="{FF2B5EF4-FFF2-40B4-BE49-F238E27FC236}">
                <a16:creationId xmlns:a16="http://schemas.microsoft.com/office/drawing/2014/main" id="{D1097964-28C3-413D-AC3C-D98D511A6466}"/>
              </a:ext>
            </a:extLst>
          </p:cNvPr>
          <p:cNvSpPr>
            <a:spLocks noGrp="1"/>
          </p:cNvSpPr>
          <p:nvPr/>
        </p:nvSpPr>
        <p:spPr>
          <a:xfrm>
            <a:off x="5638800" y="4000500"/>
            <a:ext cx="1352550" cy="381000"/>
          </a:xfrm>
          <a:prstGeom prst="rect">
            <a:avLst/>
          </a:prstGeom>
          <a:noFill/>
          <a:ln w="0">
            <a:noFill/>
          </a:ln>
        </p:spPr>
        <p:txBody>
          <a:bodyPr wrap="square" lIns="0" tIns="0" rIns="0" bIns="0" anchor="t">
            <a:normAutofit/>
          </a:bodyPr>
          <a:lstStyle/>
          <a:p>
            <a:pPr algn="l">
              <a:defRPr sz="1125" b="0" i="0">
                <a:solidFill>
                  <a:srgbClr val="FFFFFF"/>
                </a:solidFill>
                <a:latin typeface="DejaVu Sans"/>
                <a:ea typeface="DejaVu Sans"/>
                <a:cs typeface="DejaVu Sans"/>
              </a:defRPr>
            </a:pPr>
            <a:r>
              <a:rPr sz="1125" b="0" i="0">
                <a:solidFill>
                  <a:srgbClr val="FFFFFF"/>
                </a:solidFill>
                <a:latin typeface="DejaVu Sans"/>
                <a:ea typeface="DejaVu Sans"/>
                <a:cs typeface="DejaVu Sans"/>
              </a:rPr>
              <a:t>Tests or docs</a:t>
            </a:r>
          </a:p>
        </p:txBody>
      </p:sp>
      <p:sp>
        <p:nvSpPr>
          <p:cNvPr id="30" name="Straight Connector 29">
            <a:extLst>
              <a:ext uri="{FF2B5EF4-FFF2-40B4-BE49-F238E27FC236}">
                <a16:creationId xmlns:a16="http://schemas.microsoft.com/office/drawing/2014/main" id="{95806BAD-88D2-428C-8A61-B66DE502F653}"/>
              </a:ext>
            </a:extLst>
          </p:cNvPr>
          <p:cNvSpPr>
            <a:spLocks noGrp="1"/>
          </p:cNvSpPr>
          <p:nvPr/>
        </p:nvSpPr>
        <p:spPr>
          <a:xfrm>
            <a:off x="2819400" y="2390775"/>
            <a:ext cx="1276350" cy="1866900"/>
          </a:xfrm>
          <a:prstGeom prst="line">
            <a:avLst/>
          </a:prstGeom>
          <a:noFill/>
          <a:ln w="19050">
            <a:solidFill>
              <a:srgbClr val="60718C"/>
            </a:solidFill>
            <a:prstDash val="solid"/>
          </a:ln>
        </p:spPr>
        <p:txBody>
          <a:bodyPr/>
          <a:lstStyle/>
          <a:p>
            <a:endParaRPr lang="en-US"/>
          </a:p>
        </p:txBody>
      </p:sp>
      <p:sp>
        <p:nvSpPr>
          <p:cNvPr id="31" name="Rectangle: Rounded Corners 30">
            <a:extLst>
              <a:ext uri="{FF2B5EF4-FFF2-40B4-BE49-F238E27FC236}">
                <a16:creationId xmlns:a16="http://schemas.microsoft.com/office/drawing/2014/main" id="{7C61A43A-CE55-4FB9-A328-C93696942A1E}"/>
              </a:ext>
            </a:extLst>
          </p:cNvPr>
          <p:cNvSpPr>
            <a:spLocks noGrp="1"/>
          </p:cNvSpPr>
          <p:nvPr/>
        </p:nvSpPr>
        <p:spPr>
          <a:xfrm>
            <a:off x="8096250" y="1428750"/>
            <a:ext cx="3409950" cy="3257550"/>
          </a:xfrm>
          <a:prstGeom prst="roundRect">
            <a:avLst>
              <a:gd name="adj" fmla="val 5848"/>
            </a:avLst>
          </a:prstGeom>
          <a:solidFill>
            <a:srgbClr val="111A2B"/>
          </a:solidFill>
          <a:ln w="9525">
            <a:solidFill>
              <a:srgbClr val="2D3A52"/>
            </a:solidFill>
            <a:prstDash val="solid"/>
          </a:ln>
        </p:spPr>
        <p:txBody>
          <a:bodyPr/>
          <a:lstStyle/>
          <a:p>
            <a:endParaRPr lang="en-US"/>
          </a:p>
        </p:txBody>
      </p:sp>
      <p:sp>
        <p:nvSpPr>
          <p:cNvPr id="32" name="Rectangle 31">
            <a:extLst>
              <a:ext uri="{FF2B5EF4-FFF2-40B4-BE49-F238E27FC236}">
                <a16:creationId xmlns:a16="http://schemas.microsoft.com/office/drawing/2014/main" id="{2E33E488-9993-418B-838D-06A9887F51F7}"/>
              </a:ext>
            </a:extLst>
          </p:cNvPr>
          <p:cNvSpPr>
            <a:spLocks noGrp="1"/>
          </p:cNvSpPr>
          <p:nvPr/>
        </p:nvSpPr>
        <p:spPr>
          <a:xfrm>
            <a:off x="8343900" y="1714500"/>
            <a:ext cx="2914650" cy="285750"/>
          </a:xfrm>
          <a:prstGeom prst="rect">
            <a:avLst/>
          </a:prstGeom>
          <a:noFill/>
          <a:ln w="0">
            <a:noFill/>
          </a:ln>
        </p:spPr>
        <p:txBody>
          <a:bodyPr wrap="square" lIns="0" tIns="0" rIns="0" bIns="0" anchor="t">
            <a:normAutofit/>
          </a:bodyPr>
          <a:lstStyle/>
          <a:p>
            <a:pPr algn="l">
              <a:defRPr sz="1650" b="1" i="0">
                <a:solidFill>
                  <a:srgbClr val="FFFFFF"/>
                </a:solidFill>
                <a:latin typeface="DejaVu Sans"/>
                <a:ea typeface="DejaVu Sans"/>
                <a:cs typeface="DejaVu Sans"/>
              </a:defRPr>
            </a:pPr>
            <a:r>
              <a:rPr sz="1650" b="1" i="0">
                <a:solidFill>
                  <a:srgbClr val="FFFFFF"/>
                </a:solidFill>
                <a:latin typeface="DejaVu Sans"/>
                <a:ea typeface="DejaVu Sans"/>
                <a:cs typeface="DejaVu Sans"/>
              </a:rPr>
              <a:t>Subagents</a:t>
            </a:r>
          </a:p>
        </p:txBody>
      </p:sp>
      <p:sp>
        <p:nvSpPr>
          <p:cNvPr id="33" name="Rectangle 32">
            <a:extLst>
              <a:ext uri="{FF2B5EF4-FFF2-40B4-BE49-F238E27FC236}">
                <a16:creationId xmlns:a16="http://schemas.microsoft.com/office/drawing/2014/main" id="{1043E9BB-84D7-4934-811A-05F460DC70AA}"/>
              </a:ext>
            </a:extLst>
          </p:cNvPr>
          <p:cNvSpPr>
            <a:spLocks noGrp="1"/>
          </p:cNvSpPr>
          <p:nvPr/>
        </p:nvSpPr>
        <p:spPr>
          <a:xfrm>
            <a:off x="8343900" y="2114550"/>
            <a:ext cx="2914650" cy="228600"/>
          </a:xfrm>
          <a:prstGeom prst="rect">
            <a:avLst/>
          </a:prstGeom>
          <a:noFill/>
          <a:ln w="0">
            <a:noFill/>
          </a:ln>
        </p:spPr>
        <p:txBody>
          <a:bodyPr wrap="square" lIns="0" tIns="0" rIns="0" bIns="0" anchor="t">
            <a:normAutofit/>
          </a:bodyPr>
          <a:lstStyle/>
          <a:p>
            <a:pPr algn="l">
              <a:defRPr sz="1050" b="0" i="0">
                <a:solidFill>
                  <a:srgbClr val="A9B8CF"/>
                </a:solidFill>
                <a:latin typeface="DejaVu Sans"/>
                <a:ea typeface="DejaVu Sans"/>
                <a:cs typeface="DejaVu Sans"/>
              </a:defRPr>
            </a:pPr>
            <a:r>
              <a:rPr sz="1050" b="0" i="0">
                <a:solidFill>
                  <a:srgbClr val="A9B8CF"/>
                </a:solidFill>
                <a:latin typeface="DejaVu Sans"/>
                <a:ea typeface="DejaVu Sans"/>
                <a:cs typeface="DejaVu Sans"/>
              </a:rPr>
              <a:t>Small helpers inside one session</a:t>
            </a:r>
          </a:p>
        </p:txBody>
      </p:sp>
      <p:sp>
        <p:nvSpPr>
          <p:cNvPr id="34" name="Rectangle: Rounded Corners 33">
            <a:extLst>
              <a:ext uri="{FF2B5EF4-FFF2-40B4-BE49-F238E27FC236}">
                <a16:creationId xmlns:a16="http://schemas.microsoft.com/office/drawing/2014/main" id="{1B82B935-886B-4FDE-AC73-443A0E5E961D}"/>
              </a:ext>
            </a:extLst>
          </p:cNvPr>
          <p:cNvSpPr>
            <a:spLocks noGrp="1"/>
          </p:cNvSpPr>
          <p:nvPr/>
        </p:nvSpPr>
        <p:spPr>
          <a:xfrm>
            <a:off x="8343900" y="2590800"/>
            <a:ext cx="2914650" cy="781050"/>
          </a:xfrm>
          <a:prstGeom prst="roundRect">
            <a:avLst>
              <a:gd name="adj" fmla="val 17073"/>
            </a:avLst>
          </a:prstGeom>
          <a:solidFill>
            <a:srgbClr val="1C2940"/>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8D482A62-984C-4068-A7AC-C1A82A419318}"/>
              </a:ext>
            </a:extLst>
          </p:cNvPr>
          <p:cNvSpPr>
            <a:spLocks noGrp="1"/>
          </p:cNvSpPr>
          <p:nvPr/>
        </p:nvSpPr>
        <p:spPr>
          <a:xfrm>
            <a:off x="8515350" y="2724150"/>
            <a:ext cx="933450" cy="190500"/>
          </a:xfrm>
          <a:prstGeom prst="rect">
            <a:avLst/>
          </a:prstGeom>
          <a:noFill/>
          <a:ln w="0">
            <a:noFill/>
          </a:ln>
        </p:spPr>
        <p:txBody>
          <a:bodyPr wrap="square" lIns="0" tIns="0" rIns="0" bIns="0" anchor="t">
            <a:normAutofit/>
          </a:bodyPr>
          <a:lstStyle/>
          <a:p>
            <a:pPr algn="l">
              <a:defRPr sz="975" b="1" i="0">
                <a:solidFill>
                  <a:srgbClr val="19C3D2"/>
                </a:solidFill>
                <a:latin typeface="DejaVu Sans"/>
                <a:ea typeface="DejaVu Sans"/>
                <a:cs typeface="DejaVu Sans"/>
              </a:defRPr>
            </a:pPr>
            <a:r>
              <a:rPr sz="975" b="1" i="0">
                <a:solidFill>
                  <a:srgbClr val="19C3D2"/>
                </a:solidFill>
                <a:latin typeface="DejaVu Sans"/>
                <a:ea typeface="DejaVu Sans"/>
                <a:cs typeface="DejaVu Sans"/>
              </a:rPr>
              <a:t>Verifier</a:t>
            </a:r>
          </a:p>
        </p:txBody>
      </p:sp>
      <p:sp>
        <p:nvSpPr>
          <p:cNvPr id="36" name="Rectangle 35">
            <a:extLst>
              <a:ext uri="{FF2B5EF4-FFF2-40B4-BE49-F238E27FC236}">
                <a16:creationId xmlns:a16="http://schemas.microsoft.com/office/drawing/2014/main" id="{6CE51E44-823A-44E2-A9EE-9D9FFEDAAFBC}"/>
              </a:ext>
            </a:extLst>
          </p:cNvPr>
          <p:cNvSpPr>
            <a:spLocks noGrp="1"/>
          </p:cNvSpPr>
          <p:nvPr/>
        </p:nvSpPr>
        <p:spPr>
          <a:xfrm>
            <a:off x="9525000" y="2705100"/>
            <a:ext cx="1562100" cy="400050"/>
          </a:xfrm>
          <a:prstGeom prst="rect">
            <a:avLst/>
          </a:prstGeom>
          <a:noFill/>
          <a:ln w="0">
            <a:noFill/>
          </a:ln>
        </p:spPr>
        <p:txBody>
          <a:bodyPr wrap="square" lIns="0" tIns="0" rIns="0" bIns="0" anchor="t">
            <a:normAutofit/>
          </a:bodyPr>
          <a:lstStyle/>
          <a:p>
            <a:pPr algn="l">
              <a:defRPr sz="975" b="0" i="0">
                <a:solidFill>
                  <a:srgbClr val="D4DFEE"/>
                </a:solidFill>
                <a:latin typeface="DejaVu Sans"/>
                <a:ea typeface="DejaVu Sans"/>
                <a:cs typeface="DejaVu Sans"/>
              </a:defRPr>
            </a:pPr>
            <a:r>
              <a:rPr sz="975" b="0" i="0">
                <a:solidFill>
                  <a:srgbClr val="D4DFEE"/>
                </a:solidFill>
                <a:latin typeface="DejaVu Sans"/>
                <a:ea typeface="DejaVu Sans"/>
                <a:cs typeface="DejaVu Sans"/>
              </a:rPr>
              <a:t>Runs the app and reports evidence</a:t>
            </a:r>
          </a:p>
        </p:txBody>
      </p:sp>
      <p:sp>
        <p:nvSpPr>
          <p:cNvPr id="37" name="Rectangle: Rounded Corners 36">
            <a:extLst>
              <a:ext uri="{FF2B5EF4-FFF2-40B4-BE49-F238E27FC236}">
                <a16:creationId xmlns:a16="http://schemas.microsoft.com/office/drawing/2014/main" id="{9D83140D-EED7-4C67-8256-5FA9E161963C}"/>
              </a:ext>
            </a:extLst>
          </p:cNvPr>
          <p:cNvSpPr>
            <a:spLocks noGrp="1"/>
          </p:cNvSpPr>
          <p:nvPr/>
        </p:nvSpPr>
        <p:spPr>
          <a:xfrm>
            <a:off x="8343900" y="3562350"/>
            <a:ext cx="2914650" cy="781050"/>
          </a:xfrm>
          <a:prstGeom prst="roundRect">
            <a:avLst>
              <a:gd name="adj" fmla="val 17073"/>
            </a:avLst>
          </a:prstGeom>
          <a:solidFill>
            <a:srgbClr val="1C2940"/>
          </a:solidFill>
          <a:ln w="0">
            <a:noFill/>
            <a:prstDash val="solid"/>
          </a:ln>
        </p:spPr>
        <p:txBody>
          <a:bodyPr/>
          <a:lstStyle/>
          <a:p>
            <a:endParaRPr lang="en-US"/>
          </a:p>
        </p:txBody>
      </p:sp>
      <p:sp>
        <p:nvSpPr>
          <p:cNvPr id="38" name="Rectangle 37">
            <a:extLst>
              <a:ext uri="{FF2B5EF4-FFF2-40B4-BE49-F238E27FC236}">
                <a16:creationId xmlns:a16="http://schemas.microsoft.com/office/drawing/2014/main" id="{EBD50068-EF2C-488E-943A-77244E4978E2}"/>
              </a:ext>
            </a:extLst>
          </p:cNvPr>
          <p:cNvSpPr>
            <a:spLocks noGrp="1"/>
          </p:cNvSpPr>
          <p:nvPr/>
        </p:nvSpPr>
        <p:spPr>
          <a:xfrm>
            <a:off x="8515350" y="3695700"/>
            <a:ext cx="933450" cy="190500"/>
          </a:xfrm>
          <a:prstGeom prst="rect">
            <a:avLst/>
          </a:prstGeom>
          <a:noFill/>
          <a:ln w="0">
            <a:noFill/>
          </a:ln>
        </p:spPr>
        <p:txBody>
          <a:bodyPr wrap="square" lIns="0" tIns="0" rIns="0" bIns="0" anchor="t">
            <a:normAutofit/>
          </a:bodyPr>
          <a:lstStyle/>
          <a:p>
            <a:pPr algn="l">
              <a:defRPr sz="975" b="1" i="0">
                <a:solidFill>
                  <a:srgbClr val="7457E8"/>
                </a:solidFill>
                <a:latin typeface="DejaVu Sans"/>
                <a:ea typeface="DejaVu Sans"/>
                <a:cs typeface="DejaVu Sans"/>
              </a:defRPr>
            </a:pPr>
            <a:r>
              <a:rPr sz="975" b="1" i="0">
                <a:solidFill>
                  <a:srgbClr val="7457E8"/>
                </a:solidFill>
                <a:latin typeface="DejaVu Sans"/>
                <a:ea typeface="DejaVu Sans"/>
                <a:cs typeface="DejaVu Sans"/>
              </a:rPr>
              <a:t>Researcher</a:t>
            </a:r>
          </a:p>
        </p:txBody>
      </p:sp>
      <p:sp>
        <p:nvSpPr>
          <p:cNvPr id="39" name="Rectangle 38">
            <a:extLst>
              <a:ext uri="{FF2B5EF4-FFF2-40B4-BE49-F238E27FC236}">
                <a16:creationId xmlns:a16="http://schemas.microsoft.com/office/drawing/2014/main" id="{189FF339-89D5-4B8B-BD40-67F6563B048D}"/>
              </a:ext>
            </a:extLst>
          </p:cNvPr>
          <p:cNvSpPr>
            <a:spLocks noGrp="1"/>
          </p:cNvSpPr>
          <p:nvPr/>
        </p:nvSpPr>
        <p:spPr>
          <a:xfrm>
            <a:off x="9525000" y="3676650"/>
            <a:ext cx="1562100" cy="400050"/>
          </a:xfrm>
          <a:prstGeom prst="rect">
            <a:avLst/>
          </a:prstGeom>
          <a:noFill/>
          <a:ln w="0">
            <a:noFill/>
          </a:ln>
        </p:spPr>
        <p:txBody>
          <a:bodyPr wrap="square" lIns="0" tIns="0" rIns="0" bIns="0" anchor="t">
            <a:normAutofit/>
          </a:bodyPr>
          <a:lstStyle/>
          <a:p>
            <a:pPr algn="l">
              <a:defRPr sz="975" b="0" i="0">
                <a:solidFill>
                  <a:srgbClr val="D4DFEE"/>
                </a:solidFill>
                <a:latin typeface="DejaVu Sans"/>
                <a:ea typeface="DejaVu Sans"/>
                <a:cs typeface="DejaVu Sans"/>
              </a:defRPr>
            </a:pPr>
            <a:r>
              <a:rPr sz="975" b="0" i="0">
                <a:solidFill>
                  <a:srgbClr val="D4DFEE"/>
                </a:solidFill>
                <a:latin typeface="DejaVu Sans"/>
                <a:ea typeface="DejaVu Sans"/>
                <a:cs typeface="DejaVu Sans"/>
              </a:rPr>
              <a:t>Explores the codebase and reports back</a:t>
            </a:r>
          </a:p>
        </p:txBody>
      </p:sp>
      <p:sp>
        <p:nvSpPr>
          <p:cNvPr id="40" name="Rectangle 39">
            <a:extLst>
              <a:ext uri="{FF2B5EF4-FFF2-40B4-BE49-F238E27FC236}">
                <a16:creationId xmlns:a16="http://schemas.microsoft.com/office/drawing/2014/main" id="{BD075D81-77C3-4864-B2D4-EC4D3346F3BA}"/>
              </a:ext>
            </a:extLst>
          </p:cNvPr>
          <p:cNvSpPr>
            <a:spLocks noGrp="1"/>
          </p:cNvSpPr>
          <p:nvPr/>
        </p:nvSpPr>
        <p:spPr>
          <a:xfrm>
            <a:off x="685800" y="5238750"/>
            <a:ext cx="10820400" cy="304800"/>
          </a:xfrm>
          <a:prstGeom prst="rect">
            <a:avLst/>
          </a:prstGeom>
          <a:noFill/>
          <a:ln w="0">
            <a:noFill/>
          </a:ln>
        </p:spPr>
        <p:txBody>
          <a:bodyPr wrap="square" lIns="0" tIns="0" rIns="0" bIns="0" anchor="t">
            <a:normAutofit/>
          </a:bodyPr>
          <a:lstStyle/>
          <a:p>
            <a:pPr algn="ctr">
              <a:defRPr sz="1350" b="1" i="0">
                <a:solidFill>
                  <a:srgbClr val="FFFFFF"/>
                </a:solidFill>
                <a:latin typeface="DejaVu Sans"/>
                <a:ea typeface="DejaVu Sans"/>
                <a:cs typeface="DejaVu Sans"/>
              </a:defRPr>
            </a:pPr>
            <a:r>
              <a:rPr sz="1350" b="1" i="0">
                <a:solidFill>
                  <a:srgbClr val="FFFFFF"/>
                </a:solidFill>
                <a:latin typeface="DejaVu Sans"/>
                <a:ea typeface="DejaVu Sans"/>
                <a:cs typeface="DejaVu Sans"/>
              </a:rPr>
              <a:t>Start with two or three sessions. Add more only when review can keep up.</a:t>
            </a:r>
          </a:p>
        </p:txBody>
      </p:sp>
    </p:spTree>
    <p:extLst>
      <p:ext uri="{BB962C8B-B14F-4D97-AF65-F5344CB8AC3E}">
        <p14:creationId xmlns:p14="http://schemas.microsoft.com/office/powerpoint/2010/main" val="1984690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1809AF12-D4DD-4304-A7AA-0C2FDFBD4E3C}"/>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GIVE THE AGENT A FEEDBACK LOOP</a:t>
            </a:r>
          </a:p>
        </p:txBody>
      </p:sp>
      <p:sp>
        <p:nvSpPr>
          <p:cNvPr id="2" name="Rectangle 1">
            <a:extLst>
              <a:ext uri="{FF2B5EF4-FFF2-40B4-BE49-F238E27FC236}">
                <a16:creationId xmlns:a16="http://schemas.microsoft.com/office/drawing/2014/main" id="{8E20632F-8456-4891-94A7-CA5E3520694F}"/>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dirty="0">
                <a:solidFill>
                  <a:srgbClr val="111827"/>
                </a:solidFill>
                <a:latin typeface="DejaVu Sans"/>
                <a:ea typeface="DejaVu Sans"/>
                <a:cs typeface="DejaVu Sans"/>
              </a:rPr>
              <a:t>Stage 4: Test</a:t>
            </a:r>
          </a:p>
        </p:txBody>
      </p:sp>
      <p:sp>
        <p:nvSpPr>
          <p:cNvPr id="3" name="Rectangle 2">
            <a:extLst>
              <a:ext uri="{FF2B5EF4-FFF2-40B4-BE49-F238E27FC236}">
                <a16:creationId xmlns:a16="http://schemas.microsoft.com/office/drawing/2014/main" id="{7CDF90EA-57B6-4D87-A0DE-13C97BE8758C}"/>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838A76A8-B398-4B2E-B8F8-8DF5423693D7}"/>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13</a:t>
            </a:r>
          </a:p>
        </p:txBody>
      </p:sp>
      <p:sp>
        <p:nvSpPr>
          <p:cNvPr id="5" name="Rectangle 4">
            <a:extLst>
              <a:ext uri="{FF2B5EF4-FFF2-40B4-BE49-F238E27FC236}">
                <a16:creationId xmlns:a16="http://schemas.microsoft.com/office/drawing/2014/main" id="{C02AC61E-F052-4FCA-BD53-2C88B6A5876B}"/>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D0EB9053-CBDE-4FDB-8D15-D48C9684428D}"/>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4E336249-8306-4108-8A2D-872F1EED3084}"/>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A8DC30E4-B6DD-47E8-BB4D-6A67FF695B9B}"/>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56D50F93-A87B-4BDE-8CAB-483866220A3A}"/>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40563CE-2300-41EE-BF9B-E78A0D54E552}"/>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26EBFD8C-78D8-4742-95C4-2202FEF62FB0}"/>
              </a:ext>
            </a:extLst>
          </p:cNvPr>
          <p:cNvSpPr>
            <a:spLocks noGrp="1"/>
          </p:cNvSpPr>
          <p:nvPr/>
        </p:nvSpPr>
        <p:spPr>
          <a:xfrm>
            <a:off x="6124575" y="6419850"/>
            <a:ext cx="1755775" cy="47625"/>
          </a:xfrm>
          <a:prstGeom prst="rect">
            <a:avLst/>
          </a:prstGeom>
          <a:solidFill>
            <a:srgbClr val="19C3D2"/>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B7CA3FCA-86CF-430B-BBF4-9494A8B6459C}"/>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1" i="0">
                <a:solidFill>
                  <a:srgbClr val="19C3D2"/>
                </a:solidFill>
                <a:latin typeface="DejaVu Sans"/>
                <a:ea typeface="DejaVu Sans"/>
                <a:cs typeface="DejaVu Sans"/>
              </a:defRPr>
            </a:pPr>
            <a:r>
              <a:rPr sz="675" b="1" i="0">
                <a:solidFill>
                  <a:srgbClr val="19C3D2"/>
                </a:solidFill>
                <a:latin typeface="DejaVu Sans"/>
                <a:ea typeface="DejaVu Sans"/>
                <a:cs typeface="DejaVu Sans"/>
              </a:rPr>
              <a:t>TEST</a:t>
            </a:r>
          </a:p>
        </p:txBody>
      </p:sp>
      <p:sp>
        <p:nvSpPr>
          <p:cNvPr id="13" name="Rectangle 12">
            <a:extLst>
              <a:ext uri="{FF2B5EF4-FFF2-40B4-BE49-F238E27FC236}">
                <a16:creationId xmlns:a16="http://schemas.microsoft.com/office/drawing/2014/main" id="{F5A3E443-E7A8-4E1F-8C08-1A62E68E1126}"/>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BB4E733C-D4CA-4FEC-983A-59D1844DE3A8}"/>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FE519302-BA88-47C0-BB8D-2C9DB6451408}"/>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3314BCBA-16B8-4E5B-A389-1CE8082AD5DC}"/>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graphicFrame>
        <p:nvGraphicFramePr>
          <p:cNvPr id="38" name="Table 37">
            <a:extLst>
              <a:ext uri="{FF2B5EF4-FFF2-40B4-BE49-F238E27FC236}">
                <a16:creationId xmlns:a16="http://schemas.microsoft.com/office/drawing/2014/main" id="{2B42E330-6C4C-3068-21AD-45B8AF798F87}"/>
              </a:ext>
            </a:extLst>
          </p:cNvPr>
          <p:cNvGraphicFramePr>
            <a:graphicFrameLocks noGrp="1"/>
          </p:cNvGraphicFramePr>
          <p:nvPr>
            <p:extLst>
              <p:ext uri="{D42A27DB-BD31-4B8C-83A1-F6EECF244321}">
                <p14:modId xmlns:p14="http://schemas.microsoft.com/office/powerpoint/2010/main" val="3595296633"/>
              </p:ext>
            </p:extLst>
          </p:nvPr>
        </p:nvGraphicFramePr>
        <p:xfrm>
          <a:off x="633343" y="1268411"/>
          <a:ext cx="7964557" cy="4579522"/>
        </p:xfrm>
        <a:graphic>
          <a:graphicData uri="http://schemas.openxmlformats.org/drawingml/2006/table">
            <a:tbl>
              <a:tblPr>
                <a:tableStyleId>{5C22544A-7EE6-4342-B048-85BDC9FD1C3A}</a:tableStyleId>
              </a:tblPr>
              <a:tblGrid>
                <a:gridCol w="1741965">
                  <a:extLst>
                    <a:ext uri="{9D8B030D-6E8A-4147-A177-3AD203B41FA5}">
                      <a16:colId xmlns:a16="http://schemas.microsoft.com/office/drawing/2014/main" val="2865408864"/>
                    </a:ext>
                  </a:extLst>
                </a:gridCol>
                <a:gridCol w="2644143">
                  <a:extLst>
                    <a:ext uri="{9D8B030D-6E8A-4147-A177-3AD203B41FA5}">
                      <a16:colId xmlns:a16="http://schemas.microsoft.com/office/drawing/2014/main" val="3505414685"/>
                    </a:ext>
                  </a:extLst>
                </a:gridCol>
                <a:gridCol w="3578449">
                  <a:extLst>
                    <a:ext uri="{9D8B030D-6E8A-4147-A177-3AD203B41FA5}">
                      <a16:colId xmlns:a16="http://schemas.microsoft.com/office/drawing/2014/main" val="1723675325"/>
                    </a:ext>
                  </a:extLst>
                </a:gridCol>
              </a:tblGrid>
              <a:tr h="305357">
                <a:tc>
                  <a:txBody>
                    <a:bodyPr/>
                    <a:lstStyle/>
                    <a:p>
                      <a:pPr>
                        <a:buNone/>
                      </a:pPr>
                      <a:r>
                        <a:rPr lang="en-US" sz="1500" dirty="0">
                          <a:solidFill>
                            <a:srgbClr val="0070C0"/>
                          </a:solidFill>
                        </a:rPr>
                        <a:t>Activity</a:t>
                      </a:r>
                    </a:p>
                  </a:txBody>
                  <a:tcPr marL="76339" marR="76339" marT="38170" marB="38170" anchor="ctr"/>
                </a:tc>
                <a:tc>
                  <a:txBody>
                    <a:bodyPr/>
                    <a:lstStyle/>
                    <a:p>
                      <a:pPr>
                        <a:buNone/>
                      </a:pPr>
                      <a:r>
                        <a:rPr lang="en-US" sz="1500" dirty="0">
                          <a:solidFill>
                            <a:srgbClr val="0070C0"/>
                          </a:solidFill>
                          <a:latin typeface="+mn-lt"/>
                          <a:ea typeface="+mn-ea"/>
                          <a:cs typeface="+mn-cs"/>
                        </a:rPr>
                        <a:t>AI responsibility</a:t>
                      </a:r>
                    </a:p>
                  </a:txBody>
                  <a:tcPr marL="76339" marR="76339" marT="38170" marB="38170" anchor="ctr"/>
                </a:tc>
                <a:tc>
                  <a:txBody>
                    <a:bodyPr/>
                    <a:lstStyle/>
                    <a:p>
                      <a:pPr marL="0" algn="l">
                        <a:buNone/>
                      </a:pPr>
                      <a:r>
                        <a:rPr lang="en-US" sz="1500" dirty="0">
                          <a:solidFill>
                            <a:srgbClr val="0070C0"/>
                          </a:solidFill>
                          <a:latin typeface="+mn-lt"/>
                          <a:ea typeface="+mn-ea"/>
                          <a:cs typeface="+mn-cs"/>
                        </a:rPr>
                        <a:t>QA responsibility</a:t>
                      </a:r>
                    </a:p>
                  </a:txBody>
                  <a:tcPr marL="76339" marR="76339" marT="38170" marB="38170" anchor="ctr"/>
                </a:tc>
                <a:extLst>
                  <a:ext uri="{0D108BD9-81ED-4DB2-BD59-A6C34878D82A}">
                    <a16:rowId xmlns:a16="http://schemas.microsoft.com/office/drawing/2014/main" val="2205411331"/>
                  </a:ext>
                </a:extLst>
              </a:tr>
              <a:tr h="534375">
                <a:tc>
                  <a:txBody>
                    <a:bodyPr/>
                    <a:lstStyle/>
                    <a:p>
                      <a:pPr>
                        <a:buNone/>
                      </a:pPr>
                      <a:r>
                        <a:rPr lang="en-US" sz="1500"/>
                        <a:t>Requirements</a:t>
                      </a:r>
                    </a:p>
                  </a:txBody>
                  <a:tcPr marL="76339" marR="76339" marT="38170" marB="38170" anchor="ctr"/>
                </a:tc>
                <a:tc>
                  <a:txBody>
                    <a:bodyPr/>
                    <a:lstStyle/>
                    <a:p>
                      <a:pPr>
                        <a:buNone/>
                      </a:pPr>
                      <a:r>
                        <a:rPr lang="en-US" sz="1500"/>
                        <a:t>Suggest test scenarios</a:t>
                      </a:r>
                    </a:p>
                  </a:txBody>
                  <a:tcPr marL="76339" marR="76339" marT="38170" marB="38170" anchor="ctr"/>
                </a:tc>
                <a:tc>
                  <a:txBody>
                    <a:bodyPr/>
                    <a:lstStyle/>
                    <a:p>
                      <a:pPr>
                        <a:buNone/>
                      </a:pPr>
                      <a:r>
                        <a:rPr lang="en-US" sz="1500"/>
                        <a:t>Define acceptance criteria and quality risks</a:t>
                      </a:r>
                    </a:p>
                  </a:txBody>
                  <a:tcPr marL="76339" marR="76339" marT="38170" marB="38170" anchor="ctr"/>
                </a:tc>
                <a:extLst>
                  <a:ext uri="{0D108BD9-81ED-4DB2-BD59-A6C34878D82A}">
                    <a16:rowId xmlns:a16="http://schemas.microsoft.com/office/drawing/2014/main" val="2380087075"/>
                  </a:ext>
                </a:extLst>
              </a:tr>
              <a:tr h="534375">
                <a:tc>
                  <a:txBody>
                    <a:bodyPr/>
                    <a:lstStyle/>
                    <a:p>
                      <a:pPr>
                        <a:buNone/>
                      </a:pPr>
                      <a:r>
                        <a:rPr lang="en-US" sz="1500"/>
                        <a:t>Test planning</a:t>
                      </a:r>
                    </a:p>
                  </a:txBody>
                  <a:tcPr marL="76339" marR="76339" marT="38170" marB="38170" anchor="ctr"/>
                </a:tc>
                <a:tc>
                  <a:txBody>
                    <a:bodyPr/>
                    <a:lstStyle/>
                    <a:p>
                      <a:pPr>
                        <a:buNone/>
                      </a:pPr>
                      <a:r>
                        <a:rPr lang="en-US" sz="1500"/>
                        <a:t>Generate initial test cases</a:t>
                      </a:r>
                    </a:p>
                  </a:txBody>
                  <a:tcPr marL="76339" marR="76339" marT="38170" marB="38170" anchor="ctr"/>
                </a:tc>
                <a:tc>
                  <a:txBody>
                    <a:bodyPr/>
                    <a:lstStyle/>
                    <a:p>
                      <a:pPr>
                        <a:buNone/>
                      </a:pPr>
                      <a:r>
                        <a:rPr lang="en-US" sz="1500"/>
                        <a:t>Select coverage and testing strategy</a:t>
                      </a:r>
                    </a:p>
                  </a:txBody>
                  <a:tcPr marL="76339" marR="76339" marT="38170" marB="38170" anchor="ctr"/>
                </a:tc>
                <a:extLst>
                  <a:ext uri="{0D108BD9-81ED-4DB2-BD59-A6C34878D82A}">
                    <a16:rowId xmlns:a16="http://schemas.microsoft.com/office/drawing/2014/main" val="1954325312"/>
                  </a:ext>
                </a:extLst>
              </a:tr>
              <a:tr h="534375">
                <a:tc>
                  <a:txBody>
                    <a:bodyPr/>
                    <a:lstStyle/>
                    <a:p>
                      <a:pPr>
                        <a:buNone/>
                      </a:pPr>
                      <a:r>
                        <a:rPr lang="en-US" sz="1500"/>
                        <a:t>Test data</a:t>
                      </a:r>
                    </a:p>
                  </a:txBody>
                  <a:tcPr marL="76339" marR="76339" marT="38170" marB="38170" anchor="ctr"/>
                </a:tc>
                <a:tc>
                  <a:txBody>
                    <a:bodyPr/>
                    <a:lstStyle/>
                    <a:p>
                      <a:pPr>
                        <a:buNone/>
                      </a:pPr>
                      <a:r>
                        <a:rPr lang="en-US" sz="1500"/>
                        <a:t>Generate synthetic data</a:t>
                      </a:r>
                    </a:p>
                  </a:txBody>
                  <a:tcPr marL="76339" marR="76339" marT="38170" marB="38170" anchor="ctr"/>
                </a:tc>
                <a:tc>
                  <a:txBody>
                    <a:bodyPr/>
                    <a:lstStyle/>
                    <a:p>
                      <a:pPr>
                        <a:buNone/>
                      </a:pPr>
                      <a:r>
                        <a:rPr lang="en-US" sz="1500"/>
                        <a:t>Check privacy, realism, and edge cases</a:t>
                      </a:r>
                    </a:p>
                  </a:txBody>
                  <a:tcPr marL="76339" marR="76339" marT="38170" marB="38170" anchor="ctr"/>
                </a:tc>
                <a:extLst>
                  <a:ext uri="{0D108BD9-81ED-4DB2-BD59-A6C34878D82A}">
                    <a16:rowId xmlns:a16="http://schemas.microsoft.com/office/drawing/2014/main" val="2859322334"/>
                  </a:ext>
                </a:extLst>
              </a:tr>
              <a:tr h="534375">
                <a:tc>
                  <a:txBody>
                    <a:bodyPr/>
                    <a:lstStyle/>
                    <a:p>
                      <a:pPr>
                        <a:buNone/>
                      </a:pPr>
                      <a:r>
                        <a:rPr lang="en-US" sz="1500"/>
                        <a:t>Execution</a:t>
                      </a:r>
                    </a:p>
                  </a:txBody>
                  <a:tcPr marL="76339" marR="76339" marT="38170" marB="38170" anchor="ctr"/>
                </a:tc>
                <a:tc>
                  <a:txBody>
                    <a:bodyPr/>
                    <a:lstStyle/>
                    <a:p>
                      <a:pPr>
                        <a:buNone/>
                      </a:pPr>
                      <a:r>
                        <a:rPr lang="en-US" sz="1500"/>
                        <a:t>Run repeatable automated tests</a:t>
                      </a:r>
                    </a:p>
                  </a:txBody>
                  <a:tcPr marL="76339" marR="76339" marT="38170" marB="38170" anchor="ctr"/>
                </a:tc>
                <a:tc>
                  <a:txBody>
                    <a:bodyPr/>
                    <a:lstStyle/>
                    <a:p>
                      <a:pPr>
                        <a:buNone/>
                      </a:pPr>
                      <a:r>
                        <a:rPr lang="en-US" sz="1500"/>
                        <a:t>Review failures and suspicious results</a:t>
                      </a:r>
                    </a:p>
                  </a:txBody>
                  <a:tcPr marL="76339" marR="76339" marT="38170" marB="38170" anchor="ctr"/>
                </a:tc>
                <a:extLst>
                  <a:ext uri="{0D108BD9-81ED-4DB2-BD59-A6C34878D82A}">
                    <a16:rowId xmlns:a16="http://schemas.microsoft.com/office/drawing/2014/main" val="817639875"/>
                  </a:ext>
                </a:extLst>
              </a:tr>
              <a:tr h="305357">
                <a:tc>
                  <a:txBody>
                    <a:bodyPr/>
                    <a:lstStyle/>
                    <a:p>
                      <a:pPr>
                        <a:buNone/>
                      </a:pPr>
                      <a:r>
                        <a:rPr lang="en-US" sz="1500"/>
                        <a:t>Bug fixing</a:t>
                      </a:r>
                    </a:p>
                  </a:txBody>
                  <a:tcPr marL="76339" marR="76339" marT="38170" marB="38170" anchor="ctr"/>
                </a:tc>
                <a:tc>
                  <a:txBody>
                    <a:bodyPr/>
                    <a:lstStyle/>
                    <a:p>
                      <a:pPr>
                        <a:buNone/>
                      </a:pPr>
                      <a:r>
                        <a:rPr lang="en-US" sz="1500"/>
                        <a:t>Reproduce bugs and modify code</a:t>
                      </a:r>
                    </a:p>
                  </a:txBody>
                  <a:tcPr marL="76339" marR="76339" marT="38170" marB="38170" anchor="ctr"/>
                </a:tc>
                <a:tc>
                  <a:txBody>
                    <a:bodyPr/>
                    <a:lstStyle/>
                    <a:p>
                      <a:pPr>
                        <a:buNone/>
                      </a:pPr>
                      <a:r>
                        <a:rPr lang="en-US" sz="1500"/>
                        <a:t>Confirm the reproduction is correct</a:t>
                      </a:r>
                    </a:p>
                  </a:txBody>
                  <a:tcPr marL="76339" marR="76339" marT="38170" marB="38170" anchor="ctr"/>
                </a:tc>
                <a:extLst>
                  <a:ext uri="{0D108BD9-81ED-4DB2-BD59-A6C34878D82A}">
                    <a16:rowId xmlns:a16="http://schemas.microsoft.com/office/drawing/2014/main" val="1390811789"/>
                  </a:ext>
                </a:extLst>
              </a:tr>
              <a:tr h="534375">
                <a:tc>
                  <a:txBody>
                    <a:bodyPr/>
                    <a:lstStyle/>
                    <a:p>
                      <a:pPr>
                        <a:buNone/>
                      </a:pPr>
                      <a:r>
                        <a:rPr lang="en-US" sz="1500"/>
                        <a:t>Exploratory testing</a:t>
                      </a:r>
                    </a:p>
                  </a:txBody>
                  <a:tcPr marL="76339" marR="76339" marT="38170" marB="38170" anchor="ctr"/>
                </a:tc>
                <a:tc>
                  <a:txBody>
                    <a:bodyPr/>
                    <a:lstStyle/>
                    <a:p>
                      <a:pPr>
                        <a:buNone/>
                      </a:pPr>
                      <a:r>
                        <a:rPr lang="en-US" sz="1500"/>
                        <a:t>Suggest exploration paths</a:t>
                      </a:r>
                    </a:p>
                  </a:txBody>
                  <a:tcPr marL="76339" marR="76339" marT="38170" marB="38170" anchor="ctr"/>
                </a:tc>
                <a:tc>
                  <a:txBody>
                    <a:bodyPr/>
                    <a:lstStyle/>
                    <a:p>
                      <a:pPr>
                        <a:buNone/>
                      </a:pPr>
                      <a:r>
                        <a:rPr lang="en-US" sz="1500"/>
                        <a:t>Perform judgment-based exploration</a:t>
                      </a:r>
                    </a:p>
                  </a:txBody>
                  <a:tcPr marL="76339" marR="76339" marT="38170" marB="38170" anchor="ctr"/>
                </a:tc>
                <a:extLst>
                  <a:ext uri="{0D108BD9-81ED-4DB2-BD59-A6C34878D82A}">
                    <a16:rowId xmlns:a16="http://schemas.microsoft.com/office/drawing/2014/main" val="4157993089"/>
                  </a:ext>
                </a:extLst>
              </a:tr>
              <a:tr h="534375">
                <a:tc>
                  <a:txBody>
                    <a:bodyPr/>
                    <a:lstStyle/>
                    <a:p>
                      <a:pPr>
                        <a:buNone/>
                      </a:pPr>
                      <a:r>
                        <a:rPr lang="en-US" sz="1500"/>
                        <a:t>Release</a:t>
                      </a:r>
                    </a:p>
                  </a:txBody>
                  <a:tcPr marL="76339" marR="76339" marT="38170" marB="38170" anchor="ctr"/>
                </a:tc>
                <a:tc>
                  <a:txBody>
                    <a:bodyPr/>
                    <a:lstStyle/>
                    <a:p>
                      <a:pPr>
                        <a:buNone/>
                      </a:pPr>
                      <a:r>
                        <a:rPr lang="en-US" sz="1500"/>
                        <a:t>Produce test evidence</a:t>
                      </a:r>
                    </a:p>
                  </a:txBody>
                  <a:tcPr marL="76339" marR="76339" marT="38170" marB="38170" anchor="ctr"/>
                </a:tc>
                <a:tc>
                  <a:txBody>
                    <a:bodyPr/>
                    <a:lstStyle/>
                    <a:p>
                      <a:pPr>
                        <a:buNone/>
                      </a:pPr>
                      <a:r>
                        <a:rPr lang="en-US" sz="1500"/>
                        <a:t>Decide whether quality risk is acceptable</a:t>
                      </a:r>
                    </a:p>
                  </a:txBody>
                  <a:tcPr marL="76339" marR="76339" marT="38170" marB="38170" anchor="ctr"/>
                </a:tc>
                <a:extLst>
                  <a:ext uri="{0D108BD9-81ED-4DB2-BD59-A6C34878D82A}">
                    <a16:rowId xmlns:a16="http://schemas.microsoft.com/office/drawing/2014/main" val="1274644496"/>
                  </a:ext>
                </a:extLst>
              </a:tr>
              <a:tr h="534375">
                <a:tc>
                  <a:txBody>
                    <a:bodyPr/>
                    <a:lstStyle/>
                    <a:p>
                      <a:pPr>
                        <a:buNone/>
                      </a:pPr>
                      <a:r>
                        <a:rPr lang="en-US" sz="1500"/>
                        <a:t>Production</a:t>
                      </a:r>
                    </a:p>
                  </a:txBody>
                  <a:tcPr marL="76339" marR="76339" marT="38170" marB="38170" anchor="ctr"/>
                </a:tc>
                <a:tc>
                  <a:txBody>
                    <a:bodyPr/>
                    <a:lstStyle/>
                    <a:p>
                      <a:pPr>
                        <a:buNone/>
                      </a:pPr>
                      <a:r>
                        <a:rPr lang="en-US" sz="1500"/>
                        <a:t>Analyze incidents</a:t>
                      </a:r>
                    </a:p>
                  </a:txBody>
                  <a:tcPr marL="76339" marR="76339" marT="38170" marB="38170" anchor="ctr"/>
                </a:tc>
                <a:tc>
                  <a:txBody>
                    <a:bodyPr/>
                    <a:lstStyle/>
                    <a:p>
                      <a:pPr>
                        <a:buNone/>
                      </a:pPr>
                      <a:r>
                        <a:rPr lang="en-US" sz="1500" dirty="0"/>
                        <a:t>Convert escaped defects into new tests</a:t>
                      </a:r>
                    </a:p>
                  </a:txBody>
                  <a:tcPr marL="76339" marR="76339" marT="38170" marB="38170" anchor="ctr"/>
                </a:tc>
                <a:extLst>
                  <a:ext uri="{0D108BD9-81ED-4DB2-BD59-A6C34878D82A}">
                    <a16:rowId xmlns:a16="http://schemas.microsoft.com/office/drawing/2014/main" val="3385735165"/>
                  </a:ext>
                </a:extLst>
              </a:tr>
            </a:tbl>
          </a:graphicData>
        </a:graphic>
      </p:graphicFrame>
      <p:pic>
        <p:nvPicPr>
          <p:cNvPr id="40" name="Picture 39">
            <a:extLst>
              <a:ext uri="{FF2B5EF4-FFF2-40B4-BE49-F238E27FC236}">
                <a16:creationId xmlns:a16="http://schemas.microsoft.com/office/drawing/2014/main" id="{6FEB6F14-E54C-CEE7-C05E-88D1799A9C19}"/>
              </a:ext>
            </a:extLst>
          </p:cNvPr>
          <p:cNvPicPr>
            <a:picLocks noChangeAspect="1"/>
          </p:cNvPicPr>
          <p:nvPr/>
        </p:nvPicPr>
        <p:blipFill>
          <a:blip r:embed="rId3"/>
          <a:stretch>
            <a:fillRect/>
          </a:stretch>
        </p:blipFill>
        <p:spPr>
          <a:xfrm>
            <a:off x="8461344" y="711888"/>
            <a:ext cx="3991006" cy="5174353"/>
          </a:xfrm>
          <a:prstGeom prst="rect">
            <a:avLst/>
          </a:prstGeom>
        </p:spPr>
      </p:pic>
    </p:spTree>
    <p:extLst>
      <p:ext uri="{BB962C8B-B14F-4D97-AF65-F5344CB8AC3E}">
        <p14:creationId xmlns:p14="http://schemas.microsoft.com/office/powerpoint/2010/main" val="588184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BE034C-A178-0A4D-EFD8-3CF3B7F1E22A}"/>
              </a:ext>
            </a:extLst>
          </p:cNvPr>
          <p:cNvSpPr txBox="1"/>
          <p:nvPr/>
        </p:nvSpPr>
        <p:spPr>
          <a:xfrm>
            <a:off x="501650" y="304885"/>
            <a:ext cx="6096000" cy="507831"/>
          </a:xfrm>
          <a:prstGeom prst="rect">
            <a:avLst/>
          </a:prstGeom>
          <a:noFill/>
        </p:spPr>
        <p:txBody>
          <a:bodyPr wrap="square">
            <a:spAutoFit/>
          </a:bodyPr>
          <a:lstStyle/>
          <a:p>
            <a:pPr algn="l">
              <a:defRPr sz="2700" b="1" i="0">
                <a:solidFill>
                  <a:srgbClr val="111827"/>
                </a:solidFill>
                <a:latin typeface="DejaVu Sans"/>
                <a:ea typeface="DejaVu Sans"/>
                <a:cs typeface="DejaVu Sans"/>
              </a:defRPr>
            </a:pPr>
            <a:r>
              <a:rPr lang="en-US" sz="2700" b="1" i="0" dirty="0">
                <a:solidFill>
                  <a:srgbClr val="111827"/>
                </a:solidFill>
                <a:latin typeface="DejaVu Sans"/>
                <a:ea typeface="DejaVu Sans"/>
                <a:cs typeface="DejaVu Sans"/>
              </a:rPr>
              <a:t>Stage 4: Test</a:t>
            </a:r>
          </a:p>
        </p:txBody>
      </p:sp>
      <p:sp>
        <p:nvSpPr>
          <p:cNvPr id="5" name="TextBox 4">
            <a:extLst>
              <a:ext uri="{FF2B5EF4-FFF2-40B4-BE49-F238E27FC236}">
                <a16:creationId xmlns:a16="http://schemas.microsoft.com/office/drawing/2014/main" id="{11DACF2C-C8CA-BAFB-8008-09FE11E90DCB}"/>
              </a:ext>
            </a:extLst>
          </p:cNvPr>
          <p:cNvSpPr txBox="1"/>
          <p:nvPr/>
        </p:nvSpPr>
        <p:spPr>
          <a:xfrm>
            <a:off x="577850" y="1166842"/>
            <a:ext cx="6096000" cy="4524315"/>
          </a:xfrm>
          <a:prstGeom prst="rect">
            <a:avLst/>
          </a:prstGeom>
          <a:noFill/>
        </p:spPr>
        <p:txBody>
          <a:bodyPr wrap="square">
            <a:spAutoFit/>
          </a:bodyPr>
          <a:lstStyle/>
          <a:p>
            <a:pPr>
              <a:buNone/>
            </a:pPr>
            <a:r>
              <a:rPr lang="en-US" b="1" dirty="0"/>
              <a:t>What changes for QA</a:t>
            </a:r>
          </a:p>
          <a:p>
            <a:pPr>
              <a:buNone/>
            </a:pPr>
            <a:r>
              <a:rPr lang="en-US" dirty="0">
                <a:solidFill>
                  <a:srgbClr val="0070C0"/>
                </a:solidFill>
              </a:rPr>
              <a:t>QA should spend less time on:</a:t>
            </a:r>
          </a:p>
          <a:p>
            <a:pPr marL="342900" lvl="0" indent="-342900">
              <a:buFont typeface="Arial" panose="020B0604020202020204" pitchFamily="34" charset="0"/>
              <a:buChar char="•"/>
            </a:pPr>
            <a:r>
              <a:rPr lang="en-US" dirty="0"/>
              <a:t>Repeating standard regression tests </a:t>
            </a:r>
          </a:p>
          <a:p>
            <a:pPr marL="342900" lvl="0" indent="-342900">
              <a:buFont typeface="Arial" panose="020B0604020202020204" pitchFamily="34" charset="0"/>
              <a:buChar char="•"/>
            </a:pPr>
            <a:r>
              <a:rPr lang="en-US" dirty="0"/>
              <a:t>Manually collecting screenshots </a:t>
            </a:r>
          </a:p>
          <a:p>
            <a:pPr marL="342900" lvl="0" indent="-342900">
              <a:buFont typeface="Arial" panose="020B0604020202020204" pitchFamily="34" charset="0"/>
              <a:buChar char="•"/>
            </a:pPr>
            <a:r>
              <a:rPr lang="en-US" dirty="0"/>
              <a:t>Reproducing straightforward bugs </a:t>
            </a:r>
          </a:p>
          <a:p>
            <a:pPr marL="342900" lvl="0" indent="-342900">
              <a:buFont typeface="Arial" panose="020B0604020202020204" pitchFamily="34" charset="0"/>
              <a:buChar char="•"/>
            </a:pPr>
            <a:r>
              <a:rPr lang="en-US" dirty="0"/>
              <a:t>Checking formatting and simple validation </a:t>
            </a:r>
          </a:p>
          <a:p>
            <a:pPr marL="342900" lvl="0" indent="-342900">
              <a:buFont typeface="Arial" panose="020B0604020202020204" pitchFamily="34" charset="0"/>
              <a:buChar char="•"/>
            </a:pPr>
            <a:r>
              <a:rPr lang="en-US" dirty="0"/>
              <a:t>Preparing routine test reports </a:t>
            </a:r>
          </a:p>
          <a:p>
            <a:pPr>
              <a:buNone/>
            </a:pPr>
            <a:r>
              <a:rPr lang="en-US" dirty="0">
                <a:solidFill>
                  <a:srgbClr val="0070C0"/>
                </a:solidFill>
              </a:rPr>
              <a:t>QA should spend more time on:</a:t>
            </a:r>
          </a:p>
          <a:p>
            <a:pPr marL="342900" lvl="0" indent="-342900">
              <a:buFont typeface="Arial" panose="020B0604020202020204" pitchFamily="34" charset="0"/>
              <a:buChar char="•"/>
            </a:pPr>
            <a:r>
              <a:rPr lang="en-US" dirty="0"/>
              <a:t>Quality strategy </a:t>
            </a:r>
          </a:p>
          <a:p>
            <a:pPr marL="342900" lvl="0" indent="-342900">
              <a:buFont typeface="Arial" panose="020B0604020202020204" pitchFamily="34" charset="0"/>
              <a:buChar char="•"/>
            </a:pPr>
            <a:r>
              <a:rPr lang="en-US" dirty="0"/>
              <a:t>Risk analysis </a:t>
            </a:r>
          </a:p>
          <a:p>
            <a:pPr marL="342900" lvl="0" indent="-342900">
              <a:buFont typeface="Arial" panose="020B0604020202020204" pitchFamily="34" charset="0"/>
              <a:buChar char="•"/>
            </a:pPr>
            <a:r>
              <a:rPr lang="en-US" dirty="0"/>
              <a:t>Acceptance criteria </a:t>
            </a:r>
          </a:p>
          <a:p>
            <a:pPr marL="342900" lvl="0" indent="-342900">
              <a:buFont typeface="Arial" panose="020B0604020202020204" pitchFamily="34" charset="0"/>
              <a:buChar char="•"/>
            </a:pPr>
            <a:r>
              <a:rPr lang="en-US" dirty="0"/>
              <a:t>Exploratory testing </a:t>
            </a:r>
          </a:p>
          <a:p>
            <a:pPr marL="342900" lvl="0" indent="-342900">
              <a:buFont typeface="Arial" panose="020B0604020202020204" pitchFamily="34" charset="0"/>
              <a:buChar char="•"/>
            </a:pPr>
            <a:r>
              <a:rPr lang="en-US" dirty="0"/>
              <a:t>Test architecture </a:t>
            </a:r>
          </a:p>
          <a:p>
            <a:pPr marL="342900" lvl="0" indent="-342900">
              <a:buFont typeface="Arial" panose="020B0604020202020204" pitchFamily="34" charset="0"/>
              <a:buChar char="•"/>
            </a:pPr>
            <a:r>
              <a:rPr lang="en-US" dirty="0"/>
              <a:t>Production quality signals </a:t>
            </a:r>
          </a:p>
          <a:p>
            <a:pPr marL="342900" lvl="0" indent="-342900">
              <a:buFont typeface="Arial" panose="020B0604020202020204" pitchFamily="34" charset="0"/>
              <a:buChar char="•"/>
            </a:pPr>
            <a:r>
              <a:rPr lang="en-US" dirty="0"/>
              <a:t>Agent evals </a:t>
            </a:r>
          </a:p>
          <a:p>
            <a:pPr marL="342900" lvl="0" indent="-342900">
              <a:buFont typeface="Arial" panose="020B0604020202020204" pitchFamily="34" charset="0"/>
              <a:buChar char="•"/>
            </a:pPr>
            <a:r>
              <a:rPr lang="en-US" dirty="0"/>
              <a:t>Deciding whether evidence is trustworthy</a:t>
            </a:r>
          </a:p>
        </p:txBody>
      </p:sp>
      <p:sp>
        <p:nvSpPr>
          <p:cNvPr id="7" name="TextBox 6">
            <a:extLst>
              <a:ext uri="{FF2B5EF4-FFF2-40B4-BE49-F238E27FC236}">
                <a16:creationId xmlns:a16="http://schemas.microsoft.com/office/drawing/2014/main" id="{075F50F6-3D8D-09A7-84C2-AB6AEF07EDC9}"/>
              </a:ext>
            </a:extLst>
          </p:cNvPr>
          <p:cNvSpPr txBox="1"/>
          <p:nvPr/>
        </p:nvSpPr>
        <p:spPr>
          <a:xfrm>
            <a:off x="6026150" y="1554887"/>
            <a:ext cx="6096000" cy="1754326"/>
          </a:xfrm>
          <a:prstGeom prst="rect">
            <a:avLst/>
          </a:prstGeom>
          <a:noFill/>
        </p:spPr>
        <p:txBody>
          <a:bodyPr wrap="square">
            <a:spAutoFit/>
          </a:bodyPr>
          <a:lstStyle/>
          <a:p>
            <a:r>
              <a:rPr lang="en-US" dirty="0"/>
              <a:t>“In the AI-native Test stage, AI continuously tests and corrects its own work before a person reviews it. QA defines the quality criteria, protects the tests, performs risk-based exploratory testing, and decides whether the evidence is sufficient for release. QA moves from being the test executor to being the quality-system owner.”</a:t>
            </a:r>
          </a:p>
        </p:txBody>
      </p:sp>
    </p:spTree>
    <p:extLst>
      <p:ext uri="{BB962C8B-B14F-4D97-AF65-F5344CB8AC3E}">
        <p14:creationId xmlns:p14="http://schemas.microsoft.com/office/powerpoint/2010/main" val="1930002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934FCCB-1635-466F-9B84-F3E8773AB15D}"/>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TESTS FOR THE AGENT SETUP</a:t>
            </a:r>
          </a:p>
        </p:txBody>
      </p:sp>
      <p:sp>
        <p:nvSpPr>
          <p:cNvPr id="2" name="Rectangle 1">
            <a:extLst>
              <a:ext uri="{FF2B5EF4-FFF2-40B4-BE49-F238E27FC236}">
                <a16:creationId xmlns:a16="http://schemas.microsoft.com/office/drawing/2014/main" id="{1BD11845-6A2D-42D3-B8E3-0DCA7E54645D}"/>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Continuous evals</a:t>
            </a:r>
          </a:p>
        </p:txBody>
      </p:sp>
      <p:sp>
        <p:nvSpPr>
          <p:cNvPr id="3" name="Rectangle 2">
            <a:extLst>
              <a:ext uri="{FF2B5EF4-FFF2-40B4-BE49-F238E27FC236}">
                <a16:creationId xmlns:a16="http://schemas.microsoft.com/office/drawing/2014/main" id="{37E51E2E-6FF7-4234-876C-BD29D63FD67B}"/>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7AA7E2B3-9CA4-4BDB-AF3A-E8FFF5525DAA}"/>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14</a:t>
            </a:r>
          </a:p>
        </p:txBody>
      </p:sp>
      <p:sp>
        <p:nvSpPr>
          <p:cNvPr id="5" name="Rectangle 4">
            <a:extLst>
              <a:ext uri="{FF2B5EF4-FFF2-40B4-BE49-F238E27FC236}">
                <a16:creationId xmlns:a16="http://schemas.microsoft.com/office/drawing/2014/main" id="{78C60682-D96A-42B6-8D4E-22C76D2667BA}"/>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442D31C9-E821-4542-981F-F6E5B43C34F8}"/>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9F5EAAD0-F7B1-4E65-8365-22008B488FE6}"/>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37917166-1B36-4B9B-8525-68E2CEA0F27D}"/>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DF7014FA-A456-4DC1-B940-46A076E6C8D2}"/>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520C98E-47C6-4920-827A-F2683145BDAE}"/>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5266C03D-B0E2-47B8-B29A-0059231CACC6}"/>
              </a:ext>
            </a:extLst>
          </p:cNvPr>
          <p:cNvSpPr>
            <a:spLocks noGrp="1"/>
          </p:cNvSpPr>
          <p:nvPr/>
        </p:nvSpPr>
        <p:spPr>
          <a:xfrm>
            <a:off x="6124575" y="6419850"/>
            <a:ext cx="1755775" cy="47625"/>
          </a:xfrm>
          <a:prstGeom prst="rect">
            <a:avLst/>
          </a:prstGeom>
          <a:solidFill>
            <a:srgbClr val="19C3D2"/>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FC7AF198-A577-4183-9ABF-734403111557}"/>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1" i="0">
                <a:solidFill>
                  <a:srgbClr val="19C3D2"/>
                </a:solidFill>
                <a:latin typeface="DejaVu Sans"/>
                <a:ea typeface="DejaVu Sans"/>
                <a:cs typeface="DejaVu Sans"/>
              </a:defRPr>
            </a:pPr>
            <a:r>
              <a:rPr sz="675" b="1" i="0">
                <a:solidFill>
                  <a:srgbClr val="19C3D2"/>
                </a:solidFill>
                <a:latin typeface="DejaVu Sans"/>
                <a:ea typeface="DejaVu Sans"/>
                <a:cs typeface="DejaVu Sans"/>
              </a:rPr>
              <a:t>TEST</a:t>
            </a:r>
          </a:p>
        </p:txBody>
      </p:sp>
      <p:sp>
        <p:nvSpPr>
          <p:cNvPr id="13" name="Rectangle 12">
            <a:extLst>
              <a:ext uri="{FF2B5EF4-FFF2-40B4-BE49-F238E27FC236}">
                <a16:creationId xmlns:a16="http://schemas.microsoft.com/office/drawing/2014/main" id="{E0276EF4-C58F-4745-AD3F-68AB6B43173C}"/>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6051EC9B-343A-4D52-BCAC-72FFF39B75E8}"/>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33950F8F-4BA1-47CE-B367-42CD68C2C7B8}"/>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532FD0EF-4842-4029-A48F-7D91B25B65DE}"/>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AA4FE759-86AB-4A0A-B5BE-99E8BB145F66}"/>
              </a:ext>
            </a:extLst>
          </p:cNvPr>
          <p:cNvSpPr>
            <a:spLocks noGrp="1"/>
          </p:cNvSpPr>
          <p:nvPr/>
        </p:nvSpPr>
        <p:spPr>
          <a:xfrm>
            <a:off x="685800" y="1466850"/>
            <a:ext cx="3371850" cy="2305050"/>
          </a:xfrm>
          <a:prstGeom prst="roundRect">
            <a:avLst>
              <a:gd name="adj" fmla="val 7438"/>
            </a:avLst>
          </a:prstGeom>
          <a:solidFill>
            <a:srgbClr val="FFFFFF"/>
          </a:solidFill>
          <a:ln w="9525">
            <a:solidFill>
              <a:srgbClr val="D8DEE9"/>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7D5F987A-5712-404D-8C67-0A4E4034A7F4}"/>
              </a:ext>
            </a:extLst>
          </p:cNvPr>
          <p:cNvSpPr>
            <a:spLocks noGrp="1"/>
          </p:cNvSpPr>
          <p:nvPr/>
        </p:nvSpPr>
        <p:spPr>
          <a:xfrm>
            <a:off x="685800" y="1466850"/>
            <a:ext cx="95250" cy="2305050"/>
          </a:xfrm>
          <a:prstGeom prst="roundRect">
            <a:avLst>
              <a:gd name="adj" fmla="val 50000"/>
            </a:avLst>
          </a:prstGeom>
          <a:solidFill>
            <a:srgbClr val="FF806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BCC26358-48C6-44BA-B745-9634C57C7F71}"/>
              </a:ext>
            </a:extLst>
          </p:cNvPr>
          <p:cNvSpPr>
            <a:spLocks noGrp="1"/>
          </p:cNvSpPr>
          <p:nvPr/>
        </p:nvSpPr>
        <p:spPr>
          <a:xfrm>
            <a:off x="933450" y="1676400"/>
            <a:ext cx="291465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1. Collect real tasks</a:t>
            </a:r>
          </a:p>
        </p:txBody>
      </p:sp>
      <p:sp>
        <p:nvSpPr>
          <p:cNvPr id="20" name="Rectangle 19">
            <a:extLst>
              <a:ext uri="{FF2B5EF4-FFF2-40B4-BE49-F238E27FC236}">
                <a16:creationId xmlns:a16="http://schemas.microsoft.com/office/drawing/2014/main" id="{AA1493D0-94EE-49E5-96A9-C28CC1EA6D23}"/>
              </a:ext>
            </a:extLst>
          </p:cNvPr>
          <p:cNvSpPr>
            <a:spLocks noGrp="1"/>
          </p:cNvSpPr>
          <p:nvPr/>
        </p:nvSpPr>
        <p:spPr>
          <a:xfrm>
            <a:off x="933450" y="2114550"/>
            <a:ext cx="2914650" cy="146685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Start with 20 to 50 tasks from recent work. Save the expected result.</a:t>
            </a:r>
          </a:p>
        </p:txBody>
      </p:sp>
      <p:sp>
        <p:nvSpPr>
          <p:cNvPr id="21" name="Rectangle: Rounded Corners 20">
            <a:extLst>
              <a:ext uri="{FF2B5EF4-FFF2-40B4-BE49-F238E27FC236}">
                <a16:creationId xmlns:a16="http://schemas.microsoft.com/office/drawing/2014/main" id="{B27EFBF3-F57A-438E-B1EC-D46BFA131C5E}"/>
              </a:ext>
            </a:extLst>
          </p:cNvPr>
          <p:cNvSpPr>
            <a:spLocks noGrp="1"/>
          </p:cNvSpPr>
          <p:nvPr/>
        </p:nvSpPr>
        <p:spPr>
          <a:xfrm>
            <a:off x="4410075" y="1466850"/>
            <a:ext cx="3371850" cy="2305050"/>
          </a:xfrm>
          <a:prstGeom prst="roundRect">
            <a:avLst>
              <a:gd name="adj" fmla="val 7438"/>
            </a:avLst>
          </a:prstGeom>
          <a:solidFill>
            <a:srgbClr val="FFFFFF"/>
          </a:solidFill>
          <a:ln w="9525">
            <a:solidFill>
              <a:srgbClr val="D8DEE9"/>
            </a:solidFill>
            <a:prstDash val="solid"/>
          </a:ln>
        </p:spPr>
        <p:txBody>
          <a:bodyPr/>
          <a:lstStyle/>
          <a:p>
            <a:endParaRPr lang="en-US"/>
          </a:p>
        </p:txBody>
      </p:sp>
      <p:sp>
        <p:nvSpPr>
          <p:cNvPr id="22" name="Rectangle: Rounded Corners 21">
            <a:extLst>
              <a:ext uri="{FF2B5EF4-FFF2-40B4-BE49-F238E27FC236}">
                <a16:creationId xmlns:a16="http://schemas.microsoft.com/office/drawing/2014/main" id="{4BA0E972-D2BD-4AF0-97E0-27D9F2BFFA52}"/>
              </a:ext>
            </a:extLst>
          </p:cNvPr>
          <p:cNvSpPr>
            <a:spLocks noGrp="1"/>
          </p:cNvSpPr>
          <p:nvPr/>
        </p:nvSpPr>
        <p:spPr>
          <a:xfrm>
            <a:off x="4410075" y="1466850"/>
            <a:ext cx="95250" cy="2305050"/>
          </a:xfrm>
          <a:prstGeom prst="roundRect">
            <a:avLst>
              <a:gd name="adj" fmla="val 50000"/>
            </a:avLst>
          </a:prstGeom>
          <a:solidFill>
            <a:srgbClr val="7457E8"/>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73A876ED-F399-4122-863D-BF229286182E}"/>
              </a:ext>
            </a:extLst>
          </p:cNvPr>
          <p:cNvSpPr>
            <a:spLocks noGrp="1"/>
          </p:cNvSpPr>
          <p:nvPr/>
        </p:nvSpPr>
        <p:spPr>
          <a:xfrm>
            <a:off x="4657725" y="1676400"/>
            <a:ext cx="291465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2. Run in CI</a:t>
            </a:r>
          </a:p>
        </p:txBody>
      </p:sp>
      <p:sp>
        <p:nvSpPr>
          <p:cNvPr id="24" name="Rectangle 23">
            <a:extLst>
              <a:ext uri="{FF2B5EF4-FFF2-40B4-BE49-F238E27FC236}">
                <a16:creationId xmlns:a16="http://schemas.microsoft.com/office/drawing/2014/main" id="{24F1A415-F657-4F5E-9365-09583EC80325}"/>
              </a:ext>
            </a:extLst>
          </p:cNvPr>
          <p:cNvSpPr>
            <a:spLocks noGrp="1"/>
          </p:cNvSpPr>
          <p:nvPr/>
        </p:nvSpPr>
        <p:spPr>
          <a:xfrm>
            <a:off x="4657725" y="2114550"/>
            <a:ext cx="2914650" cy="146685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dirty="0">
                <a:solidFill>
                  <a:srgbClr val="475569"/>
                </a:solidFill>
                <a:latin typeface="DejaVu Sans"/>
                <a:ea typeface="DejaVu Sans"/>
                <a:cs typeface="DejaVu Sans"/>
              </a:rPr>
              <a:t>Run the suite when </a:t>
            </a:r>
            <a:r>
              <a:rPr lang="en-US" sz="1200" b="0" i="0" dirty="0">
                <a:solidFill>
                  <a:srgbClr val="475569"/>
                </a:solidFill>
                <a:latin typeface="DejaVu Sans"/>
                <a:ea typeface="DejaVu Sans"/>
                <a:cs typeface="DejaVu Sans"/>
              </a:rPr>
              <a:t>AGENTS</a:t>
            </a:r>
            <a:r>
              <a:rPr sz="1200" b="0" i="0" dirty="0">
                <a:solidFill>
                  <a:srgbClr val="475569"/>
                </a:solidFill>
                <a:latin typeface="DejaVu Sans"/>
                <a:ea typeface="DejaVu Sans"/>
                <a:cs typeface="DejaVu Sans"/>
              </a:rPr>
              <a:t>.md, skills, hooks, prompts, or models change.</a:t>
            </a:r>
          </a:p>
        </p:txBody>
      </p:sp>
      <p:sp>
        <p:nvSpPr>
          <p:cNvPr id="25" name="Rectangle: Rounded Corners 24">
            <a:extLst>
              <a:ext uri="{FF2B5EF4-FFF2-40B4-BE49-F238E27FC236}">
                <a16:creationId xmlns:a16="http://schemas.microsoft.com/office/drawing/2014/main" id="{F3220E87-5AD8-4D75-8672-6AD62D1517AF}"/>
              </a:ext>
            </a:extLst>
          </p:cNvPr>
          <p:cNvSpPr>
            <a:spLocks noGrp="1"/>
          </p:cNvSpPr>
          <p:nvPr/>
        </p:nvSpPr>
        <p:spPr>
          <a:xfrm>
            <a:off x="8134350" y="1466850"/>
            <a:ext cx="3371850" cy="2305050"/>
          </a:xfrm>
          <a:prstGeom prst="roundRect">
            <a:avLst>
              <a:gd name="adj" fmla="val 7438"/>
            </a:avLst>
          </a:prstGeom>
          <a:solidFill>
            <a:srgbClr val="FFFFFF"/>
          </a:solidFill>
          <a:ln w="9525">
            <a:solidFill>
              <a:srgbClr val="D8DEE9"/>
            </a:solidFill>
            <a:prstDash val="solid"/>
          </a:ln>
        </p:spPr>
        <p:txBody>
          <a:bodyPr/>
          <a:lstStyle/>
          <a:p>
            <a:endParaRPr lang="en-US"/>
          </a:p>
        </p:txBody>
      </p:sp>
      <p:sp>
        <p:nvSpPr>
          <p:cNvPr id="26" name="Rectangle: Rounded Corners 25">
            <a:extLst>
              <a:ext uri="{FF2B5EF4-FFF2-40B4-BE49-F238E27FC236}">
                <a16:creationId xmlns:a16="http://schemas.microsoft.com/office/drawing/2014/main" id="{C03EFFCE-343F-4FB7-AC59-526C998E6CC5}"/>
              </a:ext>
            </a:extLst>
          </p:cNvPr>
          <p:cNvSpPr>
            <a:spLocks noGrp="1"/>
          </p:cNvSpPr>
          <p:nvPr/>
        </p:nvSpPr>
        <p:spPr>
          <a:xfrm>
            <a:off x="8134350" y="1466850"/>
            <a:ext cx="95250" cy="2305050"/>
          </a:xfrm>
          <a:prstGeom prst="roundRect">
            <a:avLst>
              <a:gd name="adj" fmla="val 50000"/>
            </a:avLst>
          </a:prstGeom>
          <a:solidFill>
            <a:srgbClr val="19C3D2"/>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F2ED096B-BDF7-4BAF-846F-D83D4FC06026}"/>
              </a:ext>
            </a:extLst>
          </p:cNvPr>
          <p:cNvSpPr>
            <a:spLocks noGrp="1"/>
          </p:cNvSpPr>
          <p:nvPr/>
        </p:nvSpPr>
        <p:spPr>
          <a:xfrm>
            <a:off x="8382000" y="1676400"/>
            <a:ext cx="2914650" cy="323850"/>
          </a:xfrm>
          <a:prstGeom prst="rect">
            <a:avLst/>
          </a:prstGeom>
          <a:noFill/>
          <a:ln w="0">
            <a:noFill/>
          </a:ln>
        </p:spPr>
        <p:txBody>
          <a:bodyPr wrap="square" lIns="0" tIns="0" rIns="0" bIns="0" anchor="t">
            <a:normAutofit/>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3. Learn from incidents</a:t>
            </a:r>
          </a:p>
        </p:txBody>
      </p:sp>
      <p:sp>
        <p:nvSpPr>
          <p:cNvPr id="28" name="Rectangle 27">
            <a:extLst>
              <a:ext uri="{FF2B5EF4-FFF2-40B4-BE49-F238E27FC236}">
                <a16:creationId xmlns:a16="http://schemas.microsoft.com/office/drawing/2014/main" id="{CEED253A-EF1E-479B-8402-42C9BEA3FB19}"/>
              </a:ext>
            </a:extLst>
          </p:cNvPr>
          <p:cNvSpPr>
            <a:spLocks noGrp="1"/>
          </p:cNvSpPr>
          <p:nvPr/>
        </p:nvSpPr>
        <p:spPr>
          <a:xfrm>
            <a:off x="8382000" y="2114550"/>
            <a:ext cx="2914650" cy="146685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After a production incident, add a case so the same problem is tested next time.</a:t>
            </a:r>
          </a:p>
        </p:txBody>
      </p:sp>
      <p:sp>
        <p:nvSpPr>
          <p:cNvPr id="29" name="Rectangle: Rounded Corners 28">
            <a:extLst>
              <a:ext uri="{FF2B5EF4-FFF2-40B4-BE49-F238E27FC236}">
                <a16:creationId xmlns:a16="http://schemas.microsoft.com/office/drawing/2014/main" id="{28846C9F-3B08-4E60-8769-566EC1977490}"/>
              </a:ext>
            </a:extLst>
          </p:cNvPr>
          <p:cNvSpPr>
            <a:spLocks noGrp="1"/>
          </p:cNvSpPr>
          <p:nvPr/>
        </p:nvSpPr>
        <p:spPr>
          <a:xfrm>
            <a:off x="1619250" y="4686300"/>
            <a:ext cx="8953500" cy="876300"/>
          </a:xfrm>
          <a:prstGeom prst="roundRect">
            <a:avLst>
              <a:gd name="adj" fmla="val 21739"/>
            </a:avLst>
          </a:prstGeom>
          <a:solidFill>
            <a:srgbClr val="0A1020"/>
          </a:solidFill>
          <a:ln w="9525">
            <a:solidFill>
              <a:srgbClr val="0A1020"/>
            </a:solidFill>
            <a:prstDash val="solid"/>
          </a:ln>
        </p:spPr>
        <p:txBody>
          <a:bodyPr/>
          <a:lstStyle/>
          <a:p>
            <a:endParaRPr lang="en-US"/>
          </a:p>
        </p:txBody>
      </p:sp>
      <p:sp>
        <p:nvSpPr>
          <p:cNvPr id="30" name="Rectangle 29">
            <a:extLst>
              <a:ext uri="{FF2B5EF4-FFF2-40B4-BE49-F238E27FC236}">
                <a16:creationId xmlns:a16="http://schemas.microsoft.com/office/drawing/2014/main" id="{424093E5-A52E-4881-8CE3-7F71C15E09E3}"/>
              </a:ext>
            </a:extLst>
          </p:cNvPr>
          <p:cNvSpPr>
            <a:spLocks noGrp="1"/>
          </p:cNvSpPr>
          <p:nvPr/>
        </p:nvSpPr>
        <p:spPr>
          <a:xfrm>
            <a:off x="1905000" y="4876800"/>
            <a:ext cx="8382000" cy="266700"/>
          </a:xfrm>
          <a:prstGeom prst="rect">
            <a:avLst/>
          </a:prstGeom>
          <a:noFill/>
          <a:ln w="0">
            <a:noFill/>
          </a:ln>
        </p:spPr>
        <p:txBody>
          <a:bodyPr wrap="square" lIns="0" tIns="0" rIns="0" bIns="0" anchor="t">
            <a:normAutofit/>
          </a:bodyPr>
          <a:lstStyle/>
          <a:p>
            <a:pPr algn="ctr">
              <a:defRPr sz="1575" b="1" i="0">
                <a:solidFill>
                  <a:srgbClr val="FFFFFF"/>
                </a:solidFill>
                <a:latin typeface="DejaVu Sans"/>
                <a:ea typeface="DejaVu Sans"/>
                <a:cs typeface="DejaVu Sans"/>
              </a:defRPr>
            </a:pPr>
            <a:r>
              <a:rPr sz="1575" b="1" i="0">
                <a:solidFill>
                  <a:srgbClr val="FFFFFF"/>
                </a:solidFill>
                <a:latin typeface="DejaVu Sans"/>
                <a:ea typeface="DejaVu Sans"/>
                <a:cs typeface="DejaVu Sans"/>
              </a:rPr>
              <a:t>Evals check whether the agent still works to the same standard</a:t>
            </a:r>
          </a:p>
        </p:txBody>
      </p:sp>
      <p:sp>
        <p:nvSpPr>
          <p:cNvPr id="31" name="Rectangle 30">
            <a:extLst>
              <a:ext uri="{FF2B5EF4-FFF2-40B4-BE49-F238E27FC236}">
                <a16:creationId xmlns:a16="http://schemas.microsoft.com/office/drawing/2014/main" id="{12D3F921-FF21-4441-B129-AC79783EFF7B}"/>
              </a:ext>
            </a:extLst>
          </p:cNvPr>
          <p:cNvSpPr>
            <a:spLocks noGrp="1"/>
          </p:cNvSpPr>
          <p:nvPr/>
        </p:nvSpPr>
        <p:spPr>
          <a:xfrm>
            <a:off x="1905000" y="5219700"/>
            <a:ext cx="8382000" cy="190500"/>
          </a:xfrm>
          <a:prstGeom prst="rect">
            <a:avLst/>
          </a:prstGeom>
          <a:noFill/>
          <a:ln w="0">
            <a:noFill/>
          </a:ln>
        </p:spPr>
        <p:txBody>
          <a:bodyPr wrap="square" lIns="0" tIns="0" rIns="0" bIns="0" anchor="t">
            <a:normAutofit/>
          </a:bodyPr>
          <a:lstStyle/>
          <a:p>
            <a:pPr algn="ctr">
              <a:defRPr sz="975" b="0" i="0">
                <a:solidFill>
                  <a:srgbClr val="D6E1F3"/>
                </a:solidFill>
                <a:latin typeface="DejaVu Sans"/>
                <a:ea typeface="DejaVu Sans"/>
                <a:cs typeface="DejaVu Sans"/>
              </a:defRPr>
            </a:pPr>
            <a:r>
              <a:rPr sz="975" b="0" i="0">
                <a:solidFill>
                  <a:srgbClr val="D6E1F3"/>
                </a:solidFill>
                <a:latin typeface="DejaVu Sans"/>
                <a:ea typeface="DejaVu Sans"/>
                <a:cs typeface="DejaVu Sans"/>
              </a:rPr>
              <a:t>They are the AI-native version of regression testing</a:t>
            </a:r>
          </a:p>
        </p:txBody>
      </p:sp>
    </p:spTree>
    <p:extLst>
      <p:ext uri="{BB962C8B-B14F-4D97-AF65-F5344CB8AC3E}">
        <p14:creationId xmlns:p14="http://schemas.microsoft.com/office/powerpoint/2010/main" val="262324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4926A21-B9FD-422C-B5AB-8D3CD0A0562A}"/>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THE SAME REVIEW PASSES FOR EVERY PR</a:t>
            </a:r>
          </a:p>
        </p:txBody>
      </p:sp>
      <p:sp>
        <p:nvSpPr>
          <p:cNvPr id="2" name="Rectangle 1">
            <a:extLst>
              <a:ext uri="{FF2B5EF4-FFF2-40B4-BE49-F238E27FC236}">
                <a16:creationId xmlns:a16="http://schemas.microsoft.com/office/drawing/2014/main" id="{68926B07-8BB9-4B88-B322-74435A92D5B1}"/>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AI in pull request review</a:t>
            </a:r>
          </a:p>
        </p:txBody>
      </p:sp>
      <p:sp>
        <p:nvSpPr>
          <p:cNvPr id="3" name="Rectangle 2">
            <a:extLst>
              <a:ext uri="{FF2B5EF4-FFF2-40B4-BE49-F238E27FC236}">
                <a16:creationId xmlns:a16="http://schemas.microsoft.com/office/drawing/2014/main" id="{D3632F3B-99C2-4D88-81E2-A997AADDB649}"/>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EE0F7754-B45D-4479-84B8-C4DBEC4B6F3D}"/>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15</a:t>
            </a:r>
          </a:p>
        </p:txBody>
      </p:sp>
      <p:sp>
        <p:nvSpPr>
          <p:cNvPr id="5" name="Rectangle 4">
            <a:extLst>
              <a:ext uri="{FF2B5EF4-FFF2-40B4-BE49-F238E27FC236}">
                <a16:creationId xmlns:a16="http://schemas.microsoft.com/office/drawing/2014/main" id="{84D2313E-8E87-4196-8CF2-6EDB33BA97FB}"/>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44D2CDF2-CAB4-4436-90A8-F85BB377AC29}"/>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EDA9F777-4AEC-40BB-8429-52B5829EF98F}"/>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3FF8B36D-C809-4A99-83A9-DDA86837E052}"/>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596DA924-3880-47CB-ABB6-E0915CEF4423}"/>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2A159B3D-3FE4-4F90-9E44-7A126D2C9102}"/>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A78BEB6B-F1FE-4E7D-A432-AAE3F2FAC0B5}"/>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FE8BED97-0069-40EA-B385-1ABB3FEB67C3}"/>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2C44406C-3F91-4D7C-8B68-A39CEF29978F}"/>
              </a:ext>
            </a:extLst>
          </p:cNvPr>
          <p:cNvSpPr>
            <a:spLocks noGrp="1"/>
          </p:cNvSpPr>
          <p:nvPr/>
        </p:nvSpPr>
        <p:spPr>
          <a:xfrm>
            <a:off x="7937500" y="6419850"/>
            <a:ext cx="1755775" cy="47625"/>
          </a:xfrm>
          <a:prstGeom prst="rect">
            <a:avLst/>
          </a:prstGeom>
          <a:solidFill>
            <a:srgbClr val="3B82F6"/>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D9978964-A6C7-4EF9-ACD3-AC42FDAA2FCF}"/>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1" i="0">
                <a:solidFill>
                  <a:srgbClr val="3B82F6"/>
                </a:solidFill>
                <a:latin typeface="DejaVu Sans"/>
                <a:ea typeface="DejaVu Sans"/>
                <a:cs typeface="DejaVu Sans"/>
              </a:defRPr>
            </a:pPr>
            <a:r>
              <a:rPr sz="675" b="1" i="0">
                <a:solidFill>
                  <a:srgbClr val="3B82F6"/>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95522BDC-3538-431C-8E6A-F8A146254E0E}"/>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5E25A5F3-B604-4010-AA6D-AB58BC24CAFE}"/>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3C95C938-6D93-4CB3-8AC3-B5BE5E114475}"/>
              </a:ext>
            </a:extLst>
          </p:cNvPr>
          <p:cNvSpPr>
            <a:spLocks noGrp="1"/>
          </p:cNvSpPr>
          <p:nvPr/>
        </p:nvSpPr>
        <p:spPr>
          <a:xfrm>
            <a:off x="685800" y="1466850"/>
            <a:ext cx="6858000" cy="723900"/>
          </a:xfrm>
          <a:prstGeom prst="roundRect">
            <a:avLst>
              <a:gd name="adj" fmla="val 21053"/>
            </a:avLst>
          </a:prstGeom>
          <a:solidFill>
            <a:srgbClr val="FFFFFF"/>
          </a:solidFill>
          <a:ln w="9525">
            <a:solidFill>
              <a:srgbClr val="D8DEE9"/>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769788F3-D4FF-4360-84B3-9C781E738739}"/>
              </a:ext>
            </a:extLst>
          </p:cNvPr>
          <p:cNvSpPr>
            <a:spLocks noGrp="1"/>
          </p:cNvSpPr>
          <p:nvPr/>
        </p:nvSpPr>
        <p:spPr>
          <a:xfrm>
            <a:off x="685800" y="1466850"/>
            <a:ext cx="114300" cy="723900"/>
          </a:xfrm>
          <a:prstGeom prst="roundRect">
            <a:avLst>
              <a:gd name="adj" fmla="val 50000"/>
            </a:avLst>
          </a:prstGeom>
          <a:solidFill>
            <a:srgbClr val="7457E8"/>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3A9ABAFC-5550-4265-BE91-501C0C8D8AD1}"/>
              </a:ext>
            </a:extLst>
          </p:cNvPr>
          <p:cNvSpPr>
            <a:spLocks noGrp="1"/>
          </p:cNvSpPr>
          <p:nvPr/>
        </p:nvSpPr>
        <p:spPr>
          <a:xfrm>
            <a:off x="990600" y="1714500"/>
            <a:ext cx="1524000" cy="209550"/>
          </a:xfrm>
          <a:prstGeom prst="rect">
            <a:avLst/>
          </a:prstGeom>
          <a:noFill/>
          <a:ln w="0">
            <a:noFill/>
          </a:ln>
        </p:spPr>
        <p:txBody>
          <a:bodyPr wrap="square" lIns="0" tIns="0" rIns="0" bIns="0" anchor="t">
            <a:normAutofit/>
          </a:bodyPr>
          <a:lstStyle/>
          <a:p>
            <a:pPr algn="l">
              <a:defRPr sz="975" b="1" i="0">
                <a:solidFill>
                  <a:srgbClr val="7457E8"/>
                </a:solidFill>
                <a:latin typeface="DejaVu Sans Mono"/>
                <a:ea typeface="DejaVu Sans Mono"/>
                <a:cs typeface="DejaVu Sans Mono"/>
              </a:defRPr>
            </a:pPr>
            <a:r>
              <a:rPr sz="975" b="1" i="0">
                <a:solidFill>
                  <a:srgbClr val="7457E8"/>
                </a:solidFill>
                <a:latin typeface="DejaVu Sans Mono"/>
                <a:ea typeface="DejaVu Sans Mono"/>
                <a:cs typeface="DejaVu Sans Mono"/>
              </a:rPr>
              <a:t>BUGS</a:t>
            </a:r>
          </a:p>
        </p:txBody>
      </p:sp>
      <p:sp>
        <p:nvSpPr>
          <p:cNvPr id="20" name="Rectangle 19">
            <a:extLst>
              <a:ext uri="{FF2B5EF4-FFF2-40B4-BE49-F238E27FC236}">
                <a16:creationId xmlns:a16="http://schemas.microsoft.com/office/drawing/2014/main" id="{55708901-1458-45A7-BD02-A97EAC1DE91B}"/>
              </a:ext>
            </a:extLst>
          </p:cNvPr>
          <p:cNvSpPr>
            <a:spLocks noGrp="1"/>
          </p:cNvSpPr>
          <p:nvPr/>
        </p:nvSpPr>
        <p:spPr>
          <a:xfrm>
            <a:off x="2705100" y="1657350"/>
            <a:ext cx="4533900" cy="342900"/>
          </a:xfrm>
          <a:prstGeom prst="rect">
            <a:avLst/>
          </a:prstGeom>
          <a:noFill/>
          <a:ln w="0">
            <a:noFill/>
          </a:ln>
        </p:spPr>
        <p:txBody>
          <a:bodyPr wrap="square" lIns="0" tIns="0" rIns="0" bIns="0" anchor="t">
            <a:normAutofit/>
          </a:bodyPr>
          <a:lstStyle/>
          <a:p>
            <a:pPr algn="l">
              <a:defRPr sz="1200" b="0" i="0">
                <a:solidFill>
                  <a:srgbClr val="111827"/>
                </a:solidFill>
                <a:latin typeface="DejaVu Sans"/>
                <a:ea typeface="DejaVu Sans"/>
                <a:cs typeface="DejaVu Sans"/>
              </a:defRPr>
            </a:pPr>
            <a:r>
              <a:rPr sz="1200" b="0" i="0">
                <a:solidFill>
                  <a:srgbClr val="111827"/>
                </a:solidFill>
                <a:latin typeface="DejaVu Sans"/>
                <a:ea typeface="DejaVu Sans"/>
                <a:cs typeface="DejaVu Sans"/>
              </a:rPr>
              <a:t>Logic errors and regressions</a:t>
            </a:r>
          </a:p>
        </p:txBody>
      </p:sp>
      <p:sp>
        <p:nvSpPr>
          <p:cNvPr id="21" name="Rectangle: Rounded Corners 20">
            <a:extLst>
              <a:ext uri="{FF2B5EF4-FFF2-40B4-BE49-F238E27FC236}">
                <a16:creationId xmlns:a16="http://schemas.microsoft.com/office/drawing/2014/main" id="{C1779996-B5BD-414F-BBD4-2029A3F3ADC5}"/>
              </a:ext>
            </a:extLst>
          </p:cNvPr>
          <p:cNvSpPr>
            <a:spLocks noGrp="1"/>
          </p:cNvSpPr>
          <p:nvPr/>
        </p:nvSpPr>
        <p:spPr>
          <a:xfrm>
            <a:off x="685800" y="2419350"/>
            <a:ext cx="6858000" cy="723900"/>
          </a:xfrm>
          <a:prstGeom prst="roundRect">
            <a:avLst>
              <a:gd name="adj" fmla="val 21053"/>
            </a:avLst>
          </a:prstGeom>
          <a:solidFill>
            <a:srgbClr val="FFFFFF"/>
          </a:solidFill>
          <a:ln w="9525">
            <a:solidFill>
              <a:srgbClr val="D8DEE9"/>
            </a:solidFill>
            <a:prstDash val="solid"/>
          </a:ln>
        </p:spPr>
        <p:txBody>
          <a:bodyPr/>
          <a:lstStyle/>
          <a:p>
            <a:endParaRPr lang="en-US"/>
          </a:p>
        </p:txBody>
      </p:sp>
      <p:sp>
        <p:nvSpPr>
          <p:cNvPr id="22" name="Rectangle: Rounded Corners 21">
            <a:extLst>
              <a:ext uri="{FF2B5EF4-FFF2-40B4-BE49-F238E27FC236}">
                <a16:creationId xmlns:a16="http://schemas.microsoft.com/office/drawing/2014/main" id="{E3773324-B9C8-4F5C-BE97-7BCF7D787658}"/>
              </a:ext>
            </a:extLst>
          </p:cNvPr>
          <p:cNvSpPr>
            <a:spLocks noGrp="1"/>
          </p:cNvSpPr>
          <p:nvPr/>
        </p:nvSpPr>
        <p:spPr>
          <a:xfrm>
            <a:off x="685800" y="2419350"/>
            <a:ext cx="114300" cy="723900"/>
          </a:xfrm>
          <a:prstGeom prst="roundRect">
            <a:avLst>
              <a:gd name="adj" fmla="val 50000"/>
            </a:avLst>
          </a:prstGeom>
          <a:solidFill>
            <a:srgbClr val="FF8066"/>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083DF3CE-CFC1-4B81-A6E1-6C0E590903E0}"/>
              </a:ext>
            </a:extLst>
          </p:cNvPr>
          <p:cNvSpPr>
            <a:spLocks noGrp="1"/>
          </p:cNvSpPr>
          <p:nvPr/>
        </p:nvSpPr>
        <p:spPr>
          <a:xfrm>
            <a:off x="990600" y="2667000"/>
            <a:ext cx="1524000" cy="209550"/>
          </a:xfrm>
          <a:prstGeom prst="rect">
            <a:avLst/>
          </a:prstGeom>
          <a:noFill/>
          <a:ln w="0">
            <a:noFill/>
          </a:ln>
        </p:spPr>
        <p:txBody>
          <a:bodyPr wrap="square" lIns="0" tIns="0" rIns="0" bIns="0" anchor="t">
            <a:normAutofit/>
          </a:bodyPr>
          <a:lstStyle/>
          <a:p>
            <a:pPr algn="l">
              <a:defRPr sz="975" b="1" i="0">
                <a:solidFill>
                  <a:srgbClr val="FF8066"/>
                </a:solidFill>
                <a:latin typeface="DejaVu Sans Mono"/>
                <a:ea typeface="DejaVu Sans Mono"/>
                <a:cs typeface="DejaVu Sans Mono"/>
              </a:defRPr>
            </a:pPr>
            <a:r>
              <a:rPr sz="975" b="1" i="0">
                <a:solidFill>
                  <a:srgbClr val="FF8066"/>
                </a:solidFill>
                <a:latin typeface="DejaVu Sans Mono"/>
                <a:ea typeface="DejaVu Sans Mono"/>
                <a:cs typeface="DejaVu Sans Mono"/>
              </a:rPr>
              <a:t>SECURITY</a:t>
            </a:r>
          </a:p>
        </p:txBody>
      </p:sp>
      <p:sp>
        <p:nvSpPr>
          <p:cNvPr id="24" name="Rectangle 23">
            <a:extLst>
              <a:ext uri="{FF2B5EF4-FFF2-40B4-BE49-F238E27FC236}">
                <a16:creationId xmlns:a16="http://schemas.microsoft.com/office/drawing/2014/main" id="{741CE38B-598B-4F75-9021-C73214DB59D8}"/>
              </a:ext>
            </a:extLst>
          </p:cNvPr>
          <p:cNvSpPr>
            <a:spLocks noGrp="1"/>
          </p:cNvSpPr>
          <p:nvPr/>
        </p:nvSpPr>
        <p:spPr>
          <a:xfrm>
            <a:off x="2705100" y="2609850"/>
            <a:ext cx="4533900" cy="342900"/>
          </a:xfrm>
          <a:prstGeom prst="rect">
            <a:avLst/>
          </a:prstGeom>
          <a:noFill/>
          <a:ln w="0">
            <a:noFill/>
          </a:ln>
        </p:spPr>
        <p:txBody>
          <a:bodyPr wrap="square" lIns="0" tIns="0" rIns="0" bIns="0" anchor="t">
            <a:normAutofit/>
          </a:bodyPr>
          <a:lstStyle/>
          <a:p>
            <a:pPr algn="l">
              <a:defRPr sz="1200" b="0" i="0">
                <a:solidFill>
                  <a:srgbClr val="111827"/>
                </a:solidFill>
                <a:latin typeface="DejaVu Sans"/>
                <a:ea typeface="DejaVu Sans"/>
                <a:cs typeface="DejaVu Sans"/>
              </a:defRPr>
            </a:pPr>
            <a:r>
              <a:rPr sz="1200" b="0" i="0">
                <a:solidFill>
                  <a:srgbClr val="111827"/>
                </a:solidFill>
                <a:latin typeface="DejaVu Sans"/>
                <a:ea typeface="DejaVu Sans"/>
                <a:cs typeface="DejaVu Sans"/>
              </a:rPr>
              <a:t>Authentication, injection, and data leaks</a:t>
            </a:r>
          </a:p>
        </p:txBody>
      </p:sp>
      <p:sp>
        <p:nvSpPr>
          <p:cNvPr id="25" name="Rectangle: Rounded Corners 24">
            <a:extLst>
              <a:ext uri="{FF2B5EF4-FFF2-40B4-BE49-F238E27FC236}">
                <a16:creationId xmlns:a16="http://schemas.microsoft.com/office/drawing/2014/main" id="{462C079A-398E-4F64-A38D-CA5F941CAAE9}"/>
              </a:ext>
            </a:extLst>
          </p:cNvPr>
          <p:cNvSpPr>
            <a:spLocks noGrp="1"/>
          </p:cNvSpPr>
          <p:nvPr/>
        </p:nvSpPr>
        <p:spPr>
          <a:xfrm>
            <a:off x="685800" y="3371850"/>
            <a:ext cx="6858000" cy="723900"/>
          </a:xfrm>
          <a:prstGeom prst="roundRect">
            <a:avLst>
              <a:gd name="adj" fmla="val 21053"/>
            </a:avLst>
          </a:prstGeom>
          <a:solidFill>
            <a:srgbClr val="FFFFFF"/>
          </a:solidFill>
          <a:ln w="9525">
            <a:solidFill>
              <a:srgbClr val="D8DEE9"/>
            </a:solidFill>
            <a:prstDash val="solid"/>
          </a:ln>
        </p:spPr>
        <p:txBody>
          <a:bodyPr/>
          <a:lstStyle/>
          <a:p>
            <a:endParaRPr lang="en-US"/>
          </a:p>
        </p:txBody>
      </p:sp>
      <p:sp>
        <p:nvSpPr>
          <p:cNvPr id="26" name="Rectangle: Rounded Corners 25">
            <a:extLst>
              <a:ext uri="{FF2B5EF4-FFF2-40B4-BE49-F238E27FC236}">
                <a16:creationId xmlns:a16="http://schemas.microsoft.com/office/drawing/2014/main" id="{FBF750E7-DD38-46EF-B856-368C3EF7A856}"/>
              </a:ext>
            </a:extLst>
          </p:cNvPr>
          <p:cNvSpPr>
            <a:spLocks noGrp="1"/>
          </p:cNvSpPr>
          <p:nvPr/>
        </p:nvSpPr>
        <p:spPr>
          <a:xfrm>
            <a:off x="685800" y="3371850"/>
            <a:ext cx="114300" cy="723900"/>
          </a:xfrm>
          <a:prstGeom prst="roundRect">
            <a:avLst>
              <a:gd name="adj" fmla="val 50000"/>
            </a:avLst>
          </a:prstGeom>
          <a:solidFill>
            <a:srgbClr val="19C3D2"/>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ABEAB8DA-BDBB-491E-B775-C25FF12D78FE}"/>
              </a:ext>
            </a:extLst>
          </p:cNvPr>
          <p:cNvSpPr>
            <a:spLocks noGrp="1"/>
          </p:cNvSpPr>
          <p:nvPr/>
        </p:nvSpPr>
        <p:spPr>
          <a:xfrm>
            <a:off x="990600" y="3619500"/>
            <a:ext cx="1524000" cy="209550"/>
          </a:xfrm>
          <a:prstGeom prst="rect">
            <a:avLst/>
          </a:prstGeom>
          <a:noFill/>
          <a:ln w="0">
            <a:noFill/>
          </a:ln>
        </p:spPr>
        <p:txBody>
          <a:bodyPr wrap="square" lIns="0" tIns="0" rIns="0" bIns="0" anchor="t">
            <a:normAutofit/>
          </a:bodyPr>
          <a:lstStyle/>
          <a:p>
            <a:pPr algn="l">
              <a:defRPr sz="975" b="1" i="0">
                <a:solidFill>
                  <a:srgbClr val="19C3D2"/>
                </a:solidFill>
                <a:latin typeface="DejaVu Sans Mono"/>
                <a:ea typeface="DejaVu Sans Mono"/>
                <a:cs typeface="DejaVu Sans Mono"/>
              </a:defRPr>
            </a:pPr>
            <a:r>
              <a:rPr sz="975" b="1" i="0">
                <a:solidFill>
                  <a:srgbClr val="19C3D2"/>
                </a:solidFill>
                <a:latin typeface="DejaVu Sans Mono"/>
                <a:ea typeface="DejaVu Sans Mono"/>
                <a:cs typeface="DejaVu Sans Mono"/>
              </a:rPr>
              <a:t>COMPLIANCE</a:t>
            </a:r>
          </a:p>
        </p:txBody>
      </p:sp>
      <p:sp>
        <p:nvSpPr>
          <p:cNvPr id="28" name="Rectangle 27">
            <a:extLst>
              <a:ext uri="{FF2B5EF4-FFF2-40B4-BE49-F238E27FC236}">
                <a16:creationId xmlns:a16="http://schemas.microsoft.com/office/drawing/2014/main" id="{C52295F5-1D4B-4D25-B465-85887557BEB5}"/>
              </a:ext>
            </a:extLst>
          </p:cNvPr>
          <p:cNvSpPr>
            <a:spLocks noGrp="1"/>
          </p:cNvSpPr>
          <p:nvPr/>
        </p:nvSpPr>
        <p:spPr>
          <a:xfrm>
            <a:off x="2705100" y="3562350"/>
            <a:ext cx="4533900" cy="342900"/>
          </a:xfrm>
          <a:prstGeom prst="rect">
            <a:avLst/>
          </a:prstGeom>
          <a:noFill/>
          <a:ln w="0">
            <a:noFill/>
          </a:ln>
        </p:spPr>
        <p:txBody>
          <a:bodyPr wrap="square" lIns="0" tIns="0" rIns="0" bIns="0" anchor="t">
            <a:normAutofit/>
          </a:bodyPr>
          <a:lstStyle/>
          <a:p>
            <a:pPr algn="l">
              <a:defRPr sz="1200" b="0" i="0">
                <a:solidFill>
                  <a:srgbClr val="111827"/>
                </a:solidFill>
                <a:latin typeface="DejaVu Sans"/>
                <a:ea typeface="DejaVu Sans"/>
                <a:cs typeface="DejaVu Sans"/>
              </a:defRPr>
            </a:pPr>
            <a:r>
              <a:rPr sz="1200" b="0" i="0">
                <a:solidFill>
                  <a:srgbClr val="111827"/>
                </a:solidFill>
                <a:latin typeface="DejaVu Sans"/>
                <a:ea typeface="DejaVu Sans"/>
                <a:cs typeface="DejaVu Sans"/>
              </a:rPr>
              <a:t>Match spec.md, plan.md, and company rules</a:t>
            </a:r>
          </a:p>
        </p:txBody>
      </p:sp>
      <p:sp>
        <p:nvSpPr>
          <p:cNvPr id="29" name="Rectangle: Rounded Corners 28">
            <a:extLst>
              <a:ext uri="{FF2B5EF4-FFF2-40B4-BE49-F238E27FC236}">
                <a16:creationId xmlns:a16="http://schemas.microsoft.com/office/drawing/2014/main" id="{79CE9450-6FE4-49A9-9F2F-A3C116D652CF}"/>
              </a:ext>
            </a:extLst>
          </p:cNvPr>
          <p:cNvSpPr>
            <a:spLocks noGrp="1"/>
          </p:cNvSpPr>
          <p:nvPr/>
        </p:nvSpPr>
        <p:spPr>
          <a:xfrm>
            <a:off x="8020050" y="1466850"/>
            <a:ext cx="3486150" cy="2628900"/>
          </a:xfrm>
          <a:prstGeom prst="roundRect">
            <a:avLst>
              <a:gd name="adj" fmla="val 7971"/>
            </a:avLst>
          </a:prstGeom>
          <a:solidFill>
            <a:srgbClr val="0A1020"/>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4A69D6A4-9645-4227-B497-CADACE0D1D20}"/>
              </a:ext>
            </a:extLst>
          </p:cNvPr>
          <p:cNvSpPr>
            <a:spLocks noGrp="1"/>
          </p:cNvSpPr>
          <p:nvPr/>
        </p:nvSpPr>
        <p:spPr>
          <a:xfrm>
            <a:off x="8286750" y="1752600"/>
            <a:ext cx="2952750" cy="285750"/>
          </a:xfrm>
          <a:prstGeom prst="rect">
            <a:avLst/>
          </a:prstGeom>
          <a:noFill/>
          <a:ln w="0">
            <a:noFill/>
          </a:ln>
        </p:spPr>
        <p:txBody>
          <a:bodyPr wrap="square" lIns="0" tIns="0" rIns="0" bIns="0" anchor="t">
            <a:normAutofit/>
          </a:bodyPr>
          <a:lstStyle/>
          <a:p>
            <a:pPr algn="l">
              <a:defRPr sz="1725" b="1" i="0">
                <a:solidFill>
                  <a:srgbClr val="FFFFFF"/>
                </a:solidFill>
                <a:latin typeface="DejaVu Sans"/>
                <a:ea typeface="DejaVu Sans"/>
                <a:cs typeface="DejaVu Sans"/>
              </a:defRPr>
            </a:pPr>
            <a:r>
              <a:rPr sz="1725" b="1" i="0">
                <a:solidFill>
                  <a:srgbClr val="FFFFFF"/>
                </a:solidFill>
                <a:latin typeface="DejaVu Sans"/>
                <a:ea typeface="DejaVu Sans"/>
                <a:cs typeface="DejaVu Sans"/>
              </a:rPr>
              <a:t>Human reviewer</a:t>
            </a:r>
          </a:p>
        </p:txBody>
      </p:sp>
      <p:sp>
        <p:nvSpPr>
          <p:cNvPr id="31" name="Rectangle 30">
            <a:extLst>
              <a:ext uri="{FF2B5EF4-FFF2-40B4-BE49-F238E27FC236}">
                <a16:creationId xmlns:a16="http://schemas.microsoft.com/office/drawing/2014/main" id="{1A41561C-FFF9-469C-AE1B-93C22C55C0FC}"/>
              </a:ext>
            </a:extLst>
          </p:cNvPr>
          <p:cNvSpPr>
            <a:spLocks noGrp="1"/>
          </p:cNvSpPr>
          <p:nvPr/>
        </p:nvSpPr>
        <p:spPr>
          <a:xfrm>
            <a:off x="8286750" y="2305050"/>
            <a:ext cx="2952750" cy="1181100"/>
          </a:xfrm>
          <a:prstGeom prst="rect">
            <a:avLst/>
          </a:prstGeom>
          <a:noFill/>
          <a:ln w="0">
            <a:noFill/>
          </a:ln>
        </p:spPr>
        <p:txBody>
          <a:bodyPr wrap="square" lIns="0" tIns="0" rIns="0" bIns="0" anchor="t">
            <a:normAutofit/>
          </a:bodyPr>
          <a:lstStyle/>
          <a:p>
            <a:pPr algn="l">
              <a:defRPr sz="1425" b="0" i="0">
                <a:solidFill>
                  <a:srgbClr val="C4D1E3"/>
                </a:solidFill>
                <a:latin typeface="DejaVu Sans"/>
                <a:ea typeface="DejaVu Sans"/>
                <a:cs typeface="DejaVu Sans"/>
              </a:defRPr>
            </a:pPr>
            <a:r>
              <a:rPr sz="1425" b="0" i="0">
                <a:solidFill>
                  <a:srgbClr val="C4D1E3"/>
                </a:solidFill>
                <a:latin typeface="DejaVu Sans"/>
                <a:ea typeface="DejaVu Sans"/>
                <a:cs typeface="DejaVu Sans"/>
              </a:rPr>
              <a:t>Checks intent</a:t>
            </a:r>
          </a:p>
          <a:p>
            <a:pPr algn="l">
              <a:defRPr sz="1425" b="0" i="0">
                <a:solidFill>
                  <a:srgbClr val="C4D1E3"/>
                </a:solidFill>
                <a:latin typeface="DejaVu Sans"/>
                <a:ea typeface="DejaVu Sans"/>
                <a:cs typeface="DejaVu Sans"/>
              </a:defRPr>
            </a:pPr>
            <a:r>
              <a:rPr sz="1425" b="0" i="0">
                <a:solidFill>
                  <a:srgbClr val="C4D1E3"/>
                </a:solidFill>
                <a:latin typeface="DejaVu Sans"/>
                <a:ea typeface="DejaVu Sans"/>
                <a:cs typeface="DejaVu Sans"/>
              </a:rPr>
              <a:t>Judges risk</a:t>
            </a:r>
          </a:p>
          <a:p>
            <a:pPr algn="l">
              <a:defRPr sz="1425" b="0" i="0">
                <a:solidFill>
                  <a:srgbClr val="C4D1E3"/>
                </a:solidFill>
                <a:latin typeface="DejaVu Sans"/>
                <a:ea typeface="DejaVu Sans"/>
                <a:cs typeface="DejaVu Sans"/>
              </a:defRPr>
            </a:pPr>
            <a:r>
              <a:rPr sz="1425" b="0" i="0">
                <a:solidFill>
                  <a:srgbClr val="C4D1E3"/>
                </a:solidFill>
                <a:latin typeface="DejaVu Sans"/>
                <a:ea typeface="DejaVu Sans"/>
                <a:cs typeface="DejaVu Sans"/>
              </a:rPr>
              <a:t>Approves or rejects</a:t>
            </a:r>
          </a:p>
        </p:txBody>
      </p:sp>
      <p:sp>
        <p:nvSpPr>
          <p:cNvPr id="32" name="Rectangle 31">
            <a:extLst>
              <a:ext uri="{FF2B5EF4-FFF2-40B4-BE49-F238E27FC236}">
                <a16:creationId xmlns:a16="http://schemas.microsoft.com/office/drawing/2014/main" id="{4DC105B8-DCDC-4887-92FD-C677C43E68FE}"/>
              </a:ext>
            </a:extLst>
          </p:cNvPr>
          <p:cNvSpPr>
            <a:spLocks noGrp="1"/>
          </p:cNvSpPr>
          <p:nvPr/>
        </p:nvSpPr>
        <p:spPr>
          <a:xfrm>
            <a:off x="685800" y="4629150"/>
            <a:ext cx="10820400" cy="285750"/>
          </a:xfrm>
          <a:prstGeom prst="rect">
            <a:avLst/>
          </a:prstGeom>
          <a:noFill/>
          <a:ln w="0">
            <a:noFill/>
          </a:ln>
        </p:spPr>
        <p:txBody>
          <a:bodyPr wrap="square" lIns="0" tIns="0" rIns="0" bIns="0" anchor="t">
            <a:normAutofit/>
          </a:bodyPr>
          <a:lstStyle/>
          <a:p>
            <a:pPr algn="ctr">
              <a:defRPr sz="1350" b="1" i="0">
                <a:solidFill>
                  <a:srgbClr val="D9534F"/>
                </a:solidFill>
                <a:latin typeface="DejaVu Sans"/>
                <a:ea typeface="DejaVu Sans"/>
                <a:cs typeface="DejaVu Sans"/>
              </a:defRPr>
            </a:pPr>
            <a:r>
              <a:rPr sz="1350" b="1" i="0">
                <a:solidFill>
                  <a:srgbClr val="D9534F"/>
                </a:solidFill>
                <a:latin typeface="DejaVu Sans"/>
                <a:ea typeface="DejaVu Sans"/>
                <a:cs typeface="DejaVu Sans"/>
              </a:rPr>
              <a:t>The agent that wrote the code cannot approve its own PR.</a:t>
            </a:r>
          </a:p>
        </p:txBody>
      </p:sp>
      <p:sp>
        <p:nvSpPr>
          <p:cNvPr id="33" name="Rectangle 32">
            <a:extLst>
              <a:ext uri="{FF2B5EF4-FFF2-40B4-BE49-F238E27FC236}">
                <a16:creationId xmlns:a16="http://schemas.microsoft.com/office/drawing/2014/main" id="{194AD5B3-00C5-4C0F-B993-7A994E8F04CA}"/>
              </a:ext>
            </a:extLst>
          </p:cNvPr>
          <p:cNvSpPr>
            <a:spLocks noGrp="1"/>
          </p:cNvSpPr>
          <p:nvPr/>
        </p:nvSpPr>
        <p:spPr>
          <a:xfrm>
            <a:off x="685800" y="5143500"/>
            <a:ext cx="10820400" cy="247650"/>
          </a:xfrm>
          <a:prstGeom prst="rect">
            <a:avLst/>
          </a:prstGeom>
          <a:noFill/>
          <a:ln w="0">
            <a:noFill/>
          </a:ln>
        </p:spPr>
        <p:txBody>
          <a:bodyPr wrap="square" lIns="0" tIns="0" rIns="0" bIns="0" anchor="t">
            <a:normAutofit/>
          </a:bodyPr>
          <a:lstStyle/>
          <a:p>
            <a:pPr algn="ctr">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PR history becomes the review record.</a:t>
            </a:r>
          </a:p>
        </p:txBody>
      </p:sp>
    </p:spTree>
    <p:extLst>
      <p:ext uri="{BB962C8B-B14F-4D97-AF65-F5344CB8AC3E}">
        <p14:creationId xmlns:p14="http://schemas.microsoft.com/office/powerpoint/2010/main" val="1541868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3F992A75-0ACD-4675-AEB9-2CE3B9D08591}"/>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SAFE AUTOMATION BEFORE PRODUCTION</a:t>
            </a:r>
          </a:p>
        </p:txBody>
      </p:sp>
      <p:sp>
        <p:nvSpPr>
          <p:cNvPr id="2" name="Rectangle 1">
            <a:extLst>
              <a:ext uri="{FF2B5EF4-FFF2-40B4-BE49-F238E27FC236}">
                <a16:creationId xmlns:a16="http://schemas.microsoft.com/office/drawing/2014/main" id="{8629579F-B92C-45B1-853E-206DEF849635}"/>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Hooks and CI/CD</a:t>
            </a:r>
          </a:p>
        </p:txBody>
      </p:sp>
      <p:sp>
        <p:nvSpPr>
          <p:cNvPr id="3" name="Rectangle 2">
            <a:extLst>
              <a:ext uri="{FF2B5EF4-FFF2-40B4-BE49-F238E27FC236}">
                <a16:creationId xmlns:a16="http://schemas.microsoft.com/office/drawing/2014/main" id="{6E6AAD2D-D802-44B3-BA98-39124A04F009}"/>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967CC162-4F4F-408F-B616-865D73693C08}"/>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16</a:t>
            </a:r>
          </a:p>
        </p:txBody>
      </p:sp>
      <p:sp>
        <p:nvSpPr>
          <p:cNvPr id="5" name="Rectangle 4">
            <a:extLst>
              <a:ext uri="{FF2B5EF4-FFF2-40B4-BE49-F238E27FC236}">
                <a16:creationId xmlns:a16="http://schemas.microsoft.com/office/drawing/2014/main" id="{B901B6ED-2F15-42A5-A17D-BC1D0FFB85C8}"/>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EDD2AFEF-7416-4274-A0C9-01C32BD7D283}"/>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24FE3443-0B13-457B-9F12-63606E0B8F76}"/>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283ACB70-7EB6-40C6-835A-E9BC4E04960B}"/>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15266477-ECB8-4384-BFBD-7C9212599BCC}"/>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54BEADC-6038-4C3E-8707-6FBB05AE3A70}"/>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5C20A2F8-EBBF-4B82-B5D9-D1C9CC79EC5B}"/>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2B451262-FE7D-4C39-BCC5-F306CAE2324A}"/>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D86E496B-FDCC-4351-A833-C91E7247CD06}"/>
              </a:ext>
            </a:extLst>
          </p:cNvPr>
          <p:cNvSpPr>
            <a:spLocks noGrp="1"/>
          </p:cNvSpPr>
          <p:nvPr/>
        </p:nvSpPr>
        <p:spPr>
          <a:xfrm>
            <a:off x="7937500" y="6419850"/>
            <a:ext cx="1755775" cy="47625"/>
          </a:xfrm>
          <a:prstGeom prst="rect">
            <a:avLst/>
          </a:prstGeom>
          <a:solidFill>
            <a:srgbClr val="3B82F6"/>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BBF637F3-2FB8-485D-8DD6-AE66C34FAF6A}"/>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1" i="0">
                <a:solidFill>
                  <a:srgbClr val="3B82F6"/>
                </a:solidFill>
                <a:latin typeface="DejaVu Sans"/>
                <a:ea typeface="DejaVu Sans"/>
                <a:cs typeface="DejaVu Sans"/>
              </a:defRPr>
            </a:pPr>
            <a:r>
              <a:rPr sz="675" b="1" i="0">
                <a:solidFill>
                  <a:srgbClr val="3B82F6"/>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81BD28C4-A57F-47EB-BB89-A84D16081654}"/>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412E9817-A125-42BE-8C92-A70B9AB49CDC}"/>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graphicFrame>
        <p:nvGraphicFramePr>
          <p:cNvPr id="36" name="Table 35">
            <a:extLst>
              <a:ext uri="{FF2B5EF4-FFF2-40B4-BE49-F238E27FC236}">
                <a16:creationId xmlns:a16="http://schemas.microsoft.com/office/drawing/2014/main" id="{E0A2E1E0-0064-D2A7-1C75-E0250686A9EC}"/>
              </a:ext>
            </a:extLst>
          </p:cNvPr>
          <p:cNvGraphicFramePr>
            <a:graphicFrameLocks noGrp="1"/>
          </p:cNvGraphicFramePr>
          <p:nvPr>
            <p:extLst>
              <p:ext uri="{D42A27DB-BD31-4B8C-83A1-F6EECF244321}">
                <p14:modId xmlns:p14="http://schemas.microsoft.com/office/powerpoint/2010/main" val="2091461171"/>
              </p:ext>
            </p:extLst>
          </p:nvPr>
        </p:nvGraphicFramePr>
        <p:xfrm>
          <a:off x="838200" y="2401094"/>
          <a:ext cx="10515600" cy="320040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088559611"/>
                    </a:ext>
                  </a:extLst>
                </a:gridCol>
                <a:gridCol w="5257800">
                  <a:extLst>
                    <a:ext uri="{9D8B030D-6E8A-4147-A177-3AD203B41FA5}">
                      <a16:colId xmlns:a16="http://schemas.microsoft.com/office/drawing/2014/main" val="843049923"/>
                    </a:ext>
                  </a:extLst>
                </a:gridCol>
              </a:tblGrid>
              <a:tr h="0">
                <a:tc>
                  <a:txBody>
                    <a:bodyPr/>
                    <a:lstStyle/>
                    <a:p>
                      <a:pPr>
                        <a:buNone/>
                      </a:pPr>
                      <a:r>
                        <a:rPr lang="en-US" dirty="0">
                          <a:solidFill>
                            <a:schemeClr val="tx2">
                              <a:lumMod val="50000"/>
                              <a:lumOff val="50000"/>
                            </a:schemeClr>
                          </a:solidFill>
                        </a:rPr>
                        <a:t>Traditional pipeline</a:t>
                      </a:r>
                    </a:p>
                  </a:txBody>
                  <a:tcPr anchor="ctr"/>
                </a:tc>
                <a:tc>
                  <a:txBody>
                    <a:bodyPr/>
                    <a:lstStyle/>
                    <a:p>
                      <a:pPr>
                        <a:buNone/>
                      </a:pPr>
                      <a:r>
                        <a:rPr lang="en-US" dirty="0">
                          <a:solidFill>
                            <a:srgbClr val="FF0000"/>
                          </a:solidFill>
                        </a:rPr>
                        <a:t>AI-native pipeline</a:t>
                      </a:r>
                    </a:p>
                  </a:txBody>
                  <a:tcPr anchor="ctr"/>
                </a:tc>
                <a:extLst>
                  <a:ext uri="{0D108BD9-81ED-4DB2-BD59-A6C34878D82A}">
                    <a16:rowId xmlns:a16="http://schemas.microsoft.com/office/drawing/2014/main" val="291300300"/>
                  </a:ext>
                </a:extLst>
              </a:tr>
              <a:tr h="0">
                <a:tc>
                  <a:txBody>
                    <a:bodyPr/>
                    <a:lstStyle/>
                    <a:p>
                      <a:pPr>
                        <a:buNone/>
                      </a:pPr>
                      <a:r>
                        <a:rPr lang="en-US"/>
                        <a:t>A script reports “test failed”</a:t>
                      </a:r>
                    </a:p>
                  </a:txBody>
                  <a:tcPr anchor="ctr"/>
                </a:tc>
                <a:tc>
                  <a:txBody>
                    <a:bodyPr/>
                    <a:lstStyle/>
                    <a:p>
                      <a:pPr>
                        <a:buNone/>
                      </a:pPr>
                      <a:r>
                        <a:rPr lang="en-US"/>
                        <a:t>AI explains why it probably failed</a:t>
                      </a:r>
                    </a:p>
                  </a:txBody>
                  <a:tcPr anchor="ctr"/>
                </a:tc>
                <a:extLst>
                  <a:ext uri="{0D108BD9-81ED-4DB2-BD59-A6C34878D82A}">
                    <a16:rowId xmlns:a16="http://schemas.microsoft.com/office/drawing/2014/main" val="2751450008"/>
                  </a:ext>
                </a:extLst>
              </a:tr>
              <a:tr h="0">
                <a:tc>
                  <a:txBody>
                    <a:bodyPr/>
                    <a:lstStyle/>
                    <a:p>
                      <a:pPr>
                        <a:buNone/>
                      </a:pPr>
                      <a:r>
                        <a:rPr lang="en-US"/>
                        <a:t>Engineer investigates flaky tests</a:t>
                      </a:r>
                    </a:p>
                  </a:txBody>
                  <a:tcPr anchor="ctr"/>
                </a:tc>
                <a:tc>
                  <a:txBody>
                    <a:bodyPr/>
                    <a:lstStyle/>
                    <a:p>
                      <a:pPr>
                        <a:buNone/>
                      </a:pPr>
                      <a:r>
                        <a:rPr lang="en-US"/>
                        <a:t>AI separates likely flaky and real failures</a:t>
                      </a:r>
                    </a:p>
                  </a:txBody>
                  <a:tcPr anchor="ctr"/>
                </a:tc>
                <a:extLst>
                  <a:ext uri="{0D108BD9-81ED-4DB2-BD59-A6C34878D82A}">
                    <a16:rowId xmlns:a16="http://schemas.microsoft.com/office/drawing/2014/main" val="2428174521"/>
                  </a:ext>
                </a:extLst>
              </a:tr>
              <a:tr h="0">
                <a:tc>
                  <a:txBody>
                    <a:bodyPr/>
                    <a:lstStyle/>
                    <a:p>
                      <a:pPr>
                        <a:buNone/>
                      </a:pPr>
                      <a:r>
                        <a:rPr lang="en-US"/>
                        <a:t>Engineer writes the changelog</a:t>
                      </a:r>
                    </a:p>
                  </a:txBody>
                  <a:tcPr anchor="ctr"/>
                </a:tc>
                <a:tc>
                  <a:txBody>
                    <a:bodyPr/>
                    <a:lstStyle/>
                    <a:p>
                      <a:pPr>
                        <a:buNone/>
                      </a:pPr>
                      <a:r>
                        <a:rPr lang="en-US"/>
                        <a:t>AI drafts it from commits and PRs</a:t>
                      </a:r>
                    </a:p>
                  </a:txBody>
                  <a:tcPr anchor="ctr"/>
                </a:tc>
                <a:extLst>
                  <a:ext uri="{0D108BD9-81ED-4DB2-BD59-A6C34878D82A}">
                    <a16:rowId xmlns:a16="http://schemas.microsoft.com/office/drawing/2014/main" val="2312596855"/>
                  </a:ext>
                </a:extLst>
              </a:tr>
              <a:tr h="0">
                <a:tc>
                  <a:txBody>
                    <a:bodyPr/>
                    <a:lstStyle/>
                    <a:p>
                      <a:pPr>
                        <a:buNone/>
                      </a:pPr>
                      <a:r>
                        <a:rPr lang="en-US"/>
                        <a:t>Engineer follows a deployment runbook</a:t>
                      </a:r>
                    </a:p>
                  </a:txBody>
                  <a:tcPr anchor="ctr"/>
                </a:tc>
                <a:tc>
                  <a:txBody>
                    <a:bodyPr/>
                    <a:lstStyle/>
                    <a:p>
                      <a:pPr>
                        <a:buNone/>
                      </a:pPr>
                      <a:r>
                        <a:rPr lang="en-US"/>
                        <a:t>AI calls approved deployment tools</a:t>
                      </a:r>
                    </a:p>
                  </a:txBody>
                  <a:tcPr anchor="ctr"/>
                </a:tc>
                <a:extLst>
                  <a:ext uri="{0D108BD9-81ED-4DB2-BD59-A6C34878D82A}">
                    <a16:rowId xmlns:a16="http://schemas.microsoft.com/office/drawing/2014/main" val="744839383"/>
                  </a:ext>
                </a:extLst>
              </a:tr>
              <a:tr h="0">
                <a:tc>
                  <a:txBody>
                    <a:bodyPr/>
                    <a:lstStyle/>
                    <a:p>
                      <a:pPr>
                        <a:buNone/>
                      </a:pPr>
                      <a:r>
                        <a:rPr lang="en-US"/>
                        <a:t>Engineer investigates failed deployment</a:t>
                      </a:r>
                    </a:p>
                  </a:txBody>
                  <a:tcPr anchor="ctr"/>
                </a:tc>
                <a:tc>
                  <a:txBody>
                    <a:bodyPr/>
                    <a:lstStyle/>
                    <a:p>
                      <a:pPr>
                        <a:buNone/>
                      </a:pPr>
                      <a:r>
                        <a:rPr lang="en-US"/>
                        <a:t>AI collects metrics, logs, and deployment evidence</a:t>
                      </a:r>
                    </a:p>
                  </a:txBody>
                  <a:tcPr anchor="ctr"/>
                </a:tc>
                <a:extLst>
                  <a:ext uri="{0D108BD9-81ED-4DB2-BD59-A6C34878D82A}">
                    <a16:rowId xmlns:a16="http://schemas.microsoft.com/office/drawing/2014/main" val="1469175189"/>
                  </a:ext>
                </a:extLst>
              </a:tr>
              <a:tr h="0">
                <a:tc>
                  <a:txBody>
                    <a:bodyPr/>
                    <a:lstStyle/>
                    <a:p>
                      <a:pPr>
                        <a:buNone/>
                      </a:pPr>
                      <a:r>
                        <a:rPr lang="en-US"/>
                        <a:t>Engineer manually runs rollback</a:t>
                      </a:r>
                    </a:p>
                  </a:txBody>
                  <a:tcPr anchor="ctr"/>
                </a:tc>
                <a:tc>
                  <a:txBody>
                    <a:bodyPr/>
                    <a:lstStyle/>
                    <a:p>
                      <a:pPr>
                        <a:buNone/>
                      </a:pPr>
                      <a:r>
                        <a:rPr lang="en-US"/>
                        <a:t>AI can propose or invoke a pre-approved rollback</a:t>
                      </a:r>
                    </a:p>
                  </a:txBody>
                  <a:tcPr anchor="ctr"/>
                </a:tc>
                <a:extLst>
                  <a:ext uri="{0D108BD9-81ED-4DB2-BD59-A6C34878D82A}">
                    <a16:rowId xmlns:a16="http://schemas.microsoft.com/office/drawing/2014/main" val="3288648280"/>
                  </a:ext>
                </a:extLst>
              </a:tr>
              <a:tr h="0">
                <a:tc>
                  <a:txBody>
                    <a:bodyPr/>
                    <a:lstStyle/>
                    <a:p>
                      <a:pPr>
                        <a:buNone/>
                      </a:pPr>
                      <a:r>
                        <a:rPr lang="en-US"/>
                        <a:t>Human performs every step</a:t>
                      </a:r>
                    </a:p>
                  </a:txBody>
                  <a:tcPr anchor="ctr"/>
                </a:tc>
                <a:tc>
                  <a:txBody>
                    <a:bodyPr/>
                    <a:lstStyle/>
                    <a:p>
                      <a:pPr>
                        <a:buNone/>
                      </a:pPr>
                      <a:r>
                        <a:rPr lang="en-US" dirty="0"/>
                        <a:t>Human concentrates on intent, risk, and production approval</a:t>
                      </a:r>
                    </a:p>
                  </a:txBody>
                  <a:tcPr anchor="ctr"/>
                </a:tc>
                <a:extLst>
                  <a:ext uri="{0D108BD9-81ED-4DB2-BD59-A6C34878D82A}">
                    <a16:rowId xmlns:a16="http://schemas.microsoft.com/office/drawing/2014/main" val="2250314388"/>
                  </a:ext>
                </a:extLst>
              </a:tr>
            </a:tbl>
          </a:graphicData>
        </a:graphic>
      </p:graphicFrame>
      <p:sp>
        <p:nvSpPr>
          <p:cNvPr id="40" name="TextBox 39">
            <a:extLst>
              <a:ext uri="{FF2B5EF4-FFF2-40B4-BE49-F238E27FC236}">
                <a16:creationId xmlns:a16="http://schemas.microsoft.com/office/drawing/2014/main" id="{5F9BFAB8-ADEC-6992-191A-4D90BE8FA8E7}"/>
              </a:ext>
            </a:extLst>
          </p:cNvPr>
          <p:cNvSpPr txBox="1"/>
          <p:nvPr/>
        </p:nvSpPr>
        <p:spPr>
          <a:xfrm>
            <a:off x="685800" y="1301883"/>
            <a:ext cx="10515600" cy="646331"/>
          </a:xfrm>
          <a:prstGeom prst="rect">
            <a:avLst/>
          </a:prstGeom>
          <a:noFill/>
        </p:spPr>
        <p:txBody>
          <a:bodyPr wrap="square">
            <a:spAutoFit/>
          </a:bodyPr>
          <a:lstStyle/>
          <a:p>
            <a:r>
              <a:rPr lang="en-US" dirty="0"/>
              <a:t>The course recommends running Claude non-interactively inside CI/CD, sandboxing it, exposing deployment through controlled tools, and rehearsing rollback before allowing an agent to use it.</a:t>
            </a:r>
          </a:p>
        </p:txBody>
      </p:sp>
    </p:spTree>
    <p:extLst>
      <p:ext uri="{BB962C8B-B14F-4D97-AF65-F5344CB8AC3E}">
        <p14:creationId xmlns:p14="http://schemas.microsoft.com/office/powerpoint/2010/main" val="1181462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020"/>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BC1A51D9-2FD5-4192-926E-1DFA60B2462D}"/>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19C3D2"/>
                </a:solidFill>
                <a:latin typeface="DejaVu Sans"/>
                <a:ea typeface="DejaVu Sans"/>
                <a:cs typeface="DejaVu Sans"/>
              </a:defRPr>
            </a:pPr>
            <a:r>
              <a:rPr sz="900" b="1" i="0">
                <a:solidFill>
                  <a:srgbClr val="19C3D2"/>
                </a:solidFill>
                <a:latin typeface="DejaVu Sans"/>
                <a:ea typeface="DejaVu Sans"/>
                <a:cs typeface="DejaVu Sans"/>
              </a:rPr>
              <a:t>PRODUCTION SIGNALS CAN RESTART THE LOOP</a:t>
            </a:r>
          </a:p>
        </p:txBody>
      </p:sp>
      <p:sp>
        <p:nvSpPr>
          <p:cNvPr id="2" name="Rectangle 1">
            <a:extLst>
              <a:ext uri="{FF2B5EF4-FFF2-40B4-BE49-F238E27FC236}">
                <a16:creationId xmlns:a16="http://schemas.microsoft.com/office/drawing/2014/main" id="{4CBD17D3-4D5A-4790-9524-9979C3F4199D}"/>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FFFFFF"/>
                </a:solidFill>
                <a:latin typeface="DejaVu Sans"/>
                <a:ea typeface="DejaVu Sans"/>
                <a:cs typeface="DejaVu Sans"/>
              </a:defRPr>
            </a:pPr>
            <a:r>
              <a:rPr sz="2700" b="1" i="0">
                <a:solidFill>
                  <a:srgbClr val="FFFFFF"/>
                </a:solidFill>
                <a:latin typeface="DejaVu Sans"/>
                <a:ea typeface="DejaVu Sans"/>
                <a:cs typeface="DejaVu Sans"/>
              </a:rPr>
              <a:t>Stage 6: Maintain</a:t>
            </a:r>
          </a:p>
        </p:txBody>
      </p:sp>
      <p:sp>
        <p:nvSpPr>
          <p:cNvPr id="3" name="Rectangle 2">
            <a:extLst>
              <a:ext uri="{FF2B5EF4-FFF2-40B4-BE49-F238E27FC236}">
                <a16:creationId xmlns:a16="http://schemas.microsoft.com/office/drawing/2014/main" id="{ECA8023B-D48E-4DC3-ACCA-67E224657210}"/>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8190AA"/>
                </a:solidFill>
                <a:latin typeface="DejaVu Sans"/>
                <a:ea typeface="DejaVu Sans"/>
                <a:cs typeface="DejaVu Sans"/>
              </a:defRPr>
            </a:pPr>
            <a:r>
              <a:rPr sz="750" b="0" i="0">
                <a:solidFill>
                  <a:srgbClr val="8190AA"/>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DEC64876-D735-4186-A520-07E6D3C0A594}"/>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8190AA"/>
                </a:solidFill>
                <a:latin typeface="DejaVu Sans Mono"/>
                <a:ea typeface="DejaVu Sans Mono"/>
                <a:cs typeface="DejaVu Sans Mono"/>
              </a:defRPr>
            </a:pPr>
            <a:r>
              <a:rPr sz="750" b="0" i="0">
                <a:solidFill>
                  <a:srgbClr val="8190AA"/>
                </a:solidFill>
                <a:latin typeface="DejaVu Sans Mono"/>
                <a:ea typeface="DejaVu Sans Mono"/>
                <a:cs typeface="DejaVu Sans Mono"/>
              </a:rPr>
              <a:t>17</a:t>
            </a:r>
          </a:p>
        </p:txBody>
      </p:sp>
      <p:sp>
        <p:nvSpPr>
          <p:cNvPr id="5" name="Rectangle 4">
            <a:extLst>
              <a:ext uri="{FF2B5EF4-FFF2-40B4-BE49-F238E27FC236}">
                <a16:creationId xmlns:a16="http://schemas.microsoft.com/office/drawing/2014/main" id="{A237B441-A0B1-4DBB-92D4-EB446FE731CC}"/>
              </a:ext>
            </a:extLst>
          </p:cNvPr>
          <p:cNvSpPr>
            <a:spLocks noGrp="1"/>
          </p:cNvSpPr>
          <p:nvPr/>
        </p:nvSpPr>
        <p:spPr>
          <a:xfrm>
            <a:off x="685800" y="6419850"/>
            <a:ext cx="1755775" cy="47625"/>
          </a:xfrm>
          <a:prstGeom prst="rect">
            <a:avLst/>
          </a:prstGeom>
          <a:solidFill>
            <a:srgbClr val="2B3548"/>
          </a:solidFill>
          <a:ln w="0">
            <a:noFill/>
            <a:prstDash val="solid"/>
          </a:ln>
        </p:spPr>
        <p:txBody>
          <a:bodyPr/>
          <a:lstStyle/>
          <a:p>
            <a:endParaRPr lang="en-US"/>
          </a:p>
        </p:txBody>
      </p:sp>
      <p:sp>
        <p:nvSpPr>
          <p:cNvPr id="6" name="Rectangle 5">
            <a:extLst>
              <a:ext uri="{FF2B5EF4-FFF2-40B4-BE49-F238E27FC236}">
                <a16:creationId xmlns:a16="http://schemas.microsoft.com/office/drawing/2014/main" id="{34DF6059-CB70-4326-95DB-61561AADE4DB}"/>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PLAN</a:t>
            </a:r>
          </a:p>
        </p:txBody>
      </p:sp>
      <p:sp>
        <p:nvSpPr>
          <p:cNvPr id="7" name="Rectangle 6">
            <a:extLst>
              <a:ext uri="{FF2B5EF4-FFF2-40B4-BE49-F238E27FC236}">
                <a16:creationId xmlns:a16="http://schemas.microsoft.com/office/drawing/2014/main" id="{57890169-99D9-494C-A356-76EDE2617F1B}"/>
              </a:ext>
            </a:extLst>
          </p:cNvPr>
          <p:cNvSpPr>
            <a:spLocks noGrp="1"/>
          </p:cNvSpPr>
          <p:nvPr/>
        </p:nvSpPr>
        <p:spPr>
          <a:xfrm>
            <a:off x="2498725" y="6419850"/>
            <a:ext cx="1755775" cy="47625"/>
          </a:xfrm>
          <a:prstGeom prst="rect">
            <a:avLst/>
          </a:prstGeom>
          <a:solidFill>
            <a:srgbClr val="2B3548"/>
          </a:solidFill>
          <a:ln w="0">
            <a:noFill/>
            <a:prstDash val="solid"/>
          </a:ln>
        </p:spPr>
        <p:txBody>
          <a:bodyPr/>
          <a:lstStyle/>
          <a:p>
            <a:endParaRPr lang="en-US"/>
          </a:p>
        </p:txBody>
      </p:sp>
      <p:sp>
        <p:nvSpPr>
          <p:cNvPr id="8" name="Rectangle 7">
            <a:extLst>
              <a:ext uri="{FF2B5EF4-FFF2-40B4-BE49-F238E27FC236}">
                <a16:creationId xmlns:a16="http://schemas.microsoft.com/office/drawing/2014/main" id="{2DB489F3-3B3E-479D-B328-F1D4444BFB37}"/>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DESIGN</a:t>
            </a:r>
          </a:p>
        </p:txBody>
      </p:sp>
      <p:sp>
        <p:nvSpPr>
          <p:cNvPr id="9" name="Rectangle 8">
            <a:extLst>
              <a:ext uri="{FF2B5EF4-FFF2-40B4-BE49-F238E27FC236}">
                <a16:creationId xmlns:a16="http://schemas.microsoft.com/office/drawing/2014/main" id="{21D1E371-6242-4660-A1E0-D2B9BE8C76F1}"/>
              </a:ext>
            </a:extLst>
          </p:cNvPr>
          <p:cNvSpPr>
            <a:spLocks noGrp="1"/>
          </p:cNvSpPr>
          <p:nvPr/>
        </p:nvSpPr>
        <p:spPr>
          <a:xfrm>
            <a:off x="4311650" y="6419850"/>
            <a:ext cx="1755775" cy="47625"/>
          </a:xfrm>
          <a:prstGeom prst="rect">
            <a:avLst/>
          </a:prstGeom>
          <a:solidFill>
            <a:srgbClr val="2B354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E721DA6-414E-492B-ABAF-421D9E2E3F7A}"/>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BUILD</a:t>
            </a:r>
          </a:p>
        </p:txBody>
      </p:sp>
      <p:sp>
        <p:nvSpPr>
          <p:cNvPr id="11" name="Rectangle 10">
            <a:extLst>
              <a:ext uri="{FF2B5EF4-FFF2-40B4-BE49-F238E27FC236}">
                <a16:creationId xmlns:a16="http://schemas.microsoft.com/office/drawing/2014/main" id="{714DA857-42A8-4F8A-9438-C67D3E167012}"/>
              </a:ext>
            </a:extLst>
          </p:cNvPr>
          <p:cNvSpPr>
            <a:spLocks noGrp="1"/>
          </p:cNvSpPr>
          <p:nvPr/>
        </p:nvSpPr>
        <p:spPr>
          <a:xfrm>
            <a:off x="6124575" y="6419850"/>
            <a:ext cx="1755775" cy="47625"/>
          </a:xfrm>
          <a:prstGeom prst="rect">
            <a:avLst/>
          </a:prstGeom>
          <a:solidFill>
            <a:srgbClr val="2B354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581DDAF-9DCE-4F7E-A178-CEB766F6913E}"/>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TEST</a:t>
            </a:r>
          </a:p>
        </p:txBody>
      </p:sp>
      <p:sp>
        <p:nvSpPr>
          <p:cNvPr id="13" name="Rectangle 12">
            <a:extLst>
              <a:ext uri="{FF2B5EF4-FFF2-40B4-BE49-F238E27FC236}">
                <a16:creationId xmlns:a16="http://schemas.microsoft.com/office/drawing/2014/main" id="{B5017D0C-EFE3-4116-B4E1-B309C2B9DAC6}"/>
              </a:ext>
            </a:extLst>
          </p:cNvPr>
          <p:cNvSpPr>
            <a:spLocks noGrp="1"/>
          </p:cNvSpPr>
          <p:nvPr/>
        </p:nvSpPr>
        <p:spPr>
          <a:xfrm>
            <a:off x="7937500" y="6419850"/>
            <a:ext cx="1755775" cy="47625"/>
          </a:xfrm>
          <a:prstGeom prst="rect">
            <a:avLst/>
          </a:prstGeom>
          <a:solidFill>
            <a:srgbClr val="2B354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D3D2171E-23C2-4FC5-A67D-FB1936923637}"/>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72809A"/>
                </a:solidFill>
                <a:latin typeface="DejaVu Sans"/>
                <a:ea typeface="DejaVu Sans"/>
                <a:cs typeface="DejaVu Sans"/>
              </a:defRPr>
            </a:pPr>
            <a:r>
              <a:rPr sz="675" b="0" i="0">
                <a:solidFill>
                  <a:srgbClr val="72809A"/>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1BC1F007-6E4E-48C1-A4BF-E9B95C82FE21}"/>
              </a:ext>
            </a:extLst>
          </p:cNvPr>
          <p:cNvSpPr>
            <a:spLocks noGrp="1"/>
          </p:cNvSpPr>
          <p:nvPr/>
        </p:nvSpPr>
        <p:spPr>
          <a:xfrm>
            <a:off x="9750425" y="6419850"/>
            <a:ext cx="1755775" cy="47625"/>
          </a:xfrm>
          <a:prstGeom prst="rect">
            <a:avLst/>
          </a:prstGeom>
          <a:solidFill>
            <a:srgbClr val="29A36A"/>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5F554ED1-3A3F-4F54-859B-25B46D35B3A7}"/>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1" i="0">
                <a:solidFill>
                  <a:srgbClr val="29A36A"/>
                </a:solidFill>
                <a:latin typeface="DejaVu Sans"/>
                <a:ea typeface="DejaVu Sans"/>
                <a:cs typeface="DejaVu Sans"/>
              </a:defRPr>
            </a:pPr>
            <a:r>
              <a:rPr sz="675" b="1" i="0">
                <a:solidFill>
                  <a:srgbClr val="29A36A"/>
                </a:solidFill>
                <a:latin typeface="DejaVu Sans"/>
                <a:ea typeface="DejaVu Sans"/>
                <a:cs typeface="DejaVu Sans"/>
              </a:rPr>
              <a:t>MAINTAIN</a:t>
            </a:r>
          </a:p>
        </p:txBody>
      </p:sp>
      <p:pic>
        <p:nvPicPr>
          <p:cNvPr id="46" name="Picture 45">
            <a:extLst>
              <a:ext uri="{FF2B5EF4-FFF2-40B4-BE49-F238E27FC236}">
                <a16:creationId xmlns:a16="http://schemas.microsoft.com/office/drawing/2014/main" id="{3F6A3AF8-29E9-39D5-BB04-27A4DF307260}"/>
              </a:ext>
            </a:extLst>
          </p:cNvPr>
          <p:cNvPicPr>
            <a:picLocks noChangeAspect="1"/>
          </p:cNvPicPr>
          <p:nvPr/>
        </p:nvPicPr>
        <p:blipFill>
          <a:blip r:embed="rId3"/>
          <a:stretch>
            <a:fillRect/>
          </a:stretch>
        </p:blipFill>
        <p:spPr>
          <a:xfrm>
            <a:off x="6258886" y="476250"/>
            <a:ext cx="4666544" cy="5366812"/>
          </a:xfrm>
          <a:prstGeom prst="rect">
            <a:avLst/>
          </a:prstGeom>
        </p:spPr>
      </p:pic>
      <p:sp>
        <p:nvSpPr>
          <p:cNvPr id="48" name="TextBox 47">
            <a:extLst>
              <a:ext uri="{FF2B5EF4-FFF2-40B4-BE49-F238E27FC236}">
                <a16:creationId xmlns:a16="http://schemas.microsoft.com/office/drawing/2014/main" id="{F26EADCD-F7A0-9248-ED06-6C398E34E4B1}"/>
              </a:ext>
            </a:extLst>
          </p:cNvPr>
          <p:cNvSpPr txBox="1"/>
          <p:nvPr/>
        </p:nvSpPr>
        <p:spPr>
          <a:xfrm>
            <a:off x="534987" y="1866720"/>
            <a:ext cx="6096000" cy="1200329"/>
          </a:xfrm>
          <a:prstGeom prst="rect">
            <a:avLst/>
          </a:prstGeom>
          <a:noFill/>
        </p:spPr>
        <p:txBody>
          <a:bodyPr wrap="square">
            <a:spAutoFit/>
          </a:bodyPr>
          <a:lstStyle/>
          <a:p>
            <a:r>
              <a:rPr lang="en-US" dirty="0">
                <a:solidFill>
                  <a:schemeClr val="bg2"/>
                </a:solidFill>
              </a:rPr>
              <a:t>Maintain can run “headless”: a schedule, alert, ticket, or message starts the process without someone manually prompting AI. The resulting work still passes through independent gates and human review. </a:t>
            </a:r>
          </a:p>
        </p:txBody>
      </p:sp>
    </p:spTree>
    <p:extLst>
      <p:ext uri="{BB962C8B-B14F-4D97-AF65-F5344CB8AC3E}">
        <p14:creationId xmlns:p14="http://schemas.microsoft.com/office/powerpoint/2010/main" val="1113822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10307EC7-135F-4298-BC41-65B5D8536C30}"/>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DIFFERENT CONTROLS DO DIFFERENT JOBS</a:t>
            </a:r>
          </a:p>
        </p:txBody>
      </p:sp>
      <p:sp>
        <p:nvSpPr>
          <p:cNvPr id="2" name="Rectangle 1">
            <a:extLst>
              <a:ext uri="{FF2B5EF4-FFF2-40B4-BE49-F238E27FC236}">
                <a16:creationId xmlns:a16="http://schemas.microsoft.com/office/drawing/2014/main" id="{484B3613-13A5-4C5C-AC6A-E784879164EE}"/>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Three control layers</a:t>
            </a:r>
          </a:p>
        </p:txBody>
      </p:sp>
      <p:sp>
        <p:nvSpPr>
          <p:cNvPr id="3" name="Rectangle 2">
            <a:extLst>
              <a:ext uri="{FF2B5EF4-FFF2-40B4-BE49-F238E27FC236}">
                <a16:creationId xmlns:a16="http://schemas.microsoft.com/office/drawing/2014/main" id="{8301CF7B-5937-409A-A8B4-1C987CADBADA}"/>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8E673559-E0E5-4144-B6C0-E559C28FDE90}"/>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18</a:t>
            </a:r>
          </a:p>
        </p:txBody>
      </p:sp>
      <p:sp>
        <p:nvSpPr>
          <p:cNvPr id="5" name="Rectangle 4">
            <a:extLst>
              <a:ext uri="{FF2B5EF4-FFF2-40B4-BE49-F238E27FC236}">
                <a16:creationId xmlns:a16="http://schemas.microsoft.com/office/drawing/2014/main" id="{CDD4CCE5-E01B-46E8-80F7-DC6B3D80ED2C}"/>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11DC673F-D528-435D-AD96-87FE2EF66B26}"/>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47B81BDA-4DD3-4218-9686-C0759BF2BD24}"/>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F626AB15-A779-449F-ABE7-EAB307A04A3E}"/>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74DF5F73-606F-482E-A8F2-E47023DB6B45}"/>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3194293-E1EC-47A3-9875-8FF446571129}"/>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F83492E3-FE10-462B-A5A5-01EAB68AB60F}"/>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5C21CA13-38AA-4287-9680-4F0DED933F75}"/>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8788E6B7-7FE3-4F28-9E43-33B877945EE9}"/>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89E275C2-A4FA-42F0-A10D-419B29EA35F0}"/>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BB7C9241-05DC-4AF3-B059-B280B8C9E1DB}"/>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78AAD756-A9A5-4ABF-8CA2-1607F6BB2C4E}"/>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6FC0AA46-F2B3-47DB-80BB-6845A26B69A0}"/>
              </a:ext>
            </a:extLst>
          </p:cNvPr>
          <p:cNvSpPr>
            <a:spLocks noGrp="1"/>
          </p:cNvSpPr>
          <p:nvPr/>
        </p:nvSpPr>
        <p:spPr>
          <a:xfrm>
            <a:off x="685800" y="1466850"/>
            <a:ext cx="10820400" cy="933450"/>
          </a:xfrm>
          <a:prstGeom prst="roundRect">
            <a:avLst>
              <a:gd name="adj" fmla="val 18367"/>
            </a:avLst>
          </a:prstGeom>
          <a:solidFill>
            <a:srgbClr val="FFFFFF"/>
          </a:solidFill>
          <a:ln w="9525">
            <a:solidFill>
              <a:srgbClr val="D8DEE9"/>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371ACF10-9B35-4DA2-8222-A5FF82F07E51}"/>
              </a:ext>
            </a:extLst>
          </p:cNvPr>
          <p:cNvSpPr>
            <a:spLocks noGrp="1"/>
          </p:cNvSpPr>
          <p:nvPr/>
        </p:nvSpPr>
        <p:spPr>
          <a:xfrm>
            <a:off x="685800" y="1466850"/>
            <a:ext cx="133350" cy="933450"/>
          </a:xfrm>
          <a:prstGeom prst="roundRect">
            <a:avLst>
              <a:gd name="adj" fmla="val 50000"/>
            </a:avLst>
          </a:prstGeom>
          <a:solidFill>
            <a:srgbClr val="7457E8"/>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3599793A-6256-4376-8DDC-7AC99A04C236}"/>
              </a:ext>
            </a:extLst>
          </p:cNvPr>
          <p:cNvSpPr>
            <a:spLocks noGrp="1"/>
          </p:cNvSpPr>
          <p:nvPr/>
        </p:nvSpPr>
        <p:spPr>
          <a:xfrm>
            <a:off x="1047750" y="1657350"/>
            <a:ext cx="1809750" cy="190500"/>
          </a:xfrm>
          <a:prstGeom prst="rect">
            <a:avLst/>
          </a:prstGeom>
          <a:noFill/>
          <a:ln w="0">
            <a:noFill/>
          </a:ln>
        </p:spPr>
        <p:txBody>
          <a:bodyPr wrap="square" lIns="0" tIns="0" rIns="0" bIns="0" anchor="t">
            <a:normAutofit/>
          </a:bodyPr>
          <a:lstStyle/>
          <a:p>
            <a:pPr algn="l">
              <a:defRPr sz="900" b="1" i="0">
                <a:solidFill>
                  <a:srgbClr val="7457E8"/>
                </a:solidFill>
                <a:latin typeface="DejaVu Sans Mono"/>
                <a:ea typeface="DejaVu Sans Mono"/>
                <a:cs typeface="DejaVu Sans Mono"/>
              </a:defRPr>
            </a:pPr>
            <a:r>
              <a:rPr sz="900" b="1" i="0">
                <a:solidFill>
                  <a:srgbClr val="7457E8"/>
                </a:solidFill>
                <a:latin typeface="DejaVu Sans Mono"/>
                <a:ea typeface="DejaVu Sans Mono"/>
                <a:cs typeface="DejaVu Sans Mono"/>
              </a:rPr>
              <a:t>GUIDANCE</a:t>
            </a:r>
          </a:p>
        </p:txBody>
      </p:sp>
      <p:sp>
        <p:nvSpPr>
          <p:cNvPr id="20" name="Rectangle 19">
            <a:extLst>
              <a:ext uri="{FF2B5EF4-FFF2-40B4-BE49-F238E27FC236}">
                <a16:creationId xmlns:a16="http://schemas.microsoft.com/office/drawing/2014/main" id="{7182C9BF-0245-4F8A-9B1E-6EA8B06C1D63}"/>
              </a:ext>
            </a:extLst>
          </p:cNvPr>
          <p:cNvSpPr>
            <a:spLocks noGrp="1"/>
          </p:cNvSpPr>
          <p:nvPr/>
        </p:nvSpPr>
        <p:spPr>
          <a:xfrm>
            <a:off x="3048000" y="1638300"/>
            <a:ext cx="3429000" cy="285750"/>
          </a:xfrm>
          <a:prstGeom prst="rect">
            <a:avLst/>
          </a:prstGeom>
          <a:noFill/>
          <a:ln w="0">
            <a:noFill/>
          </a:ln>
        </p:spPr>
        <p:txBody>
          <a:bodyPr wrap="square" lIns="0" tIns="0" rIns="0" bIns="0" anchor="t">
            <a:normAutofit/>
          </a:bodyPr>
          <a:lstStyle/>
          <a:p>
            <a:pPr algn="l">
              <a:defRPr sz="1500" b="1" i="0">
                <a:solidFill>
                  <a:srgbClr val="111827"/>
                </a:solidFill>
                <a:latin typeface="DejaVu Sans"/>
                <a:ea typeface="DejaVu Sans"/>
                <a:cs typeface="DejaVu Sans"/>
              </a:defRPr>
            </a:pPr>
            <a:r>
              <a:rPr lang="en-US" sz="1500" b="1" i="0" dirty="0">
                <a:solidFill>
                  <a:srgbClr val="111827"/>
                </a:solidFill>
                <a:latin typeface="DejaVu Sans"/>
                <a:ea typeface="DejaVu Sans"/>
                <a:cs typeface="DejaVu Sans"/>
              </a:rPr>
              <a:t>AGENTS</a:t>
            </a:r>
            <a:r>
              <a:rPr sz="1500" b="1" i="0" dirty="0">
                <a:solidFill>
                  <a:srgbClr val="111827"/>
                </a:solidFill>
                <a:latin typeface="DejaVu Sans"/>
                <a:ea typeface="DejaVu Sans"/>
                <a:cs typeface="DejaVu Sans"/>
              </a:rPr>
              <a:t>.md and Skills</a:t>
            </a:r>
          </a:p>
        </p:txBody>
      </p:sp>
      <p:sp>
        <p:nvSpPr>
          <p:cNvPr id="21" name="Rectangle 20">
            <a:extLst>
              <a:ext uri="{FF2B5EF4-FFF2-40B4-BE49-F238E27FC236}">
                <a16:creationId xmlns:a16="http://schemas.microsoft.com/office/drawing/2014/main" id="{CB5C7875-9BDE-4D16-8014-C51B334E622E}"/>
              </a:ext>
            </a:extLst>
          </p:cNvPr>
          <p:cNvSpPr>
            <a:spLocks noGrp="1"/>
          </p:cNvSpPr>
          <p:nvPr/>
        </p:nvSpPr>
        <p:spPr>
          <a:xfrm>
            <a:off x="6724650" y="1638300"/>
            <a:ext cx="4476750" cy="419100"/>
          </a:xfrm>
          <a:prstGeom prst="rect">
            <a:avLst/>
          </a:prstGeom>
          <a:noFill/>
          <a:ln w="0">
            <a:noFill/>
          </a:ln>
        </p:spPr>
        <p:txBody>
          <a:bodyPr wrap="square" lIns="0" tIns="0" rIns="0" bIns="0" anchor="t">
            <a:normAutofit/>
          </a:bodyPr>
          <a:lstStyle/>
          <a:p>
            <a:pPr algn="l">
              <a:defRPr sz="1125" b="0" i="0">
                <a:solidFill>
                  <a:srgbClr val="475569"/>
                </a:solidFill>
                <a:latin typeface="DejaVu Sans"/>
                <a:ea typeface="DejaVu Sans"/>
                <a:cs typeface="DejaVu Sans"/>
              </a:defRPr>
            </a:pPr>
            <a:r>
              <a:rPr sz="1125" b="0" i="0">
                <a:solidFill>
                  <a:srgbClr val="475569"/>
                </a:solidFill>
                <a:latin typeface="DejaVu Sans"/>
                <a:ea typeface="DejaVu Sans"/>
                <a:cs typeface="DejaVu Sans"/>
              </a:rPr>
              <a:t>Help the agent follow good practice</a:t>
            </a:r>
          </a:p>
        </p:txBody>
      </p:sp>
      <p:sp>
        <p:nvSpPr>
          <p:cNvPr id="22" name="Rectangle: Rounded Corners 21">
            <a:extLst>
              <a:ext uri="{FF2B5EF4-FFF2-40B4-BE49-F238E27FC236}">
                <a16:creationId xmlns:a16="http://schemas.microsoft.com/office/drawing/2014/main" id="{026DFCCC-E0C1-481E-9E19-6097EE1E651F}"/>
              </a:ext>
            </a:extLst>
          </p:cNvPr>
          <p:cNvSpPr>
            <a:spLocks noGrp="1"/>
          </p:cNvSpPr>
          <p:nvPr/>
        </p:nvSpPr>
        <p:spPr>
          <a:xfrm>
            <a:off x="685800" y="2667000"/>
            <a:ext cx="10820400" cy="933450"/>
          </a:xfrm>
          <a:prstGeom prst="roundRect">
            <a:avLst>
              <a:gd name="adj" fmla="val 18367"/>
            </a:avLst>
          </a:prstGeom>
          <a:solidFill>
            <a:srgbClr val="FFFFFF"/>
          </a:solidFill>
          <a:ln w="9525">
            <a:solidFill>
              <a:srgbClr val="D8DEE9"/>
            </a:solidFill>
            <a:prstDash val="solid"/>
          </a:ln>
        </p:spPr>
        <p:txBody>
          <a:bodyPr/>
          <a:lstStyle/>
          <a:p>
            <a:endParaRPr lang="en-US"/>
          </a:p>
        </p:txBody>
      </p:sp>
      <p:sp>
        <p:nvSpPr>
          <p:cNvPr id="23" name="Rectangle: Rounded Corners 22">
            <a:extLst>
              <a:ext uri="{FF2B5EF4-FFF2-40B4-BE49-F238E27FC236}">
                <a16:creationId xmlns:a16="http://schemas.microsoft.com/office/drawing/2014/main" id="{0B3656EC-01E4-47D1-A913-7C5AE6AF4503}"/>
              </a:ext>
            </a:extLst>
          </p:cNvPr>
          <p:cNvSpPr>
            <a:spLocks noGrp="1"/>
          </p:cNvSpPr>
          <p:nvPr/>
        </p:nvSpPr>
        <p:spPr>
          <a:xfrm>
            <a:off x="685800" y="2667000"/>
            <a:ext cx="133350" cy="933450"/>
          </a:xfrm>
          <a:prstGeom prst="roundRect">
            <a:avLst>
              <a:gd name="adj" fmla="val 50000"/>
            </a:avLst>
          </a:prstGeom>
          <a:solidFill>
            <a:srgbClr val="FF8066"/>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B6E62CCB-0961-4E15-8BFC-8D18FB66EBA0}"/>
              </a:ext>
            </a:extLst>
          </p:cNvPr>
          <p:cNvSpPr>
            <a:spLocks noGrp="1"/>
          </p:cNvSpPr>
          <p:nvPr/>
        </p:nvSpPr>
        <p:spPr>
          <a:xfrm>
            <a:off x="1047750" y="2857500"/>
            <a:ext cx="1809750" cy="190500"/>
          </a:xfrm>
          <a:prstGeom prst="rect">
            <a:avLst/>
          </a:prstGeom>
          <a:noFill/>
          <a:ln w="0">
            <a:noFill/>
          </a:ln>
        </p:spPr>
        <p:txBody>
          <a:bodyPr wrap="square" lIns="0" tIns="0" rIns="0" bIns="0" anchor="t">
            <a:normAutofit/>
          </a:bodyPr>
          <a:lstStyle/>
          <a:p>
            <a:pPr algn="l">
              <a:defRPr sz="900" b="1" i="0">
                <a:solidFill>
                  <a:srgbClr val="FF8066"/>
                </a:solidFill>
                <a:latin typeface="DejaVu Sans Mono"/>
                <a:ea typeface="DejaVu Sans Mono"/>
                <a:cs typeface="DejaVu Sans Mono"/>
              </a:defRPr>
            </a:pPr>
            <a:r>
              <a:rPr sz="900" b="1" i="0">
                <a:solidFill>
                  <a:srgbClr val="FF8066"/>
                </a:solidFill>
                <a:latin typeface="DejaVu Sans Mono"/>
                <a:ea typeface="DejaVu Sans Mono"/>
                <a:cs typeface="DejaVu Sans Mono"/>
              </a:rPr>
              <a:t>ENFORCEMENT</a:t>
            </a:r>
          </a:p>
        </p:txBody>
      </p:sp>
      <p:sp>
        <p:nvSpPr>
          <p:cNvPr id="25" name="Rectangle 24">
            <a:extLst>
              <a:ext uri="{FF2B5EF4-FFF2-40B4-BE49-F238E27FC236}">
                <a16:creationId xmlns:a16="http://schemas.microsoft.com/office/drawing/2014/main" id="{84DB5D31-178E-4DF1-82AA-FCFEB1BA1BBB}"/>
              </a:ext>
            </a:extLst>
          </p:cNvPr>
          <p:cNvSpPr>
            <a:spLocks noGrp="1"/>
          </p:cNvSpPr>
          <p:nvPr/>
        </p:nvSpPr>
        <p:spPr>
          <a:xfrm>
            <a:off x="3048000" y="2838450"/>
            <a:ext cx="3429000" cy="285750"/>
          </a:xfrm>
          <a:prstGeom prst="rect">
            <a:avLst/>
          </a:prstGeom>
          <a:noFill/>
          <a:ln w="0">
            <a:noFill/>
          </a:ln>
        </p:spPr>
        <p:txBody>
          <a:bodyPr wrap="square" lIns="0" tIns="0" rIns="0" bIns="0" anchor="t">
            <a:normAutofit/>
          </a:bodyPr>
          <a:lstStyle/>
          <a:p>
            <a:pPr algn="l">
              <a:defRPr sz="1500" b="1" i="0">
                <a:solidFill>
                  <a:srgbClr val="111827"/>
                </a:solidFill>
                <a:latin typeface="DejaVu Sans"/>
                <a:ea typeface="DejaVu Sans"/>
                <a:cs typeface="DejaVu Sans"/>
              </a:defRPr>
            </a:pPr>
            <a:r>
              <a:rPr sz="1500" b="1" i="0">
                <a:solidFill>
                  <a:srgbClr val="111827"/>
                </a:solidFill>
                <a:latin typeface="DejaVu Sans"/>
                <a:ea typeface="DejaVu Sans"/>
                <a:cs typeface="DejaVu Sans"/>
              </a:rPr>
              <a:t>Hooks, permissions, sandbox</a:t>
            </a:r>
          </a:p>
        </p:txBody>
      </p:sp>
      <p:sp>
        <p:nvSpPr>
          <p:cNvPr id="26" name="Rectangle 25">
            <a:extLst>
              <a:ext uri="{FF2B5EF4-FFF2-40B4-BE49-F238E27FC236}">
                <a16:creationId xmlns:a16="http://schemas.microsoft.com/office/drawing/2014/main" id="{AACBF5CD-78CE-4738-925F-04C74E4F3890}"/>
              </a:ext>
            </a:extLst>
          </p:cNvPr>
          <p:cNvSpPr>
            <a:spLocks noGrp="1"/>
          </p:cNvSpPr>
          <p:nvPr/>
        </p:nvSpPr>
        <p:spPr>
          <a:xfrm>
            <a:off x="6724650" y="2838450"/>
            <a:ext cx="4476750" cy="419100"/>
          </a:xfrm>
          <a:prstGeom prst="rect">
            <a:avLst/>
          </a:prstGeom>
          <a:noFill/>
          <a:ln w="0">
            <a:noFill/>
          </a:ln>
        </p:spPr>
        <p:txBody>
          <a:bodyPr wrap="square" lIns="0" tIns="0" rIns="0" bIns="0" anchor="t">
            <a:normAutofit/>
          </a:bodyPr>
          <a:lstStyle/>
          <a:p>
            <a:pPr algn="l">
              <a:defRPr sz="1125" b="0" i="0">
                <a:solidFill>
                  <a:srgbClr val="475569"/>
                </a:solidFill>
                <a:latin typeface="DejaVu Sans"/>
                <a:ea typeface="DejaVu Sans"/>
                <a:cs typeface="DejaVu Sans"/>
              </a:defRPr>
            </a:pPr>
            <a:r>
              <a:rPr sz="1125" b="0" i="0">
                <a:solidFill>
                  <a:srgbClr val="475569"/>
                </a:solidFill>
                <a:latin typeface="DejaVu Sans"/>
                <a:ea typeface="DejaVu Sans"/>
                <a:cs typeface="DejaVu Sans"/>
              </a:rPr>
              <a:t>Stop actions that must never happen</a:t>
            </a:r>
          </a:p>
        </p:txBody>
      </p:sp>
      <p:sp>
        <p:nvSpPr>
          <p:cNvPr id="27" name="Rectangle: Rounded Corners 26">
            <a:extLst>
              <a:ext uri="{FF2B5EF4-FFF2-40B4-BE49-F238E27FC236}">
                <a16:creationId xmlns:a16="http://schemas.microsoft.com/office/drawing/2014/main" id="{E5D098E8-E929-4768-AD4C-61758D8FFC34}"/>
              </a:ext>
            </a:extLst>
          </p:cNvPr>
          <p:cNvSpPr>
            <a:spLocks noGrp="1"/>
          </p:cNvSpPr>
          <p:nvPr/>
        </p:nvSpPr>
        <p:spPr>
          <a:xfrm>
            <a:off x="685800" y="3867150"/>
            <a:ext cx="10820400" cy="933450"/>
          </a:xfrm>
          <a:prstGeom prst="roundRect">
            <a:avLst>
              <a:gd name="adj" fmla="val 18367"/>
            </a:avLst>
          </a:prstGeom>
          <a:solidFill>
            <a:srgbClr val="FFFFFF"/>
          </a:solidFill>
          <a:ln w="9525">
            <a:solidFill>
              <a:srgbClr val="D8DEE9"/>
            </a:solidFill>
            <a:prstDash val="solid"/>
          </a:ln>
        </p:spPr>
        <p:txBody>
          <a:bodyPr/>
          <a:lstStyle/>
          <a:p>
            <a:endParaRPr lang="en-US"/>
          </a:p>
        </p:txBody>
      </p:sp>
      <p:sp>
        <p:nvSpPr>
          <p:cNvPr id="28" name="Rectangle: Rounded Corners 27">
            <a:extLst>
              <a:ext uri="{FF2B5EF4-FFF2-40B4-BE49-F238E27FC236}">
                <a16:creationId xmlns:a16="http://schemas.microsoft.com/office/drawing/2014/main" id="{B2B77729-2BC8-4166-BEF8-F1D1C5919829}"/>
              </a:ext>
            </a:extLst>
          </p:cNvPr>
          <p:cNvSpPr>
            <a:spLocks noGrp="1"/>
          </p:cNvSpPr>
          <p:nvPr/>
        </p:nvSpPr>
        <p:spPr>
          <a:xfrm>
            <a:off x="685800" y="3867150"/>
            <a:ext cx="133350" cy="933450"/>
          </a:xfrm>
          <a:prstGeom prst="roundRect">
            <a:avLst>
              <a:gd name="adj" fmla="val 50000"/>
            </a:avLst>
          </a:prstGeom>
          <a:solidFill>
            <a:srgbClr val="29A36A"/>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87C13271-FBF3-4649-B4FE-C4C5D26F7E1B}"/>
              </a:ext>
            </a:extLst>
          </p:cNvPr>
          <p:cNvSpPr>
            <a:spLocks noGrp="1"/>
          </p:cNvSpPr>
          <p:nvPr/>
        </p:nvSpPr>
        <p:spPr>
          <a:xfrm>
            <a:off x="1047750" y="4057650"/>
            <a:ext cx="1809750" cy="190500"/>
          </a:xfrm>
          <a:prstGeom prst="rect">
            <a:avLst/>
          </a:prstGeom>
          <a:noFill/>
          <a:ln w="0">
            <a:noFill/>
          </a:ln>
        </p:spPr>
        <p:txBody>
          <a:bodyPr wrap="square" lIns="0" tIns="0" rIns="0" bIns="0" anchor="t">
            <a:normAutofit/>
          </a:bodyPr>
          <a:lstStyle/>
          <a:p>
            <a:pPr algn="l">
              <a:defRPr sz="900" b="1" i="0">
                <a:solidFill>
                  <a:srgbClr val="29A36A"/>
                </a:solidFill>
                <a:latin typeface="DejaVu Sans Mono"/>
                <a:ea typeface="DejaVu Sans Mono"/>
                <a:cs typeface="DejaVu Sans Mono"/>
              </a:defRPr>
            </a:pPr>
            <a:r>
              <a:rPr sz="900" b="1" i="0">
                <a:solidFill>
                  <a:srgbClr val="29A36A"/>
                </a:solidFill>
                <a:latin typeface="DejaVu Sans Mono"/>
                <a:ea typeface="DejaVu Sans Mono"/>
                <a:cs typeface="DejaVu Sans Mono"/>
              </a:rPr>
              <a:t>ACCOUNTABILITY</a:t>
            </a:r>
          </a:p>
        </p:txBody>
      </p:sp>
      <p:sp>
        <p:nvSpPr>
          <p:cNvPr id="30" name="Rectangle 29">
            <a:extLst>
              <a:ext uri="{FF2B5EF4-FFF2-40B4-BE49-F238E27FC236}">
                <a16:creationId xmlns:a16="http://schemas.microsoft.com/office/drawing/2014/main" id="{0365DA90-5501-44A3-AB7C-11EA6162250A}"/>
              </a:ext>
            </a:extLst>
          </p:cNvPr>
          <p:cNvSpPr>
            <a:spLocks noGrp="1"/>
          </p:cNvSpPr>
          <p:nvPr/>
        </p:nvSpPr>
        <p:spPr>
          <a:xfrm>
            <a:off x="3048000" y="4038600"/>
            <a:ext cx="3429000" cy="285750"/>
          </a:xfrm>
          <a:prstGeom prst="rect">
            <a:avLst/>
          </a:prstGeom>
          <a:noFill/>
          <a:ln w="0">
            <a:noFill/>
          </a:ln>
        </p:spPr>
        <p:txBody>
          <a:bodyPr wrap="square" lIns="0" tIns="0" rIns="0" bIns="0" anchor="t">
            <a:normAutofit/>
          </a:bodyPr>
          <a:lstStyle/>
          <a:p>
            <a:pPr algn="l">
              <a:defRPr sz="1500" b="1" i="0">
                <a:solidFill>
                  <a:srgbClr val="111827"/>
                </a:solidFill>
                <a:latin typeface="DejaVu Sans"/>
                <a:ea typeface="DejaVu Sans"/>
                <a:cs typeface="DejaVu Sans"/>
              </a:defRPr>
            </a:pPr>
            <a:r>
              <a:rPr sz="1500" b="1" i="0">
                <a:solidFill>
                  <a:srgbClr val="111827"/>
                </a:solidFill>
                <a:latin typeface="DejaVu Sans"/>
                <a:ea typeface="DejaVu Sans"/>
                <a:cs typeface="DejaVu Sans"/>
              </a:rPr>
              <a:t>Named human approvals</a:t>
            </a:r>
          </a:p>
        </p:txBody>
      </p:sp>
      <p:sp>
        <p:nvSpPr>
          <p:cNvPr id="31" name="Rectangle 30">
            <a:extLst>
              <a:ext uri="{FF2B5EF4-FFF2-40B4-BE49-F238E27FC236}">
                <a16:creationId xmlns:a16="http://schemas.microsoft.com/office/drawing/2014/main" id="{72ECDC51-8B21-432A-A795-E651EBAA52A3}"/>
              </a:ext>
            </a:extLst>
          </p:cNvPr>
          <p:cNvSpPr>
            <a:spLocks noGrp="1"/>
          </p:cNvSpPr>
          <p:nvPr/>
        </p:nvSpPr>
        <p:spPr>
          <a:xfrm>
            <a:off x="6724650" y="4038600"/>
            <a:ext cx="4476750" cy="419100"/>
          </a:xfrm>
          <a:prstGeom prst="rect">
            <a:avLst/>
          </a:prstGeom>
          <a:noFill/>
          <a:ln w="0">
            <a:noFill/>
          </a:ln>
        </p:spPr>
        <p:txBody>
          <a:bodyPr wrap="square" lIns="0" tIns="0" rIns="0" bIns="0" anchor="t">
            <a:normAutofit/>
          </a:bodyPr>
          <a:lstStyle/>
          <a:p>
            <a:pPr algn="l">
              <a:defRPr sz="1125" b="0" i="0">
                <a:solidFill>
                  <a:srgbClr val="475569"/>
                </a:solidFill>
                <a:latin typeface="DejaVu Sans"/>
                <a:ea typeface="DejaVu Sans"/>
                <a:cs typeface="DejaVu Sans"/>
              </a:defRPr>
            </a:pPr>
            <a:r>
              <a:rPr sz="1125" b="0" i="0">
                <a:solidFill>
                  <a:srgbClr val="475569"/>
                </a:solidFill>
                <a:latin typeface="DejaVu Sans"/>
                <a:ea typeface="DejaVu Sans"/>
                <a:cs typeface="DejaVu Sans"/>
              </a:rPr>
              <a:t>Decide risk and approve important outcomes</a:t>
            </a:r>
          </a:p>
        </p:txBody>
      </p:sp>
      <p:sp>
        <p:nvSpPr>
          <p:cNvPr id="32" name="Rectangle: Rounded Corners 31">
            <a:extLst>
              <a:ext uri="{FF2B5EF4-FFF2-40B4-BE49-F238E27FC236}">
                <a16:creationId xmlns:a16="http://schemas.microsoft.com/office/drawing/2014/main" id="{D0B605A7-F5AE-465E-84FE-AA55E89A7DF6}"/>
              </a:ext>
            </a:extLst>
          </p:cNvPr>
          <p:cNvSpPr>
            <a:spLocks noGrp="1"/>
          </p:cNvSpPr>
          <p:nvPr/>
        </p:nvSpPr>
        <p:spPr>
          <a:xfrm>
            <a:off x="1619250" y="4686300"/>
            <a:ext cx="8953500" cy="876300"/>
          </a:xfrm>
          <a:prstGeom prst="roundRect">
            <a:avLst>
              <a:gd name="adj" fmla="val 21739"/>
            </a:avLst>
          </a:prstGeom>
          <a:solidFill>
            <a:srgbClr val="0A1020"/>
          </a:solidFill>
          <a:ln w="9525">
            <a:solidFill>
              <a:srgbClr val="0A1020"/>
            </a:solidFill>
            <a:prstDash val="solid"/>
          </a:ln>
        </p:spPr>
        <p:txBody>
          <a:bodyPr/>
          <a:lstStyle/>
          <a:p>
            <a:endParaRPr lang="en-US"/>
          </a:p>
        </p:txBody>
      </p:sp>
      <p:sp>
        <p:nvSpPr>
          <p:cNvPr id="33" name="Rectangle 32">
            <a:extLst>
              <a:ext uri="{FF2B5EF4-FFF2-40B4-BE49-F238E27FC236}">
                <a16:creationId xmlns:a16="http://schemas.microsoft.com/office/drawing/2014/main" id="{894EA6C9-7B60-4791-96AE-FD18A4DECF66}"/>
              </a:ext>
            </a:extLst>
          </p:cNvPr>
          <p:cNvSpPr>
            <a:spLocks noGrp="1"/>
          </p:cNvSpPr>
          <p:nvPr/>
        </p:nvSpPr>
        <p:spPr>
          <a:xfrm>
            <a:off x="1905000" y="4876800"/>
            <a:ext cx="8382000" cy="266700"/>
          </a:xfrm>
          <a:prstGeom prst="rect">
            <a:avLst/>
          </a:prstGeom>
          <a:noFill/>
          <a:ln w="0">
            <a:noFill/>
          </a:ln>
        </p:spPr>
        <p:txBody>
          <a:bodyPr wrap="square" lIns="0" tIns="0" rIns="0" bIns="0" anchor="t">
            <a:normAutofit/>
          </a:bodyPr>
          <a:lstStyle/>
          <a:p>
            <a:pPr algn="ctr">
              <a:defRPr sz="1575" b="1" i="0">
                <a:solidFill>
                  <a:srgbClr val="FFFFFF"/>
                </a:solidFill>
                <a:latin typeface="DejaVu Sans"/>
                <a:ea typeface="DejaVu Sans"/>
                <a:cs typeface="DejaVu Sans"/>
              </a:defRPr>
            </a:pPr>
            <a:r>
              <a:rPr sz="1575" b="1" i="0">
                <a:solidFill>
                  <a:srgbClr val="FFFFFF"/>
                </a:solidFill>
                <a:latin typeface="DejaVu Sans"/>
                <a:ea typeface="DejaVu Sans"/>
                <a:cs typeface="DejaVu Sans"/>
              </a:rPr>
              <a:t>Good governance does not mean a human checks every line</a:t>
            </a:r>
          </a:p>
        </p:txBody>
      </p:sp>
      <p:sp>
        <p:nvSpPr>
          <p:cNvPr id="34" name="Rectangle 33">
            <a:extLst>
              <a:ext uri="{FF2B5EF4-FFF2-40B4-BE49-F238E27FC236}">
                <a16:creationId xmlns:a16="http://schemas.microsoft.com/office/drawing/2014/main" id="{030DD5F8-9807-4779-A53C-58D4F004258E}"/>
              </a:ext>
            </a:extLst>
          </p:cNvPr>
          <p:cNvSpPr>
            <a:spLocks noGrp="1"/>
          </p:cNvSpPr>
          <p:nvPr/>
        </p:nvSpPr>
        <p:spPr>
          <a:xfrm>
            <a:off x="1905000" y="5219700"/>
            <a:ext cx="8382000" cy="190500"/>
          </a:xfrm>
          <a:prstGeom prst="rect">
            <a:avLst/>
          </a:prstGeom>
          <a:noFill/>
          <a:ln w="0">
            <a:noFill/>
          </a:ln>
        </p:spPr>
        <p:txBody>
          <a:bodyPr wrap="square" lIns="0" tIns="0" rIns="0" bIns="0" anchor="t">
            <a:normAutofit/>
          </a:bodyPr>
          <a:lstStyle/>
          <a:p>
            <a:pPr algn="ctr">
              <a:defRPr sz="975" b="0" i="0">
                <a:solidFill>
                  <a:srgbClr val="D6E1F3"/>
                </a:solidFill>
                <a:latin typeface="DejaVu Sans"/>
                <a:ea typeface="DejaVu Sans"/>
                <a:cs typeface="DejaVu Sans"/>
              </a:defRPr>
            </a:pPr>
            <a:r>
              <a:rPr sz="975" b="0" i="0">
                <a:solidFill>
                  <a:srgbClr val="D6E1F3"/>
                </a:solidFill>
                <a:latin typeface="DejaVu Sans"/>
                <a:ea typeface="DejaVu Sans"/>
                <a:cs typeface="DejaVu Sans"/>
              </a:rPr>
              <a:t>It means the right control is applied at the right point</a:t>
            </a:r>
          </a:p>
        </p:txBody>
      </p:sp>
    </p:spTree>
    <p:extLst>
      <p:ext uri="{BB962C8B-B14F-4D97-AF65-F5344CB8AC3E}">
        <p14:creationId xmlns:p14="http://schemas.microsoft.com/office/powerpoint/2010/main" val="808400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E55F5A03-CCE8-451D-8197-5A2247CBE59E}"/>
              </a:ext>
            </a:extLst>
          </p:cNvPr>
          <p:cNvSpPr>
            <a:spLocks noGrp="1"/>
          </p:cNvSpPr>
          <p:nvPr/>
        </p:nvSpPr>
        <p:spPr>
          <a:xfrm>
            <a:off x="685800" y="323850"/>
            <a:ext cx="7239000" cy="190500"/>
          </a:xfrm>
          <a:prstGeom prst="rect">
            <a:avLst/>
          </a:prstGeom>
          <a:noFill/>
          <a:ln w="0">
            <a:noFill/>
          </a:ln>
        </p:spPr>
        <p:txBody>
          <a:bodyPr wrap="square" lIns="0" tIns="0" rIns="0" bIns="0" anchor="t">
            <a:normAutofit/>
          </a:bodyPr>
          <a:lstStyle/>
          <a:p>
            <a:pPr algn="l">
              <a:defRPr sz="900" b="1" i="0">
                <a:solidFill>
                  <a:srgbClr val="7457E8"/>
                </a:solidFill>
                <a:latin typeface="DejaVu Sans"/>
                <a:ea typeface="DejaVu Sans"/>
                <a:cs typeface="DejaVu Sans"/>
              </a:defRPr>
            </a:pPr>
            <a:r>
              <a:rPr sz="900" b="1" i="0">
                <a:solidFill>
                  <a:srgbClr val="7457E8"/>
                </a:solidFill>
                <a:latin typeface="DejaVu Sans"/>
                <a:ea typeface="DejaVu Sans"/>
                <a:cs typeface="DejaVu Sans"/>
              </a:rPr>
              <a:t>SUMMARY AND DISCUSSION</a:t>
            </a:r>
          </a:p>
        </p:txBody>
      </p:sp>
      <p:sp>
        <p:nvSpPr>
          <p:cNvPr id="2" name="Rectangle 1">
            <a:extLst>
              <a:ext uri="{FF2B5EF4-FFF2-40B4-BE49-F238E27FC236}">
                <a16:creationId xmlns:a16="http://schemas.microsoft.com/office/drawing/2014/main" id="{0D0794CF-8E8C-4A40-8B9B-44F53C8BBCEE}"/>
              </a:ext>
            </a:extLst>
          </p:cNvPr>
          <p:cNvSpPr>
            <a:spLocks noGrp="1"/>
          </p:cNvSpPr>
          <p:nvPr/>
        </p:nvSpPr>
        <p:spPr>
          <a:xfrm>
            <a:off x="685800" y="590550"/>
            <a:ext cx="10820400" cy="571500"/>
          </a:xfrm>
          <a:prstGeom prst="rect">
            <a:avLst/>
          </a:prstGeom>
          <a:noFill/>
          <a:ln w="0">
            <a:noFill/>
          </a:ln>
        </p:spPr>
        <p:txBody>
          <a:bodyPr wrap="square" lIns="0" tIns="0" rIns="0" bIns="0" anchor="t">
            <a:normAutofit/>
          </a:bodyPr>
          <a:lstStyle/>
          <a:p>
            <a:pPr algn="l">
              <a:defRPr sz="2700" b="1" i="0">
                <a:solidFill>
                  <a:srgbClr val="111827"/>
                </a:solidFill>
                <a:latin typeface="DejaVu Sans"/>
                <a:ea typeface="DejaVu Sans"/>
                <a:cs typeface="DejaVu Sans"/>
              </a:defRPr>
            </a:pPr>
            <a:r>
              <a:rPr sz="2700" b="1" i="0">
                <a:solidFill>
                  <a:srgbClr val="111827"/>
                </a:solidFill>
                <a:latin typeface="DejaVu Sans"/>
                <a:ea typeface="DejaVu Sans"/>
                <a:cs typeface="DejaVu Sans"/>
              </a:rPr>
              <a:t>Three points to remember</a:t>
            </a:r>
          </a:p>
        </p:txBody>
      </p:sp>
      <p:sp>
        <p:nvSpPr>
          <p:cNvPr id="3" name="Rectangle 2">
            <a:extLst>
              <a:ext uri="{FF2B5EF4-FFF2-40B4-BE49-F238E27FC236}">
                <a16:creationId xmlns:a16="http://schemas.microsoft.com/office/drawing/2014/main" id="{190B9E7C-9711-4885-8267-376B3CE5DFE3}"/>
              </a:ext>
            </a:extLst>
          </p:cNvPr>
          <p:cNvSpPr>
            <a:spLocks noGrp="1"/>
          </p:cNvSpPr>
          <p:nvPr/>
        </p:nvSpPr>
        <p:spPr>
          <a:xfrm>
            <a:off x="685800" y="6096000"/>
            <a:ext cx="3143250" cy="152400"/>
          </a:xfrm>
          <a:prstGeom prst="rect">
            <a:avLst/>
          </a:prstGeom>
          <a:noFill/>
          <a:ln w="0">
            <a:noFill/>
          </a:ln>
        </p:spPr>
        <p:txBody>
          <a:bodyPr wrap="square" lIns="0" tIns="0" rIns="0" bIns="0" anchor="t">
            <a:normAutofit/>
          </a:bodyPr>
          <a:lstStyle/>
          <a:p>
            <a:pPr algn="l">
              <a:defRPr sz="750" b="0" i="0">
                <a:solidFill>
                  <a:srgbClr val="64748B"/>
                </a:solidFill>
                <a:latin typeface="DejaVu Sans"/>
                <a:ea typeface="DejaVu Sans"/>
                <a:cs typeface="DejaVu Sans"/>
              </a:defRPr>
            </a:pPr>
            <a:r>
              <a:rPr sz="750" b="0" i="0">
                <a:solidFill>
                  <a:srgbClr val="64748B"/>
                </a:solidFill>
                <a:latin typeface="DejaVu Sans"/>
                <a:ea typeface="DejaVu Sans"/>
                <a:cs typeface="DejaVu Sans"/>
              </a:rPr>
              <a:t>Claude Academy course share</a:t>
            </a:r>
          </a:p>
        </p:txBody>
      </p:sp>
      <p:sp>
        <p:nvSpPr>
          <p:cNvPr id="4" name="Rectangle 3">
            <a:extLst>
              <a:ext uri="{FF2B5EF4-FFF2-40B4-BE49-F238E27FC236}">
                <a16:creationId xmlns:a16="http://schemas.microsoft.com/office/drawing/2014/main" id="{AF8BC67D-251E-4053-9534-B81DD1F07B0B}"/>
              </a:ext>
            </a:extLst>
          </p:cNvPr>
          <p:cNvSpPr>
            <a:spLocks noGrp="1"/>
          </p:cNvSpPr>
          <p:nvPr/>
        </p:nvSpPr>
        <p:spPr>
          <a:xfrm>
            <a:off x="11144250" y="6096000"/>
            <a:ext cx="361950" cy="152400"/>
          </a:xfrm>
          <a:prstGeom prst="rect">
            <a:avLst/>
          </a:prstGeom>
          <a:noFill/>
          <a:ln w="0">
            <a:noFill/>
          </a:ln>
        </p:spPr>
        <p:txBody>
          <a:bodyPr wrap="square" lIns="0" tIns="0" rIns="0" bIns="0" anchor="t">
            <a:normAutofit/>
          </a:bodyPr>
          <a:lstStyle/>
          <a:p>
            <a:pPr algn="r">
              <a:defRPr sz="750" b="0" i="0">
                <a:solidFill>
                  <a:srgbClr val="64748B"/>
                </a:solidFill>
                <a:latin typeface="DejaVu Sans Mono"/>
                <a:ea typeface="DejaVu Sans Mono"/>
                <a:cs typeface="DejaVu Sans Mono"/>
              </a:defRPr>
            </a:pPr>
            <a:r>
              <a:rPr sz="750" b="0" i="0">
                <a:solidFill>
                  <a:srgbClr val="64748B"/>
                </a:solidFill>
                <a:latin typeface="DejaVu Sans Mono"/>
                <a:ea typeface="DejaVu Sans Mono"/>
                <a:cs typeface="DejaVu Sans Mono"/>
              </a:rPr>
              <a:t>21</a:t>
            </a:r>
          </a:p>
        </p:txBody>
      </p:sp>
      <p:sp>
        <p:nvSpPr>
          <p:cNvPr id="5" name="Rectangle 4">
            <a:extLst>
              <a:ext uri="{FF2B5EF4-FFF2-40B4-BE49-F238E27FC236}">
                <a16:creationId xmlns:a16="http://schemas.microsoft.com/office/drawing/2014/main" id="{048B4672-1FA1-45C9-AFDE-2C34B8864A0B}"/>
              </a:ext>
            </a:extLst>
          </p:cNvPr>
          <p:cNvSpPr>
            <a:spLocks noGrp="1"/>
          </p:cNvSpPr>
          <p:nvPr/>
        </p:nvSpPr>
        <p:spPr>
          <a:xfrm>
            <a:off x="685800" y="6419850"/>
            <a:ext cx="1755775" cy="47625"/>
          </a:xfrm>
          <a:prstGeom prst="rect">
            <a:avLst/>
          </a:prstGeom>
          <a:solidFill>
            <a:srgbClr val="DDE3EC"/>
          </a:solidFill>
          <a:ln w="0">
            <a:noFill/>
            <a:prstDash val="solid"/>
          </a:ln>
        </p:spPr>
        <p:txBody>
          <a:bodyPr/>
          <a:lstStyle/>
          <a:p>
            <a:endParaRPr lang="en-US"/>
          </a:p>
        </p:txBody>
      </p:sp>
      <p:sp>
        <p:nvSpPr>
          <p:cNvPr id="6" name="Rectangle 5">
            <a:extLst>
              <a:ext uri="{FF2B5EF4-FFF2-40B4-BE49-F238E27FC236}">
                <a16:creationId xmlns:a16="http://schemas.microsoft.com/office/drawing/2014/main" id="{798E257C-234E-4BFC-BD3E-A9B8440A438B}"/>
              </a:ext>
            </a:extLst>
          </p:cNvPr>
          <p:cNvSpPr>
            <a:spLocks noGrp="1"/>
          </p:cNvSpPr>
          <p:nvPr/>
        </p:nvSpPr>
        <p:spPr>
          <a:xfrm>
            <a:off x="6858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PLAN</a:t>
            </a:r>
          </a:p>
        </p:txBody>
      </p:sp>
      <p:sp>
        <p:nvSpPr>
          <p:cNvPr id="7" name="Rectangle 6">
            <a:extLst>
              <a:ext uri="{FF2B5EF4-FFF2-40B4-BE49-F238E27FC236}">
                <a16:creationId xmlns:a16="http://schemas.microsoft.com/office/drawing/2014/main" id="{4CF46906-A0A4-4ABD-AB32-4C5CB3BAF4D4}"/>
              </a:ext>
            </a:extLst>
          </p:cNvPr>
          <p:cNvSpPr>
            <a:spLocks noGrp="1"/>
          </p:cNvSpPr>
          <p:nvPr/>
        </p:nvSpPr>
        <p:spPr>
          <a:xfrm>
            <a:off x="2498725" y="6419850"/>
            <a:ext cx="1755775" cy="47625"/>
          </a:xfrm>
          <a:prstGeom prst="rect">
            <a:avLst/>
          </a:prstGeom>
          <a:solidFill>
            <a:srgbClr val="DDE3EC"/>
          </a:solidFill>
          <a:ln w="0">
            <a:noFill/>
            <a:prstDash val="solid"/>
          </a:ln>
        </p:spPr>
        <p:txBody>
          <a:bodyPr/>
          <a:lstStyle/>
          <a:p>
            <a:endParaRPr lang="en-US"/>
          </a:p>
        </p:txBody>
      </p:sp>
      <p:sp>
        <p:nvSpPr>
          <p:cNvPr id="8" name="Rectangle 7">
            <a:extLst>
              <a:ext uri="{FF2B5EF4-FFF2-40B4-BE49-F238E27FC236}">
                <a16:creationId xmlns:a16="http://schemas.microsoft.com/office/drawing/2014/main" id="{63874345-5C5E-4B08-AC3C-5BF721099087}"/>
              </a:ext>
            </a:extLst>
          </p:cNvPr>
          <p:cNvSpPr>
            <a:spLocks noGrp="1"/>
          </p:cNvSpPr>
          <p:nvPr/>
        </p:nvSpPr>
        <p:spPr>
          <a:xfrm>
            <a:off x="24987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DESIGN</a:t>
            </a:r>
          </a:p>
        </p:txBody>
      </p:sp>
      <p:sp>
        <p:nvSpPr>
          <p:cNvPr id="9" name="Rectangle 8">
            <a:extLst>
              <a:ext uri="{FF2B5EF4-FFF2-40B4-BE49-F238E27FC236}">
                <a16:creationId xmlns:a16="http://schemas.microsoft.com/office/drawing/2014/main" id="{759C2C27-08C1-4A68-886C-D411CB015396}"/>
              </a:ext>
            </a:extLst>
          </p:cNvPr>
          <p:cNvSpPr>
            <a:spLocks noGrp="1"/>
          </p:cNvSpPr>
          <p:nvPr/>
        </p:nvSpPr>
        <p:spPr>
          <a:xfrm>
            <a:off x="4311650" y="6419850"/>
            <a:ext cx="1755775" cy="47625"/>
          </a:xfrm>
          <a:prstGeom prst="rect">
            <a:avLst/>
          </a:prstGeom>
          <a:solidFill>
            <a:srgbClr val="DDE3E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074D305D-4396-46FE-B3A7-040D8C978796}"/>
              </a:ext>
            </a:extLst>
          </p:cNvPr>
          <p:cNvSpPr>
            <a:spLocks noGrp="1"/>
          </p:cNvSpPr>
          <p:nvPr/>
        </p:nvSpPr>
        <p:spPr>
          <a:xfrm>
            <a:off x="431165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BUILD</a:t>
            </a:r>
          </a:p>
        </p:txBody>
      </p:sp>
      <p:sp>
        <p:nvSpPr>
          <p:cNvPr id="11" name="Rectangle 10">
            <a:extLst>
              <a:ext uri="{FF2B5EF4-FFF2-40B4-BE49-F238E27FC236}">
                <a16:creationId xmlns:a16="http://schemas.microsoft.com/office/drawing/2014/main" id="{63C22E57-E92B-4FAF-96F4-E6C1F01A5C1C}"/>
              </a:ext>
            </a:extLst>
          </p:cNvPr>
          <p:cNvSpPr>
            <a:spLocks noGrp="1"/>
          </p:cNvSpPr>
          <p:nvPr/>
        </p:nvSpPr>
        <p:spPr>
          <a:xfrm>
            <a:off x="6124575" y="6419850"/>
            <a:ext cx="1755775" cy="47625"/>
          </a:xfrm>
          <a:prstGeom prst="rect">
            <a:avLst/>
          </a:prstGeom>
          <a:solidFill>
            <a:srgbClr val="DDE3E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E95A297-22A5-4744-83E8-F92674F18E1C}"/>
              </a:ext>
            </a:extLst>
          </p:cNvPr>
          <p:cNvSpPr>
            <a:spLocks noGrp="1"/>
          </p:cNvSpPr>
          <p:nvPr/>
        </p:nvSpPr>
        <p:spPr>
          <a:xfrm>
            <a:off x="612457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TEST</a:t>
            </a:r>
          </a:p>
        </p:txBody>
      </p:sp>
      <p:sp>
        <p:nvSpPr>
          <p:cNvPr id="13" name="Rectangle 12">
            <a:extLst>
              <a:ext uri="{FF2B5EF4-FFF2-40B4-BE49-F238E27FC236}">
                <a16:creationId xmlns:a16="http://schemas.microsoft.com/office/drawing/2014/main" id="{D8E23FC6-40C5-41F7-AEF0-5E9555C74936}"/>
              </a:ext>
            </a:extLst>
          </p:cNvPr>
          <p:cNvSpPr>
            <a:spLocks noGrp="1"/>
          </p:cNvSpPr>
          <p:nvPr/>
        </p:nvSpPr>
        <p:spPr>
          <a:xfrm>
            <a:off x="7937500" y="6419850"/>
            <a:ext cx="1755775" cy="47625"/>
          </a:xfrm>
          <a:prstGeom prst="rect">
            <a:avLst/>
          </a:prstGeom>
          <a:solidFill>
            <a:srgbClr val="DDE3E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4FEAEBF8-88AB-434E-88F1-DB6D2E7F791B}"/>
              </a:ext>
            </a:extLst>
          </p:cNvPr>
          <p:cNvSpPr>
            <a:spLocks noGrp="1"/>
          </p:cNvSpPr>
          <p:nvPr/>
        </p:nvSpPr>
        <p:spPr>
          <a:xfrm>
            <a:off x="7937500"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DEPLOY</a:t>
            </a:r>
          </a:p>
        </p:txBody>
      </p:sp>
      <p:sp>
        <p:nvSpPr>
          <p:cNvPr id="15" name="Rectangle 14">
            <a:extLst>
              <a:ext uri="{FF2B5EF4-FFF2-40B4-BE49-F238E27FC236}">
                <a16:creationId xmlns:a16="http://schemas.microsoft.com/office/drawing/2014/main" id="{880A6614-F166-4C7C-9D82-7241A9BCF81A}"/>
              </a:ext>
            </a:extLst>
          </p:cNvPr>
          <p:cNvSpPr>
            <a:spLocks noGrp="1"/>
          </p:cNvSpPr>
          <p:nvPr/>
        </p:nvSpPr>
        <p:spPr>
          <a:xfrm>
            <a:off x="9750425" y="6419850"/>
            <a:ext cx="1755775" cy="47625"/>
          </a:xfrm>
          <a:prstGeom prst="rect">
            <a:avLst/>
          </a:prstGeom>
          <a:solidFill>
            <a:srgbClr val="DDE3E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1B7E6C0B-D1BD-412E-89F0-04451BA7781C}"/>
              </a:ext>
            </a:extLst>
          </p:cNvPr>
          <p:cNvSpPr>
            <a:spLocks noGrp="1"/>
          </p:cNvSpPr>
          <p:nvPr/>
        </p:nvSpPr>
        <p:spPr>
          <a:xfrm>
            <a:off x="9750425" y="6267450"/>
            <a:ext cx="1755775" cy="114300"/>
          </a:xfrm>
          <a:prstGeom prst="rect">
            <a:avLst/>
          </a:prstGeom>
          <a:noFill/>
          <a:ln w="0">
            <a:noFill/>
          </a:ln>
        </p:spPr>
        <p:txBody>
          <a:bodyPr wrap="square" lIns="0" tIns="0" rIns="0" bIns="0" anchor="t">
            <a:normAutofit/>
          </a:bodyPr>
          <a:lstStyle/>
          <a:p>
            <a:pPr algn="ctr">
              <a:defRPr sz="675" b="0" i="0">
                <a:solidFill>
                  <a:srgbClr val="64748B"/>
                </a:solidFill>
                <a:latin typeface="DejaVu Sans"/>
                <a:ea typeface="DejaVu Sans"/>
                <a:cs typeface="DejaVu Sans"/>
              </a:defRPr>
            </a:pPr>
            <a:r>
              <a:rPr sz="675" b="0" i="0">
                <a:solidFill>
                  <a:srgbClr val="64748B"/>
                </a:solidFill>
                <a:latin typeface="DejaVu Sans"/>
                <a:ea typeface="DejaVu Sans"/>
                <a:cs typeface="DejaVu Sans"/>
              </a:rPr>
              <a:t>MAINTAIN</a:t>
            </a:r>
          </a:p>
        </p:txBody>
      </p:sp>
      <p:sp>
        <p:nvSpPr>
          <p:cNvPr id="17" name="Rectangle: Rounded Corners 16">
            <a:extLst>
              <a:ext uri="{FF2B5EF4-FFF2-40B4-BE49-F238E27FC236}">
                <a16:creationId xmlns:a16="http://schemas.microsoft.com/office/drawing/2014/main" id="{A66CF28C-D640-40F1-9682-353F18C8949A}"/>
              </a:ext>
            </a:extLst>
          </p:cNvPr>
          <p:cNvSpPr>
            <a:spLocks noGrp="1"/>
          </p:cNvSpPr>
          <p:nvPr/>
        </p:nvSpPr>
        <p:spPr>
          <a:xfrm>
            <a:off x="685800" y="1466850"/>
            <a:ext cx="3371850" cy="2381250"/>
          </a:xfrm>
          <a:prstGeom prst="roundRect">
            <a:avLst>
              <a:gd name="adj" fmla="val 7200"/>
            </a:avLst>
          </a:prstGeom>
          <a:solidFill>
            <a:srgbClr val="FFFFFF"/>
          </a:solidFill>
          <a:ln w="9525">
            <a:solidFill>
              <a:srgbClr val="D8DEE9"/>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8424425C-4248-41C4-9139-B6FBD0524C9E}"/>
              </a:ext>
            </a:extLst>
          </p:cNvPr>
          <p:cNvSpPr>
            <a:spLocks noGrp="1"/>
          </p:cNvSpPr>
          <p:nvPr/>
        </p:nvSpPr>
        <p:spPr>
          <a:xfrm>
            <a:off x="685800" y="1466850"/>
            <a:ext cx="95250" cy="2381250"/>
          </a:xfrm>
          <a:prstGeom prst="roundRect">
            <a:avLst>
              <a:gd name="adj" fmla="val 50000"/>
            </a:avLst>
          </a:prstGeom>
          <a:solidFill>
            <a:srgbClr val="FF806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6C828D56-E3BF-439E-932A-CFDDF54AAD75}"/>
              </a:ext>
            </a:extLst>
          </p:cNvPr>
          <p:cNvSpPr>
            <a:spLocks noGrp="1"/>
          </p:cNvSpPr>
          <p:nvPr/>
        </p:nvSpPr>
        <p:spPr>
          <a:xfrm>
            <a:off x="933450" y="1676400"/>
            <a:ext cx="2914650" cy="323850"/>
          </a:xfrm>
          <a:prstGeom prst="rect">
            <a:avLst/>
          </a:prstGeom>
          <a:noFill/>
          <a:ln w="0">
            <a:noFill/>
          </a:ln>
        </p:spPr>
        <p:txBody>
          <a:bodyPr wrap="square" lIns="0" tIns="0" rIns="0" bIns="0" anchor="t">
            <a:normAutofit fontScale="78336" lnSpcReduction="20000"/>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1. Faster code moves the bottleneck</a:t>
            </a:r>
          </a:p>
        </p:txBody>
      </p:sp>
      <p:sp>
        <p:nvSpPr>
          <p:cNvPr id="20" name="Rectangle 19">
            <a:extLst>
              <a:ext uri="{FF2B5EF4-FFF2-40B4-BE49-F238E27FC236}">
                <a16:creationId xmlns:a16="http://schemas.microsoft.com/office/drawing/2014/main" id="{D997F5FB-8A19-42CE-AEE2-4EEC9FBC56A2}"/>
              </a:ext>
            </a:extLst>
          </p:cNvPr>
          <p:cNvSpPr>
            <a:spLocks noGrp="1"/>
          </p:cNvSpPr>
          <p:nvPr/>
        </p:nvSpPr>
        <p:spPr>
          <a:xfrm>
            <a:off x="933450" y="2114550"/>
            <a:ext cx="2914650" cy="154305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Planning, review, release, and operations also need to change.</a:t>
            </a:r>
          </a:p>
        </p:txBody>
      </p:sp>
      <p:sp>
        <p:nvSpPr>
          <p:cNvPr id="21" name="Rectangle: Rounded Corners 20">
            <a:extLst>
              <a:ext uri="{FF2B5EF4-FFF2-40B4-BE49-F238E27FC236}">
                <a16:creationId xmlns:a16="http://schemas.microsoft.com/office/drawing/2014/main" id="{9CF20FC6-53CE-45B5-8ACD-44F30F5DF21B}"/>
              </a:ext>
            </a:extLst>
          </p:cNvPr>
          <p:cNvSpPr>
            <a:spLocks noGrp="1"/>
          </p:cNvSpPr>
          <p:nvPr/>
        </p:nvSpPr>
        <p:spPr>
          <a:xfrm>
            <a:off x="4410075" y="1466850"/>
            <a:ext cx="3371850" cy="2381250"/>
          </a:xfrm>
          <a:prstGeom prst="roundRect">
            <a:avLst>
              <a:gd name="adj" fmla="val 7200"/>
            </a:avLst>
          </a:prstGeom>
          <a:solidFill>
            <a:srgbClr val="FFFFFF"/>
          </a:solidFill>
          <a:ln w="9525">
            <a:solidFill>
              <a:srgbClr val="D8DEE9"/>
            </a:solidFill>
            <a:prstDash val="solid"/>
          </a:ln>
        </p:spPr>
        <p:txBody>
          <a:bodyPr/>
          <a:lstStyle/>
          <a:p>
            <a:endParaRPr lang="en-US"/>
          </a:p>
        </p:txBody>
      </p:sp>
      <p:sp>
        <p:nvSpPr>
          <p:cNvPr id="22" name="Rectangle: Rounded Corners 21">
            <a:extLst>
              <a:ext uri="{FF2B5EF4-FFF2-40B4-BE49-F238E27FC236}">
                <a16:creationId xmlns:a16="http://schemas.microsoft.com/office/drawing/2014/main" id="{752B5134-63EB-4B79-A71C-B740FC7558D2}"/>
              </a:ext>
            </a:extLst>
          </p:cNvPr>
          <p:cNvSpPr>
            <a:spLocks noGrp="1"/>
          </p:cNvSpPr>
          <p:nvPr/>
        </p:nvSpPr>
        <p:spPr>
          <a:xfrm>
            <a:off x="4410075" y="1466850"/>
            <a:ext cx="95250" cy="2381250"/>
          </a:xfrm>
          <a:prstGeom prst="roundRect">
            <a:avLst>
              <a:gd name="adj" fmla="val 50000"/>
            </a:avLst>
          </a:prstGeom>
          <a:solidFill>
            <a:srgbClr val="7457E8"/>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7DC65822-502E-428B-ABCB-BEE51FC67190}"/>
              </a:ext>
            </a:extLst>
          </p:cNvPr>
          <p:cNvSpPr>
            <a:spLocks noGrp="1"/>
          </p:cNvSpPr>
          <p:nvPr/>
        </p:nvSpPr>
        <p:spPr>
          <a:xfrm>
            <a:off x="4657725" y="1676400"/>
            <a:ext cx="2914650" cy="323850"/>
          </a:xfrm>
          <a:prstGeom prst="rect">
            <a:avLst/>
          </a:prstGeom>
          <a:noFill/>
          <a:ln w="0">
            <a:noFill/>
          </a:ln>
        </p:spPr>
        <p:txBody>
          <a:bodyPr wrap="square" lIns="0" tIns="0" rIns="0" bIns="0" anchor="t">
            <a:normAutofit fontScale="88840"/>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2. Artifacts connect the work</a:t>
            </a:r>
          </a:p>
        </p:txBody>
      </p:sp>
      <p:sp>
        <p:nvSpPr>
          <p:cNvPr id="24" name="Rectangle 23">
            <a:extLst>
              <a:ext uri="{FF2B5EF4-FFF2-40B4-BE49-F238E27FC236}">
                <a16:creationId xmlns:a16="http://schemas.microsoft.com/office/drawing/2014/main" id="{BD9F163B-63A0-4443-9D90-9419597B6F80}"/>
              </a:ext>
            </a:extLst>
          </p:cNvPr>
          <p:cNvSpPr>
            <a:spLocks noGrp="1"/>
          </p:cNvSpPr>
          <p:nvPr/>
        </p:nvSpPr>
        <p:spPr>
          <a:xfrm>
            <a:off x="4657725" y="2114550"/>
            <a:ext cx="2914650" cy="154305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Saved files provide the handoff, the trigger, and the audit record.</a:t>
            </a:r>
          </a:p>
        </p:txBody>
      </p:sp>
      <p:sp>
        <p:nvSpPr>
          <p:cNvPr id="25" name="Rectangle: Rounded Corners 24">
            <a:extLst>
              <a:ext uri="{FF2B5EF4-FFF2-40B4-BE49-F238E27FC236}">
                <a16:creationId xmlns:a16="http://schemas.microsoft.com/office/drawing/2014/main" id="{29BEF4A9-48CB-496F-9356-FC414A3F4A98}"/>
              </a:ext>
            </a:extLst>
          </p:cNvPr>
          <p:cNvSpPr>
            <a:spLocks noGrp="1"/>
          </p:cNvSpPr>
          <p:nvPr/>
        </p:nvSpPr>
        <p:spPr>
          <a:xfrm>
            <a:off x="8134350" y="1466850"/>
            <a:ext cx="3371850" cy="2381250"/>
          </a:xfrm>
          <a:prstGeom prst="roundRect">
            <a:avLst>
              <a:gd name="adj" fmla="val 7200"/>
            </a:avLst>
          </a:prstGeom>
          <a:solidFill>
            <a:srgbClr val="FFFFFF"/>
          </a:solidFill>
          <a:ln w="9525">
            <a:solidFill>
              <a:srgbClr val="D8DEE9"/>
            </a:solidFill>
            <a:prstDash val="solid"/>
          </a:ln>
        </p:spPr>
        <p:txBody>
          <a:bodyPr/>
          <a:lstStyle/>
          <a:p>
            <a:endParaRPr lang="en-US"/>
          </a:p>
        </p:txBody>
      </p:sp>
      <p:sp>
        <p:nvSpPr>
          <p:cNvPr id="26" name="Rectangle: Rounded Corners 25">
            <a:extLst>
              <a:ext uri="{FF2B5EF4-FFF2-40B4-BE49-F238E27FC236}">
                <a16:creationId xmlns:a16="http://schemas.microsoft.com/office/drawing/2014/main" id="{45D3BECE-9B43-496C-B540-6C5F74B61359}"/>
              </a:ext>
            </a:extLst>
          </p:cNvPr>
          <p:cNvSpPr>
            <a:spLocks noGrp="1"/>
          </p:cNvSpPr>
          <p:nvPr/>
        </p:nvSpPr>
        <p:spPr>
          <a:xfrm>
            <a:off x="8134350" y="1466850"/>
            <a:ext cx="95250" cy="2381250"/>
          </a:xfrm>
          <a:prstGeom prst="roundRect">
            <a:avLst>
              <a:gd name="adj" fmla="val 50000"/>
            </a:avLst>
          </a:prstGeom>
          <a:solidFill>
            <a:srgbClr val="29A36A"/>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58EC2F20-7478-43B2-B2DE-7B311110598B}"/>
              </a:ext>
            </a:extLst>
          </p:cNvPr>
          <p:cNvSpPr>
            <a:spLocks noGrp="1"/>
          </p:cNvSpPr>
          <p:nvPr/>
        </p:nvSpPr>
        <p:spPr>
          <a:xfrm>
            <a:off x="8382000" y="1676400"/>
            <a:ext cx="2914650" cy="323850"/>
          </a:xfrm>
          <a:prstGeom prst="rect">
            <a:avLst/>
          </a:prstGeom>
          <a:noFill/>
          <a:ln w="0">
            <a:noFill/>
          </a:ln>
        </p:spPr>
        <p:txBody>
          <a:bodyPr wrap="square" lIns="0" tIns="0" rIns="0" bIns="0" anchor="t">
            <a:normAutofit fontScale="89512"/>
          </a:bodyPr>
          <a:lstStyle/>
          <a:p>
            <a:pPr algn="l">
              <a:defRPr sz="1575" b="1" i="0">
                <a:solidFill>
                  <a:srgbClr val="111827"/>
                </a:solidFill>
                <a:latin typeface="DejaVu Sans"/>
                <a:ea typeface="DejaVu Sans"/>
                <a:cs typeface="DejaVu Sans"/>
              </a:defRPr>
            </a:pPr>
            <a:r>
              <a:rPr sz="1575" b="1" i="0">
                <a:solidFill>
                  <a:srgbClr val="111827"/>
                </a:solidFill>
                <a:latin typeface="DejaVu Sans"/>
                <a:ea typeface="DejaVu Sans"/>
                <a:cs typeface="DejaVu Sans"/>
              </a:rPr>
              <a:t>3. Controls enable autonomy</a:t>
            </a:r>
          </a:p>
        </p:txBody>
      </p:sp>
      <p:sp>
        <p:nvSpPr>
          <p:cNvPr id="28" name="Rectangle 27">
            <a:extLst>
              <a:ext uri="{FF2B5EF4-FFF2-40B4-BE49-F238E27FC236}">
                <a16:creationId xmlns:a16="http://schemas.microsoft.com/office/drawing/2014/main" id="{495B736E-12CF-4451-8D85-4BED6109C362}"/>
              </a:ext>
            </a:extLst>
          </p:cNvPr>
          <p:cNvSpPr>
            <a:spLocks noGrp="1"/>
          </p:cNvSpPr>
          <p:nvPr/>
        </p:nvSpPr>
        <p:spPr>
          <a:xfrm>
            <a:off x="8382000" y="2114550"/>
            <a:ext cx="2914650" cy="1543050"/>
          </a:xfrm>
          <a:prstGeom prst="rect">
            <a:avLst/>
          </a:prstGeom>
          <a:noFill/>
          <a:ln w="0">
            <a:noFill/>
          </a:ln>
        </p:spPr>
        <p:txBody>
          <a:bodyPr wrap="square" lIns="0" tIns="0" rIns="0" bIns="0" anchor="t">
            <a:normAutofit/>
          </a:bodyPr>
          <a:lstStyle/>
          <a:p>
            <a:pPr algn="l">
              <a:defRPr sz="1200" b="0" i="0">
                <a:solidFill>
                  <a:srgbClr val="475569"/>
                </a:solidFill>
                <a:latin typeface="DejaVu Sans"/>
                <a:ea typeface="DejaVu Sans"/>
                <a:cs typeface="DejaVu Sans"/>
              </a:defRPr>
            </a:pPr>
            <a:r>
              <a:rPr sz="1200" b="0" i="0">
                <a:solidFill>
                  <a:srgbClr val="475569"/>
                </a:solidFill>
                <a:latin typeface="DejaVu Sans"/>
                <a:ea typeface="DejaVu Sans"/>
                <a:cs typeface="DejaVu Sans"/>
              </a:rPr>
              <a:t>Guidance, enforcement, and human approval work together.</a:t>
            </a:r>
          </a:p>
        </p:txBody>
      </p:sp>
      <p:sp>
        <p:nvSpPr>
          <p:cNvPr id="29" name="Rectangle: Rounded Corners 28">
            <a:extLst>
              <a:ext uri="{FF2B5EF4-FFF2-40B4-BE49-F238E27FC236}">
                <a16:creationId xmlns:a16="http://schemas.microsoft.com/office/drawing/2014/main" id="{2DA50F5A-C8B1-44DE-8502-5D8FC186A9BA}"/>
              </a:ext>
            </a:extLst>
          </p:cNvPr>
          <p:cNvSpPr>
            <a:spLocks noGrp="1"/>
          </p:cNvSpPr>
          <p:nvPr/>
        </p:nvSpPr>
        <p:spPr>
          <a:xfrm>
            <a:off x="1619250" y="4400550"/>
            <a:ext cx="8953500" cy="952500"/>
          </a:xfrm>
          <a:prstGeom prst="roundRect">
            <a:avLst>
              <a:gd name="adj" fmla="val 20000"/>
            </a:avLst>
          </a:prstGeom>
          <a:solidFill>
            <a:srgbClr val="0A1020"/>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F25E179C-8646-46DB-ADC9-65BD560868C9}"/>
              </a:ext>
            </a:extLst>
          </p:cNvPr>
          <p:cNvSpPr>
            <a:spLocks noGrp="1"/>
          </p:cNvSpPr>
          <p:nvPr/>
        </p:nvSpPr>
        <p:spPr>
          <a:xfrm>
            <a:off x="1905000" y="4610100"/>
            <a:ext cx="8382000" cy="209550"/>
          </a:xfrm>
          <a:prstGeom prst="rect">
            <a:avLst/>
          </a:prstGeom>
          <a:noFill/>
          <a:ln w="0">
            <a:noFill/>
          </a:ln>
        </p:spPr>
        <p:txBody>
          <a:bodyPr wrap="square" lIns="0" tIns="0" rIns="0" bIns="0" anchor="t">
            <a:normAutofit/>
          </a:bodyPr>
          <a:lstStyle/>
          <a:p>
            <a:pPr algn="ctr">
              <a:defRPr sz="1050" b="1" i="0">
                <a:solidFill>
                  <a:srgbClr val="19C3D2"/>
                </a:solidFill>
                <a:latin typeface="DejaVu Sans"/>
                <a:ea typeface="DejaVu Sans"/>
                <a:cs typeface="DejaVu Sans"/>
              </a:defRPr>
            </a:pPr>
            <a:r>
              <a:rPr sz="1050" b="1" i="0">
                <a:solidFill>
                  <a:srgbClr val="19C3D2"/>
                </a:solidFill>
                <a:latin typeface="DejaVu Sans"/>
                <a:ea typeface="DejaVu Sans"/>
                <a:cs typeface="DejaVu Sans"/>
              </a:rPr>
              <a:t>Discussion question</a:t>
            </a:r>
          </a:p>
        </p:txBody>
      </p:sp>
      <p:sp>
        <p:nvSpPr>
          <p:cNvPr id="31" name="Rectangle 30">
            <a:extLst>
              <a:ext uri="{FF2B5EF4-FFF2-40B4-BE49-F238E27FC236}">
                <a16:creationId xmlns:a16="http://schemas.microsoft.com/office/drawing/2014/main" id="{DA0543D2-6BE2-44C5-8568-571FAB5D1825}"/>
              </a:ext>
            </a:extLst>
          </p:cNvPr>
          <p:cNvSpPr>
            <a:spLocks noGrp="1"/>
          </p:cNvSpPr>
          <p:nvPr/>
        </p:nvSpPr>
        <p:spPr>
          <a:xfrm>
            <a:off x="1905000" y="4953000"/>
            <a:ext cx="8382000" cy="266700"/>
          </a:xfrm>
          <a:prstGeom prst="rect">
            <a:avLst/>
          </a:prstGeom>
          <a:noFill/>
          <a:ln w="0">
            <a:noFill/>
          </a:ln>
        </p:spPr>
        <p:txBody>
          <a:bodyPr wrap="square" lIns="0" tIns="0" rIns="0" bIns="0" anchor="t">
            <a:normAutofit/>
          </a:bodyPr>
          <a:lstStyle/>
          <a:p>
            <a:pPr algn="ctr">
              <a:defRPr sz="1350" b="1" i="0">
                <a:solidFill>
                  <a:srgbClr val="FFFFFF"/>
                </a:solidFill>
                <a:latin typeface="DejaVu Sans"/>
                <a:ea typeface="DejaVu Sans"/>
                <a:cs typeface="DejaVu Sans"/>
              </a:defRPr>
            </a:pPr>
            <a:r>
              <a:rPr lang="en-US" sz="1350" b="1" i="0" dirty="0">
                <a:solidFill>
                  <a:srgbClr val="FFFFFF"/>
                </a:solidFill>
                <a:latin typeface="DejaVu Sans"/>
                <a:ea typeface="DejaVu Sans"/>
                <a:cs typeface="DejaVu Sans"/>
              </a:rPr>
              <a:t>What are our </a:t>
            </a:r>
            <a:r>
              <a:rPr sz="1350" b="1" i="0" dirty="0">
                <a:solidFill>
                  <a:srgbClr val="FFFFFF"/>
                </a:solidFill>
                <a:latin typeface="DejaVu Sans"/>
                <a:ea typeface="DejaVu Sans"/>
                <a:cs typeface="DejaVu Sans"/>
              </a:rPr>
              <a:t>bottleneck</a:t>
            </a:r>
            <a:r>
              <a:rPr lang="en-US" sz="1350" b="1" i="0" dirty="0">
                <a:solidFill>
                  <a:srgbClr val="FFFFFF"/>
                </a:solidFill>
                <a:latin typeface="DejaVu Sans"/>
                <a:ea typeface="DejaVu Sans"/>
                <a:cs typeface="DejaVu Sans"/>
              </a:rPr>
              <a:t>s today</a:t>
            </a:r>
            <a:r>
              <a:rPr sz="1350" b="1" i="0" dirty="0">
                <a:solidFill>
                  <a:srgbClr val="FFFFFF"/>
                </a:solidFill>
                <a:latin typeface="DejaVu Sans"/>
                <a:ea typeface="DejaVu Sans"/>
                <a:cs typeface="DejaVu Sans"/>
              </a:rPr>
              <a:t>?</a:t>
            </a:r>
            <a:r>
              <a:rPr lang="en-US" sz="1350" b="1" i="0" dirty="0">
                <a:solidFill>
                  <a:srgbClr val="FFFFFF"/>
                </a:solidFill>
                <a:latin typeface="DejaVu Sans"/>
                <a:ea typeface="DejaVu Sans"/>
                <a:cs typeface="DejaVu Sans"/>
              </a:rPr>
              <a:t> How to improve?</a:t>
            </a:r>
            <a:endParaRPr sz="1350" b="1" i="0" dirty="0">
              <a:solidFill>
                <a:srgbClr val="FFFFFF"/>
              </a:solidFill>
              <a:latin typeface="DejaVu Sans"/>
              <a:ea typeface="DejaVu Sans"/>
              <a:cs typeface="DejaVu Sans"/>
            </a:endParaRPr>
          </a:p>
        </p:txBody>
      </p:sp>
    </p:spTree>
    <p:extLst>
      <p:ext uri="{BB962C8B-B14F-4D97-AF65-F5344CB8AC3E}">
        <p14:creationId xmlns:p14="http://schemas.microsoft.com/office/powerpoint/2010/main" val="17810920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TotalTime>
  <Words>2960</Words>
  <Application>Microsoft Office PowerPoint</Application>
  <DocSecurity>0</DocSecurity>
  <PresentationFormat>Widescreen</PresentationFormat>
  <Paragraphs>515</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DejaVu Sans</vt:lpstr>
      <vt:lpstr>DejaVu Sans Mono</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Xuan Zhou</cp:lastModifiedBy>
  <cp:revision>5</cp:revision>
  <dcterms:created xsi:type="dcterms:W3CDTF">2026-09-16T12:45:13Z</dcterms:created>
  <dcterms:modified xsi:type="dcterms:W3CDTF">2026-09-16T19:52:03Z</dcterms:modified>
</cp:coreProperties>
</file>